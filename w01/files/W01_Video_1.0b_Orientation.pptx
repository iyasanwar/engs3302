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practical. Students should finish knowing exactly what to do every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it concrete and reachable. These are real labs and projects in this course, not promises.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are here: the orange dot. Mention that the mathematics is explained with numbers and pictures first, never with long proofs.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decision 2 of the course design, said to students.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six items left to right. Show the Moodle section of Week 1 on screen if you can.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Decision 9. Say it slowly; it reduces anxiety. Show the exam-scope box on the first page of the Week 1 Notes.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1 walks through Colab step by step, so here only name the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Adapt to the students' real situation. The Discord link is on Moodle; the in-person session times are on the week guide.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short; the full policy comes with the AI guide in Week 3. The rule here is safe whatever the assessment decisions 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by pointing to the week guide.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9FB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ENGS 3302 · WEEK 1 · ORIENTATION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8046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this course works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D7D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minutes that will save you hours this semester.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the semester, you will build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pic>
        <p:nvPicPr>
          <p:cNvPr id="4" name="Image 0" descr="ic_l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8016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34440" y="1207008"/>
            <a:ext cx="31089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 reader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 handwritten digits from images, and measure how often it is right.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663440" y="109728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pic>
        <p:nvPicPr>
          <p:cNvPr id="7" name="Image 1" descr="ic_ge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280160"/>
            <a:ext cx="457200" cy="4572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40680" y="1207008"/>
            <a:ext cx="31089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fault detector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from sensor readings whether a machine is faulty, when mistakes have different costs.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457200" y="278892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pic>
        <p:nvPicPr>
          <p:cNvPr id="10" name="Image 2" descr="ic_grou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971800"/>
            <a:ext cx="457200" cy="4572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34440" y="2898648"/>
            <a:ext cx="31089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explorer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natural groups in data that has no labels.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4663440" y="278892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pic>
        <p:nvPicPr>
          <p:cNvPr id="13" name="Image 3" descr="ic_lapto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971800"/>
            <a:ext cx="457200" cy="4572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440680" y="2898648"/>
            <a:ext cx="31089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project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problem, choose features and an algorithm, build it, and test it.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457200" y="4526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with a laptop and free tools: Python, scikit-learn and Google Colab.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road through the semester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weeks, four stages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234440" y="1417320"/>
            <a:ext cx="411480" cy="411480"/>
          </a:xfrm>
          <a:prstGeom prst="ellipse">
            <a:avLst/>
          </a:prstGeom>
          <a:solidFill>
            <a:srgbClr val="D9822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9659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1–3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2402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69748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Features, data, probability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37560" y="1417320"/>
            <a:ext cx="411480" cy="411480"/>
          </a:xfrm>
          <a:prstGeom prst="ellipse">
            <a:avLst/>
          </a:prstGeom>
          <a:solidFill>
            <a:srgbClr val="2D5BC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60320" y="19659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4–6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22402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Deciding well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269748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 decisions, Gaussian models, k-NN, evaluation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40680" y="1417320"/>
            <a:ext cx="411480" cy="411480"/>
          </a:xfrm>
          <a:prstGeom prst="ellipse">
            <a:avLst/>
          </a:prstGeom>
          <a:solidFill>
            <a:srgbClr val="2D5BC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19659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7–10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22402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 classifiers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269748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models, SVM, dimension reduction, trees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543800" y="1417320"/>
            <a:ext cx="411480" cy="411480"/>
          </a:xfrm>
          <a:prstGeom prst="ellipse">
            <a:avLst/>
          </a:prstGeom>
          <a:solidFill>
            <a:srgbClr val="2D5BC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66560" y="19659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11–12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22402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labels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269748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Clustering, anomalies, neural networks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188720" y="1623060"/>
            <a:ext cx="6309360" cy="0"/>
          </a:xfrm>
          <a:prstGeom prst="line">
            <a:avLst/>
          </a:prstGeom>
          <a:noFill/>
          <a:ln w="25400">
            <a:solidFill>
              <a:srgbClr val="DFE3EA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9FB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PROMISE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8046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Intuition first. Numbers second. Formulas third. Code last.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D7D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idea in this course is shown with a picture and a small example before any formula. You do not need to be strong in mathematics to start; you need to keep up every week.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week, in this order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on Moodle, in one section per week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1234440" cy="1920240"/>
          </a:xfrm>
          <a:prstGeom prst="roundRect">
            <a:avLst>
              <a:gd name="adj" fmla="val 5926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pic>
        <p:nvPicPr>
          <p:cNvPr id="5" name="Image 0" descr="ic_gu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572768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84632" y="2148840"/>
            <a:ext cx="10881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guide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page: what to do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1828800" y="1417320"/>
            <a:ext cx="1234440" cy="1920240"/>
          </a:xfrm>
          <a:prstGeom prst="roundRect">
            <a:avLst>
              <a:gd name="adj" fmla="val 5926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pic>
        <p:nvPicPr>
          <p:cNvPr id="8" name="Image 1" descr="ic_p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848" y="1572768"/>
            <a:ext cx="457200" cy="4572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901952" y="2148840"/>
            <a:ext cx="10881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Videos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90 min theory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3246120" y="1417320"/>
            <a:ext cx="1234440" cy="1920240"/>
          </a:xfrm>
          <a:prstGeom prst="roundRect">
            <a:avLst>
              <a:gd name="adj" fmla="val 5926"/>
            </a:avLst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pic>
        <p:nvPicPr>
          <p:cNvPr id="11" name="Image 2" descr="ic_not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0168" y="1572768"/>
            <a:ext cx="457200" cy="4572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319272" y="2148840"/>
            <a:ext cx="10881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Notes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study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4663440" y="1417320"/>
            <a:ext cx="1234440" cy="1920240"/>
          </a:xfrm>
          <a:prstGeom prst="roundRect">
            <a:avLst>
              <a:gd name="adj" fmla="val 5926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pic>
        <p:nvPicPr>
          <p:cNvPr id="14" name="Image 3" descr="ic_la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1572768"/>
            <a:ext cx="457200" cy="4572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4736592" y="2148840"/>
            <a:ext cx="10881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notebook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in Colab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6080760" y="1417320"/>
            <a:ext cx="1234440" cy="1920240"/>
          </a:xfrm>
          <a:prstGeom prst="roundRect">
            <a:avLst>
              <a:gd name="adj" fmla="val 5926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pic>
        <p:nvPicPr>
          <p:cNvPr id="17" name="Image 4" descr="ic_quiz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4808" y="1572768"/>
            <a:ext cx="457200" cy="45720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6153912" y="2148840"/>
            <a:ext cx="10881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&amp; exercises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and submit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7498080" y="1417320"/>
            <a:ext cx="1234440" cy="1920240"/>
          </a:xfrm>
          <a:prstGeom prst="roundRect">
            <a:avLst>
              <a:gd name="adj" fmla="val 5926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pic>
        <p:nvPicPr>
          <p:cNvPr id="20" name="Image 5" descr="ic_grou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2128" y="1572768"/>
            <a:ext cx="457200" cy="45720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7571232" y="2148840"/>
            <a:ext cx="10881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session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person, every 2 weeks</a:t>
            </a:r>
            <a:endParaRPr lang="en-US" sz="1300" dirty="0"/>
          </a:p>
        </p:txBody>
      </p:sp>
      <p:sp>
        <p:nvSpPr>
          <p:cNvPr id="22" name="Text 14"/>
          <p:cNvSpPr txBox="1"/>
          <p:nvPr/>
        </p:nvSpPr>
        <p:spPr>
          <a:xfrm>
            <a:off x="411480" y="370332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guide. Watch a video, then read the matching section of the Notes. Then the lab.</a:t>
            </a:r>
            <a:endParaRPr lang="en-US" sz="1600" dirty="0"/>
          </a:p>
        </p:txBody>
      </p:sp>
      <p:sp>
        <p:nvSpPr>
          <p:cNvPr id="23" name="Text 15"/>
          <p:cNvSpPr txBox="1"/>
          <p:nvPr/>
        </p:nvSpPr>
        <p:spPr>
          <a:xfrm>
            <a:off x="594360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Orientation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Notes are what you study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09728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exam covers what is in the Student Notes. </a:t>
            </a:r>
            <a:pPr indent="0" marL="0">
              <a:buNone/>
            </a:pPr>
            <a:r>
              <a:rPr lang="en-US" sz="20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outside them is asked, even if it was in a video or in the book.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651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 </a:t>
            </a:r>
            <a:pPr indent="0" marL="0">
              <a:buNone/>
            </a:pPr>
            <a:r>
              <a:rPr lang="en-US" sz="16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the explanation in the video. Do not study from them.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154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Videos  </a:t>
            </a:r>
            <a:pPr indent="0" marL="0">
              <a:buNone/>
            </a:pPr>
            <a:r>
              <a:rPr lang="en-US" sz="16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Notes, section by section.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book  </a:t>
            </a:r>
            <a:pPr indent="0" marL="0">
              <a:buNone/>
            </a:pPr>
            <a:r>
              <a:rPr lang="en-US" sz="16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Duda, Hart &amp; Stork. The Notes give page numbers if you want to read more.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week's Notes start with a box: “What you must be able to do”. Use it as your checklist.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94360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Orientation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tools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and all you need is a laptop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pic>
        <p:nvPicPr>
          <p:cNvPr id="5" name="Image 0" descr="ic_l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389888"/>
            <a:ext cx="310896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Python in the browser. Nothing to install. You need a Google account.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663440" y="128016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pic>
        <p:nvPicPr>
          <p:cNvPr id="8" name="Image 1" descr="ic_lapt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463040"/>
            <a:ext cx="457200" cy="4572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40680" y="1389888"/>
            <a:ext cx="310896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on your laptop (backup)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without internet. Lab 1 shows how to install it.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457200" y="283464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pic>
        <p:nvPicPr>
          <p:cNvPr id="11" name="Image 2" descr="ic_not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01752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234440" y="2944368"/>
            <a:ext cx="310896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as PDF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each week. They work offline and can be printed.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4663440" y="283464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pic>
        <p:nvPicPr>
          <p:cNvPr id="14" name="Image 3" descr="ic_clou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017520"/>
            <a:ext cx="457200" cy="4572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440680" y="2944368"/>
            <a:ext cx="310896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pages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pages with sliders, used in the videos. You can download them too.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594360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Orientation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Studying from home: what works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57200" cy="457200"/>
          </a:xfrm>
          <a:prstGeom prst="ellipse">
            <a:avLst/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5B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09728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early. </a:t>
            </a:r>
            <a:pPr indent="0" marL="0">
              <a:buNone/>
            </a:pPr>
            <a:r>
              <a:rPr lang="en-US" sz="16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have power and internet, download the Notes and the lab of the week.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457200" cy="457200"/>
          </a:xfrm>
          <a:prstGeom prst="ellipse">
            <a:avLst/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5B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9659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rhythm. </a:t>
            </a:r>
            <a:pPr indent="0" marL="0">
              <a:buNone/>
            </a:pPr>
            <a:r>
              <a:rPr lang="en-US" sz="16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two study slots per week for theory, and two for the lab.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880360"/>
            <a:ext cx="457200" cy="457200"/>
          </a:xfrm>
          <a:prstGeom prst="ellipse">
            <a:avLst/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5B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83464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by hand. </a:t>
            </a:r>
            <a:pPr indent="0" marL="0">
              <a:buNone/>
            </a:pPr>
            <a:r>
              <a:rPr lang="en-US" sz="16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worked example: cover the answer and do it yourself first.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749040"/>
            <a:ext cx="457200" cy="457200"/>
          </a:xfrm>
          <a:prstGeom prst="ellipse">
            <a:avLst/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5B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7033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early. </a:t>
            </a:r>
            <a:pPr indent="0" marL="0">
              <a:buNone/>
            </a:pPr>
            <a:r>
              <a:rPr lang="en-US" sz="16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questions on the course Discord. One answer helps everyone.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Orientation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tools in this course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use AI tools such as chatbots and code assistants. That is allowed and expected, with clear rules for each task. A short guide comes in Week 3.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214884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BEFDF"/>
          </a:solidFill>
          <a:ln w="12700">
            <a:solidFill>
              <a:srgbClr val="FBEFD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1488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rule from today: </a:t>
            </a:r>
            <a:pPr indent="0" marL="0">
              <a:buNone/>
            </a:pPr>
            <a:r>
              <a:rPr lang="en-US" sz="18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whatever an AI tool gives you, you must be able to explain it and reproduce it yourself. The exams check exactly that.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94360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Orientation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9FB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8046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first steps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D7D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Watch videos 1.1 to 1.4 with the Notes.   2. Do Lab 1 in Colab.   3. Submit the Week 1 check-in on Moodle (no grade).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 · How this course works</dc:title>
  <dc:subject>PptxGenJS Presentation</dc:subject>
  <dc:creator>PptxGenJS</dc:creator>
  <cp:lastModifiedBy>PptxGenJS</cp:lastModifiedBy>
  <cp:revision>1</cp:revision>
  <dcterms:created xsi:type="dcterms:W3CDTF">2026-10-11T08:30:51Z</dcterms:created>
  <dcterms:modified xsi:type="dcterms:W3CDTF">2026-10-11T08:30:51Z</dcterms:modified>
</cp:coreProperties>
</file>