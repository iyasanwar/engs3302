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question, no introduction. Pause three seconds. Answer: A is the 4. It comes from the row of 4s in MNIST, a real data set of handwriting. B is a 9. Even we hesitate for a moment, yet we are usually right. Next slide: now try to explain it to a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image is reduced to 12 by 12 numbers so they fit on the slide; MNIST uses 28 by 28. Let students feel the problem for a moment: which numbers would you test? Then turn it around: instead of writing the rule, we show the machine many labelled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INSERT THE SCREEN RECORDING HERE (about 2 to 3 minutes). Script: Rock, Paper, Scissors and Nothing as classes; record examples; Train Model; Preview works; then change the background, the distance or the light so it gets confused. Lines: 'These are the classes - the possible answers.' 'Each picture is an example with its correct label.' 'Now it looks for the features that separate the classes.' 'It works.' Then: 'It learned from a few hundred pictures in one room. Change the room, and it gets confused. Why? That is what this course is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parts with the demo, not with definitions. Leave the question open; the next slide shows a famous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Ribeiro, Singh and Guestrin, 'Why Should I Trust You?', KDD 2016. The researchers trained this classifier on purpose with wolves in snow and huskies without snow, to show how a model can be right for the wrong reason. The two photos here are only illustrations, not images from that study. Connect to the demo: our model may have learned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one example and go deeper: for plant disease, the raw data is the photo, the classes are healthy or each disease, and the action is what the farmer does next. Photo credits are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explain the code; that is Week 2. Just show that it is short and that it decides: the new fish is a sea bass because it is closer to the sea-bass centre. The output was checked by running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with energy. The orientation video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shown in the video; kept for licence compliance.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Which one is the 4?</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Two real handwritten digits from the MNIST data set</a:t>
            </a:r>
            <a:endParaRPr lang="en-US" sz="1500" dirty="0"/>
          </a:p>
        </p:txBody>
      </p:sp>
      <p:sp>
        <p:nvSpPr>
          <p:cNvPr id="4" name="Shape 2"/>
          <p:cNvSpPr/>
          <p:nvPr/>
        </p:nvSpPr>
        <p:spPr>
          <a:xfrm>
            <a:off x="1417320" y="1325880"/>
            <a:ext cx="2377440" cy="2377440"/>
          </a:xfrm>
          <a:prstGeom prst="rect">
            <a:avLst/>
          </a:prstGeom>
          <a:solidFill>
            <a:srgbClr val="FFFFFF"/>
          </a:solidFill>
          <a:ln w="12700">
            <a:solidFill>
              <a:srgbClr val="DFE3EA"/>
            </a:solidFill>
            <a:prstDash val="solid"/>
          </a:ln>
        </p:spPr>
      </p:sp>
      <p:pic>
        <p:nvPicPr>
          <p:cNvPr id="5" name="Image 0" descr="digit_4.png">    </p:cNvPr>
          <p:cNvPicPr>
            <a:picLocks noChangeAspect="1"/>
          </p:cNvPicPr>
          <p:nvPr/>
        </p:nvPicPr>
        <p:blipFill>
          <a:blip r:embed="rId1"/>
          <a:stretch>
            <a:fillRect/>
          </a:stretch>
        </p:blipFill>
        <p:spPr>
          <a:xfrm>
            <a:off x="1463040" y="1371600"/>
            <a:ext cx="2286000" cy="2286000"/>
          </a:xfrm>
          <a:prstGeom prst="rect">
            <a:avLst/>
          </a:prstGeom>
        </p:spPr>
      </p:pic>
      <p:sp>
        <p:nvSpPr>
          <p:cNvPr id="6" name="Text 3"/>
          <p:cNvSpPr txBox="1"/>
          <p:nvPr/>
        </p:nvSpPr>
        <p:spPr>
          <a:xfrm>
            <a:off x="1463040" y="3794760"/>
            <a:ext cx="2286000" cy="457200"/>
          </a:xfrm>
          <a:prstGeom prst="rect">
            <a:avLst/>
          </a:prstGeom>
          <a:noFill/>
          <a:ln/>
        </p:spPr>
        <p:txBody>
          <a:bodyPr wrap="square" lIns="0" tIns="0" rIns="0" bIns="0" rtlCol="0" anchor="ctr"/>
          <a:lstStyle/>
          <a:p>
            <a:pPr algn="ctr" indent="0" marL="0">
              <a:buNone/>
            </a:pPr>
            <a:r>
              <a:rPr lang="en-US" sz="2800" b="1" dirty="0">
                <a:solidFill>
                  <a:srgbClr val="2D5BC4"/>
                </a:solidFill>
                <a:latin typeface="Cambria" pitchFamily="34" charset="0"/>
                <a:ea typeface="Cambria" pitchFamily="34" charset="-122"/>
                <a:cs typeface="Cambria" pitchFamily="34" charset="-120"/>
              </a:rPr>
              <a:t>A</a:t>
            </a:r>
            <a:endParaRPr lang="en-US" sz="2800" dirty="0"/>
          </a:p>
        </p:txBody>
      </p:sp>
      <p:sp>
        <p:nvSpPr>
          <p:cNvPr id="7" name="Shape 4"/>
          <p:cNvSpPr/>
          <p:nvPr/>
        </p:nvSpPr>
        <p:spPr>
          <a:xfrm>
            <a:off x="4709160" y="1325880"/>
            <a:ext cx="2377440" cy="2377440"/>
          </a:xfrm>
          <a:prstGeom prst="rect">
            <a:avLst/>
          </a:prstGeom>
          <a:solidFill>
            <a:srgbClr val="FFFFFF"/>
          </a:solidFill>
          <a:ln w="12700">
            <a:solidFill>
              <a:srgbClr val="DFE3EA"/>
            </a:solidFill>
            <a:prstDash val="solid"/>
          </a:ln>
        </p:spPr>
      </p:sp>
      <p:pic>
        <p:nvPicPr>
          <p:cNvPr id="8" name="Image 1" descr="digit_9.png">    </p:cNvPr>
          <p:cNvPicPr>
            <a:picLocks noChangeAspect="1"/>
          </p:cNvPicPr>
          <p:nvPr/>
        </p:nvPicPr>
        <p:blipFill>
          <a:blip r:embed="rId2"/>
          <a:stretch>
            <a:fillRect/>
          </a:stretch>
        </p:blipFill>
        <p:spPr>
          <a:xfrm>
            <a:off x="4754880" y="1371600"/>
            <a:ext cx="2286000" cy="2286000"/>
          </a:xfrm>
          <a:prstGeom prst="rect">
            <a:avLst/>
          </a:prstGeom>
        </p:spPr>
      </p:pic>
      <p:sp>
        <p:nvSpPr>
          <p:cNvPr id="9" name="Text 5"/>
          <p:cNvSpPr txBox="1"/>
          <p:nvPr/>
        </p:nvSpPr>
        <p:spPr>
          <a:xfrm>
            <a:off x="4754880" y="3794760"/>
            <a:ext cx="2286000" cy="457200"/>
          </a:xfrm>
          <a:prstGeom prst="rect">
            <a:avLst/>
          </a:prstGeom>
          <a:noFill/>
          <a:ln/>
        </p:spPr>
        <p:txBody>
          <a:bodyPr wrap="square" lIns="0" tIns="0" rIns="0" bIns="0" rtlCol="0" anchor="ctr"/>
          <a:lstStyle/>
          <a:p>
            <a:pPr algn="ctr" indent="0" marL="0">
              <a:buNone/>
            </a:pPr>
            <a:r>
              <a:rPr lang="en-US" sz="2800" b="1" dirty="0">
                <a:solidFill>
                  <a:srgbClr val="2D5BC4"/>
                </a:solidFill>
                <a:latin typeface="Cambria" pitchFamily="34" charset="0"/>
                <a:ea typeface="Cambria" pitchFamily="34" charset="-122"/>
                <a:cs typeface="Cambria" pitchFamily="34" charset="-120"/>
              </a:rPr>
              <a:t>B</a:t>
            </a:r>
            <a:endParaRPr lang="en-US" sz="2800" dirty="0"/>
          </a:p>
        </p:txBody>
      </p:sp>
      <p:sp>
        <p:nvSpPr>
          <p:cNvPr id="10" name="Text 6"/>
          <p:cNvSpPr txBox="1"/>
          <p:nvPr/>
        </p:nvSpPr>
        <p:spPr>
          <a:xfrm>
            <a:off x="457200" y="4754880"/>
            <a:ext cx="4572000" cy="182880"/>
          </a:xfrm>
          <a:prstGeom prst="rect">
            <a:avLst/>
          </a:prstGeom>
          <a:noFill/>
          <a:ln/>
        </p:spPr>
        <p:txBody>
          <a:bodyPr wrap="square" lIns="0" tIns="0" rIns="0" bIns="0" rtlCol="0" anchor="ctr"/>
          <a:lstStyle/>
          <a:p>
            <a:pPr indent="0" marL="0">
              <a:buNone/>
            </a:pPr>
            <a:r>
              <a:rPr lang="en-US" sz="700" dirty="0">
                <a:solidFill>
                  <a:srgbClr val="8A93A3"/>
                </a:solidFill>
                <a:latin typeface="Calibri" pitchFamily="34" charset="0"/>
                <a:ea typeface="Calibri" pitchFamily="34" charset="-122"/>
                <a:cs typeface="Calibri" pitchFamily="34" charset="-120"/>
              </a:rPr>
              <a:t>Photo: Josef Steppan · CC BY-SA 4.0 · Wikimedia Commons</a:t>
            </a:r>
            <a:endParaRPr lang="en-US" sz="700" dirty="0"/>
          </a:p>
        </p:txBody>
      </p:sp>
      <p:sp>
        <p:nvSpPr>
          <p:cNvPr id="11" name="Text 7"/>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Easy for you. Now explain it to a computer.</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This is all the computer receives: a grid of numbers</a:t>
            </a:r>
            <a:endParaRPr lang="en-US" sz="1500" dirty="0"/>
          </a:p>
        </p:txBody>
      </p:sp>
      <p:pic>
        <p:nvPicPr>
          <p:cNvPr id="4" name="Image 0" descr="digit_4.png">    </p:cNvPr>
          <p:cNvPicPr>
            <a:picLocks noChangeAspect="1"/>
          </p:cNvPicPr>
          <p:nvPr/>
        </p:nvPicPr>
        <p:blipFill>
          <a:blip r:embed="rId1"/>
          <a:stretch>
            <a:fillRect/>
          </a:stretch>
        </p:blipFill>
        <p:spPr>
          <a:xfrm>
            <a:off x="548640" y="1371600"/>
            <a:ext cx="2377440" cy="2377440"/>
          </a:xfrm>
          <a:prstGeom prst="rect">
            <a:avLst/>
          </a:prstGeom>
        </p:spPr>
      </p:pic>
      <p:sp>
        <p:nvSpPr>
          <p:cNvPr id="5" name="Text 2"/>
          <p:cNvSpPr txBox="1"/>
          <p:nvPr/>
        </p:nvSpPr>
        <p:spPr>
          <a:xfrm>
            <a:off x="3063240" y="2240280"/>
            <a:ext cx="548640" cy="548640"/>
          </a:xfrm>
          <a:prstGeom prst="rect">
            <a:avLst/>
          </a:prstGeom>
          <a:noFill/>
          <a:ln/>
        </p:spPr>
        <p:txBody>
          <a:bodyPr wrap="square" lIns="0" tIns="0" rIns="0" bIns="0" rtlCol="0" anchor="ctr"/>
          <a:lstStyle/>
          <a:p>
            <a:pPr algn="ctr" indent="0" marL="0">
              <a:buNone/>
            </a:pPr>
            <a:r>
              <a:rPr lang="en-US" sz="3400" dirty="0">
                <a:solidFill>
                  <a:srgbClr val="5C6577"/>
                </a:solidFill>
                <a:latin typeface="Cambria" pitchFamily="34" charset="0"/>
                <a:ea typeface="Cambria" pitchFamily="34" charset="-122"/>
                <a:cs typeface="Cambria" pitchFamily="34" charset="-120"/>
              </a:rPr>
              <a:t>→</a:t>
            </a:r>
            <a:endParaRPr lang="en-US" sz="3400" dirty="0"/>
          </a:p>
        </p:txBody>
      </p:sp>
      <p:pic>
        <p:nvPicPr>
          <p:cNvPr id="6" name="Image 1" descr="digit_4_pixels.png">    </p:cNvPr>
          <p:cNvPicPr>
            <a:picLocks noChangeAspect="1"/>
          </p:cNvPicPr>
          <p:nvPr/>
        </p:nvPicPr>
        <p:blipFill>
          <a:blip r:embed="rId2"/>
          <a:stretch>
            <a:fillRect/>
          </a:stretch>
        </p:blipFill>
        <p:spPr>
          <a:xfrm>
            <a:off x="3749040" y="1188720"/>
            <a:ext cx="2743200" cy="2743200"/>
          </a:xfrm>
          <a:prstGeom prst="rect">
            <a:avLst/>
          </a:prstGeom>
        </p:spPr>
      </p:pic>
      <p:sp>
        <p:nvSpPr>
          <p:cNvPr id="7" name="Text 3"/>
          <p:cNvSpPr txBox="1"/>
          <p:nvPr/>
        </p:nvSpPr>
        <p:spPr>
          <a:xfrm>
            <a:off x="6675120" y="1371600"/>
            <a:ext cx="2103120" cy="23774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0 = paper, 255 = ink.</a:t>
            </a:r>
            <a:endParaRPr lang="en-US" sz="15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1B2130"/>
                </a:solidFill>
                <a:latin typeface="Calibri" pitchFamily="34" charset="0"/>
                <a:ea typeface="Calibri" pitchFamily="34" charset="-122"/>
                <a:cs typeface="Calibri" pitchFamily="34" charset="-120"/>
              </a:rPr>
              <a:t>Write an if-rule that tells every 4 from every 9.</a:t>
            </a:r>
            <a:endParaRPr lang="en-US" sz="1500" dirty="0"/>
          </a:p>
        </p:txBody>
      </p:sp>
      <p:sp>
        <p:nvSpPr>
          <p:cNvPr id="8" name="Text 4"/>
          <p:cNvSpPr txBox="1"/>
          <p:nvPr/>
        </p:nvSpPr>
        <p:spPr>
          <a:xfrm>
            <a:off x="548640" y="4114800"/>
            <a:ext cx="8229600" cy="54864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Hand-written rules break on the next person's handwriting. Pattern recognition lets the machine learn the rule from examples.</a:t>
            </a:r>
            <a:endParaRPr lang="en-US" sz="1500" dirty="0"/>
          </a:p>
        </p:txBody>
      </p:sp>
      <p:sp>
        <p:nvSpPr>
          <p:cNvPr id="9" name="Text 5"/>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LIVE DEMO</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Let's teach a computer, live</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Google Teachable Machine: a camera, three hand gestures and two minutes. No code.</a:t>
            </a:r>
            <a:endParaRPr lang="en-US" sz="1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What just happened</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Every system in this course has the same three parts</a:t>
            </a:r>
            <a:endParaRPr lang="en-US" sz="1500" dirty="0"/>
          </a:p>
        </p:txBody>
      </p:sp>
      <p:sp>
        <p:nvSpPr>
          <p:cNvPr id="4" name="Shape 2"/>
          <p:cNvSpPr/>
          <p:nvPr/>
        </p:nvSpPr>
        <p:spPr>
          <a:xfrm>
            <a:off x="548640" y="1371600"/>
            <a:ext cx="2377440" cy="1280160"/>
          </a:xfrm>
          <a:prstGeom prst="roundRect">
            <a:avLst>
              <a:gd name="adj" fmla="val 7143"/>
            </a:avLst>
          </a:prstGeom>
          <a:solidFill>
            <a:srgbClr val="EEF2FB"/>
          </a:solidFill>
          <a:ln w="12700">
            <a:solidFill>
              <a:srgbClr val="EEF2FB"/>
            </a:solidFill>
            <a:prstDash val="solid"/>
          </a:ln>
        </p:spPr>
      </p:sp>
      <p:sp>
        <p:nvSpPr>
          <p:cNvPr id="5" name="Text 3"/>
          <p:cNvSpPr txBox="1"/>
          <p:nvPr/>
        </p:nvSpPr>
        <p:spPr>
          <a:xfrm>
            <a:off x="640080" y="1371600"/>
            <a:ext cx="2194560" cy="1280160"/>
          </a:xfrm>
          <a:prstGeom prst="rect">
            <a:avLst/>
          </a:prstGeom>
          <a:noFill/>
          <a:ln/>
        </p:spPr>
        <p:txBody>
          <a:bodyPr wrap="square" lIns="0" tIns="0" rIns="0" bIns="0" rtlCol="0" anchor="ctr"/>
          <a:lstStyle/>
          <a:p>
            <a:pPr algn="ctr" indent="0" marL="0">
              <a:buNone/>
            </a:pPr>
            <a:r>
              <a:rPr lang="en-US" sz="1900" b="1" dirty="0">
                <a:solidFill>
                  <a:srgbClr val="1B2130"/>
                </a:solidFill>
                <a:latin typeface="Cambria" pitchFamily="34" charset="0"/>
                <a:ea typeface="Cambria" pitchFamily="34" charset="-122"/>
                <a:cs typeface="Cambria" pitchFamily="34" charset="-120"/>
              </a:rPr>
              <a:t>Examples with labels</a:t>
            </a:r>
            <a:endParaRPr lang="en-US" sz="1900" dirty="0"/>
          </a:p>
          <a:p>
            <a:pPr algn="ctr" indent="0" marL="0">
              <a:buNone/>
            </a:pPr>
            <a:r>
              <a:rPr lang="en-US" sz="1300" dirty="0">
                <a:solidFill>
                  <a:srgbClr val="5C6577"/>
                </a:solidFill>
                <a:latin typeface="Calibri" pitchFamily="34" charset="0"/>
                <a:ea typeface="Calibri" pitchFamily="34" charset="-122"/>
                <a:cs typeface="Calibri" pitchFamily="34" charset="-120"/>
              </a:rPr>
              <a:t>the pictures you recorded for each class</a:t>
            </a:r>
            <a:endParaRPr lang="en-US" sz="1900" dirty="0"/>
          </a:p>
        </p:txBody>
      </p:sp>
      <p:sp>
        <p:nvSpPr>
          <p:cNvPr id="6" name="Text 4"/>
          <p:cNvSpPr txBox="1"/>
          <p:nvPr/>
        </p:nvSpPr>
        <p:spPr>
          <a:xfrm>
            <a:off x="2926080" y="1737360"/>
            <a:ext cx="457200" cy="548640"/>
          </a:xfrm>
          <a:prstGeom prst="rect">
            <a:avLst/>
          </a:prstGeom>
          <a:noFill/>
          <a:ln/>
        </p:spPr>
        <p:txBody>
          <a:bodyPr wrap="square" lIns="0" tIns="0" rIns="0" bIns="0" rtlCol="0" anchor="ctr"/>
          <a:lstStyle/>
          <a:p>
            <a:pPr algn="ctr" indent="0" marL="0">
              <a:buNone/>
            </a:pPr>
            <a:r>
              <a:rPr lang="en-US" sz="2800" dirty="0">
                <a:solidFill>
                  <a:srgbClr val="5C6577"/>
                </a:solidFill>
                <a:latin typeface="Cambria" pitchFamily="34" charset="0"/>
                <a:ea typeface="Cambria" pitchFamily="34" charset="-122"/>
                <a:cs typeface="Cambria" pitchFamily="34" charset="-120"/>
              </a:rPr>
              <a:t>→</a:t>
            </a:r>
            <a:endParaRPr lang="en-US" sz="2800" dirty="0"/>
          </a:p>
        </p:txBody>
      </p:sp>
      <p:sp>
        <p:nvSpPr>
          <p:cNvPr id="7" name="Shape 5"/>
          <p:cNvSpPr/>
          <p:nvPr/>
        </p:nvSpPr>
        <p:spPr>
          <a:xfrm>
            <a:off x="3383280" y="1371600"/>
            <a:ext cx="2377440" cy="1280160"/>
          </a:xfrm>
          <a:prstGeom prst="roundRect">
            <a:avLst>
              <a:gd name="adj" fmla="val 7143"/>
            </a:avLst>
          </a:prstGeom>
          <a:solidFill>
            <a:srgbClr val="EEF2FB"/>
          </a:solidFill>
          <a:ln w="12700">
            <a:solidFill>
              <a:srgbClr val="EEF2FB"/>
            </a:solidFill>
            <a:prstDash val="solid"/>
          </a:ln>
        </p:spPr>
      </p:sp>
      <p:sp>
        <p:nvSpPr>
          <p:cNvPr id="8" name="Text 6"/>
          <p:cNvSpPr txBox="1"/>
          <p:nvPr/>
        </p:nvSpPr>
        <p:spPr>
          <a:xfrm>
            <a:off x="3474720" y="1371600"/>
            <a:ext cx="2194560" cy="1280160"/>
          </a:xfrm>
          <a:prstGeom prst="rect">
            <a:avLst/>
          </a:prstGeom>
          <a:noFill/>
          <a:ln/>
        </p:spPr>
        <p:txBody>
          <a:bodyPr wrap="square" lIns="0" tIns="0" rIns="0" bIns="0" rtlCol="0" anchor="ctr"/>
          <a:lstStyle/>
          <a:p>
            <a:pPr algn="ctr" indent="0" marL="0">
              <a:buNone/>
            </a:pPr>
            <a:r>
              <a:rPr lang="en-US" sz="1900" b="1" dirty="0">
                <a:solidFill>
                  <a:srgbClr val="1B2130"/>
                </a:solidFill>
                <a:latin typeface="Cambria" pitchFamily="34" charset="0"/>
                <a:ea typeface="Cambria" pitchFamily="34" charset="-122"/>
                <a:cs typeface="Cambria" pitchFamily="34" charset="-120"/>
              </a:rPr>
              <a:t>Features</a:t>
            </a:r>
            <a:endParaRPr lang="en-US" sz="1900" dirty="0"/>
          </a:p>
          <a:p>
            <a:pPr algn="ctr" indent="0" marL="0">
              <a:buNone/>
            </a:pPr>
            <a:r>
              <a:rPr lang="en-US" sz="1300" dirty="0">
                <a:solidFill>
                  <a:srgbClr val="5C6577"/>
                </a:solidFill>
                <a:latin typeface="Calibri" pitchFamily="34" charset="0"/>
                <a:ea typeface="Calibri" pitchFamily="34" charset="-122"/>
                <a:cs typeface="Calibri" pitchFamily="34" charset="-120"/>
              </a:rPr>
              <a:t>the numbers the model found useful</a:t>
            </a:r>
            <a:endParaRPr lang="en-US" sz="1900" dirty="0"/>
          </a:p>
        </p:txBody>
      </p:sp>
      <p:sp>
        <p:nvSpPr>
          <p:cNvPr id="9" name="Text 7"/>
          <p:cNvSpPr txBox="1"/>
          <p:nvPr/>
        </p:nvSpPr>
        <p:spPr>
          <a:xfrm>
            <a:off x="5760720" y="1737360"/>
            <a:ext cx="457200" cy="548640"/>
          </a:xfrm>
          <a:prstGeom prst="rect">
            <a:avLst/>
          </a:prstGeom>
          <a:noFill/>
          <a:ln/>
        </p:spPr>
        <p:txBody>
          <a:bodyPr wrap="square" lIns="0" tIns="0" rIns="0" bIns="0" rtlCol="0" anchor="ctr"/>
          <a:lstStyle/>
          <a:p>
            <a:pPr algn="ctr" indent="0" marL="0">
              <a:buNone/>
            </a:pPr>
            <a:r>
              <a:rPr lang="en-US" sz="2800" dirty="0">
                <a:solidFill>
                  <a:srgbClr val="5C6577"/>
                </a:solidFill>
                <a:latin typeface="Cambria" pitchFamily="34" charset="0"/>
                <a:ea typeface="Cambria" pitchFamily="34" charset="-122"/>
                <a:cs typeface="Cambria" pitchFamily="34" charset="-120"/>
              </a:rPr>
              <a:t>→</a:t>
            </a:r>
            <a:endParaRPr lang="en-US" sz="2800" dirty="0"/>
          </a:p>
        </p:txBody>
      </p:sp>
      <p:sp>
        <p:nvSpPr>
          <p:cNvPr id="10" name="Shape 8"/>
          <p:cNvSpPr/>
          <p:nvPr/>
        </p:nvSpPr>
        <p:spPr>
          <a:xfrm>
            <a:off x="6217920" y="1371600"/>
            <a:ext cx="2377440" cy="1280160"/>
          </a:xfrm>
          <a:prstGeom prst="roundRect">
            <a:avLst>
              <a:gd name="adj" fmla="val 7143"/>
            </a:avLst>
          </a:prstGeom>
          <a:solidFill>
            <a:srgbClr val="E8F5EE"/>
          </a:solidFill>
          <a:ln w="12700">
            <a:solidFill>
              <a:srgbClr val="E8F5EE"/>
            </a:solidFill>
            <a:prstDash val="solid"/>
          </a:ln>
        </p:spPr>
      </p:sp>
      <p:sp>
        <p:nvSpPr>
          <p:cNvPr id="11" name="Text 9"/>
          <p:cNvSpPr txBox="1"/>
          <p:nvPr/>
        </p:nvSpPr>
        <p:spPr>
          <a:xfrm>
            <a:off x="6309360" y="1371600"/>
            <a:ext cx="2194560" cy="1280160"/>
          </a:xfrm>
          <a:prstGeom prst="rect">
            <a:avLst/>
          </a:prstGeom>
          <a:noFill/>
          <a:ln/>
        </p:spPr>
        <p:txBody>
          <a:bodyPr wrap="square" lIns="0" tIns="0" rIns="0" bIns="0" rtlCol="0" anchor="ctr"/>
          <a:lstStyle/>
          <a:p>
            <a:pPr algn="ctr" indent="0" marL="0">
              <a:buNone/>
            </a:pPr>
            <a:r>
              <a:rPr lang="en-US" sz="1900" b="1" dirty="0">
                <a:solidFill>
                  <a:srgbClr val="1B2130"/>
                </a:solidFill>
                <a:latin typeface="Cambria" pitchFamily="34" charset="0"/>
                <a:ea typeface="Cambria" pitchFamily="34" charset="-122"/>
                <a:cs typeface="Cambria" pitchFamily="34" charset="-120"/>
              </a:rPr>
              <a:t>Decision</a:t>
            </a:r>
            <a:endParaRPr lang="en-US" sz="1900" dirty="0"/>
          </a:p>
          <a:p>
            <a:pPr algn="ctr" indent="0" marL="0">
              <a:buNone/>
            </a:pPr>
            <a:r>
              <a:rPr lang="en-US" sz="1300" dirty="0">
                <a:solidFill>
                  <a:srgbClr val="5C6577"/>
                </a:solidFill>
                <a:latin typeface="Calibri" pitchFamily="34" charset="0"/>
                <a:ea typeface="Calibri" pitchFamily="34" charset="-122"/>
                <a:cs typeface="Calibri" pitchFamily="34" charset="-120"/>
              </a:rPr>
              <a:t>the bars: how sure it is about each class</a:t>
            </a:r>
            <a:endParaRPr lang="en-US" sz="1900" dirty="0"/>
          </a:p>
        </p:txBody>
      </p:sp>
      <p:sp>
        <p:nvSpPr>
          <p:cNvPr id="12" name="Shape 10"/>
          <p:cNvSpPr/>
          <p:nvPr/>
        </p:nvSpPr>
        <p:spPr>
          <a:xfrm>
            <a:off x="548640" y="3063240"/>
            <a:ext cx="8046720" cy="1051560"/>
          </a:xfrm>
          <a:prstGeom prst="roundRect">
            <a:avLst>
              <a:gd name="adj" fmla="val 8696"/>
            </a:avLst>
          </a:prstGeom>
          <a:solidFill>
            <a:srgbClr val="FBEFDF"/>
          </a:solidFill>
          <a:ln w="12700">
            <a:solidFill>
              <a:srgbClr val="FBEFDF"/>
            </a:solidFill>
            <a:prstDash val="solid"/>
          </a:ln>
        </p:spPr>
      </p:sp>
      <p:sp>
        <p:nvSpPr>
          <p:cNvPr id="13" name="Text 11"/>
          <p:cNvSpPr txBox="1"/>
          <p:nvPr/>
        </p:nvSpPr>
        <p:spPr>
          <a:xfrm>
            <a:off x="777240" y="3063240"/>
            <a:ext cx="7589520" cy="1051560"/>
          </a:xfrm>
          <a:prstGeom prst="rect">
            <a:avLst/>
          </a:prstGeom>
          <a:noFill/>
          <a:ln/>
        </p:spPr>
        <p:txBody>
          <a:bodyPr wrap="square" lIns="0" tIns="0" rIns="0" bIns="0" rtlCol="0" anchor="ctr"/>
          <a:lstStyle/>
          <a:p>
            <a:pPr indent="0" marL="0">
              <a:buNone/>
            </a:pPr>
            <a:r>
              <a:rPr lang="en-US" sz="1700" b="1" dirty="0">
                <a:solidFill>
                  <a:srgbClr val="D9822B"/>
                </a:solidFill>
                <a:latin typeface="Calibri" pitchFamily="34" charset="0"/>
                <a:ea typeface="Calibri" pitchFamily="34" charset="-122"/>
                <a:cs typeface="Calibri" pitchFamily="34" charset="-120"/>
              </a:rPr>
              <a:t>And then it failed. </a:t>
            </a:r>
            <a:pPr indent="0" marL="0">
              <a:buNone/>
            </a:pPr>
            <a:r>
              <a:rPr lang="en-US" sz="1700" dirty="0">
                <a:solidFill>
                  <a:srgbClr val="1B2130"/>
                </a:solidFill>
                <a:latin typeface="Calibri" pitchFamily="34" charset="0"/>
                <a:ea typeface="Calibri" pitchFamily="34" charset="-122"/>
                <a:cs typeface="Calibri" pitchFamily="34" charset="-120"/>
              </a:rPr>
              <a:t>New room, new light, and the decisions changed. Did it learn the hand, or the room behind it?</a:t>
            </a:r>
            <a:endParaRPr lang="en-US" sz="1700" dirty="0"/>
          </a:p>
        </p:txBody>
      </p:sp>
      <p:sp>
        <p:nvSpPr>
          <p:cNvPr id="14" name="Text 12"/>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The wolf that was really snow</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A classifier for wolves and huskies, built on purpose with a hidden flaw</a:t>
            </a:r>
            <a:endParaRPr lang="en-US" sz="1500" dirty="0"/>
          </a:p>
        </p:txBody>
      </p:sp>
      <p:pic>
        <p:nvPicPr>
          <p:cNvPr id="4" name="Image 0" descr="wolf.jpg">    </p:cNvPr>
          <p:cNvPicPr>
            <a:picLocks noChangeAspect="1"/>
          </p:cNvPicPr>
          <p:nvPr/>
        </p:nvPicPr>
        <p:blipFill>
          <a:blip r:embed="rId1"/>
          <a:srcRect l="0" r="0" t="0" b="0"/>
          <a:stretch/>
        </p:blipFill>
        <p:spPr>
          <a:xfrm>
            <a:off x="548640" y="1280160"/>
            <a:ext cx="3291840" cy="2194560"/>
          </a:xfrm>
          <a:prstGeom prst="rect">
            <a:avLst/>
          </a:prstGeom>
        </p:spPr>
      </p:pic>
      <p:sp>
        <p:nvSpPr>
          <p:cNvPr id="5" name="Text 2"/>
          <p:cNvSpPr txBox="1"/>
          <p:nvPr/>
        </p:nvSpPr>
        <p:spPr>
          <a:xfrm>
            <a:off x="548640" y="3493008"/>
            <a:ext cx="329184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Martin Falbisoner · CC BY-SA 3.0 · Wikimedia Commons</a:t>
            </a:r>
            <a:endParaRPr lang="en-US" sz="700" dirty="0"/>
          </a:p>
        </p:txBody>
      </p:sp>
      <p:pic>
        <p:nvPicPr>
          <p:cNvPr id="6" name="Image 1" descr="husky.jpg">    </p:cNvPr>
          <p:cNvPicPr>
            <a:picLocks noChangeAspect="1"/>
          </p:cNvPicPr>
          <p:nvPr/>
        </p:nvPicPr>
        <p:blipFill>
          <a:blip r:embed="rId2"/>
          <a:srcRect l="0" r="0" t="0" b="0"/>
          <a:stretch/>
        </p:blipFill>
        <p:spPr>
          <a:xfrm>
            <a:off x="4114800" y="1280160"/>
            <a:ext cx="1645920" cy="2194560"/>
          </a:xfrm>
          <a:prstGeom prst="rect">
            <a:avLst/>
          </a:prstGeom>
        </p:spPr>
      </p:pic>
      <p:sp>
        <p:nvSpPr>
          <p:cNvPr id="7" name="Text 3"/>
          <p:cNvSpPr txBox="1"/>
          <p:nvPr/>
        </p:nvSpPr>
        <p:spPr>
          <a:xfrm>
            <a:off x="4114800" y="3493008"/>
            <a:ext cx="1645920" cy="164592"/>
          </a:xfrm>
          <a:prstGeom prst="rect">
            <a:avLst/>
          </a:prstGeom>
          <a:noFill/>
          <a:ln/>
        </p:spPr>
        <p:txBody>
          <a:bodyPr wrap="square" lIns="0" tIns="0" rIns="0" bIns="0" rtlCol="0" anchor="ctr"/>
          <a:lstStyle/>
          <a:p>
            <a:pPr algn="l" indent="0" marL="0">
              <a:buNone/>
            </a:pPr>
            <a:r>
              <a:rPr lang="en-US" sz="700" dirty="0">
                <a:solidFill>
                  <a:srgbClr val="8A93A3"/>
                </a:solidFill>
                <a:latin typeface="Calibri" pitchFamily="34" charset="0"/>
                <a:ea typeface="Calibri" pitchFamily="34" charset="-122"/>
                <a:cs typeface="Calibri" pitchFamily="34" charset="-120"/>
              </a:rPr>
              <a:t>Photo: Peter Forster · CC BY-SA 2.0 · Wikimedia Commons</a:t>
            </a:r>
            <a:endParaRPr lang="en-US" sz="700" dirty="0"/>
          </a:p>
        </p:txBody>
      </p:sp>
      <p:sp>
        <p:nvSpPr>
          <p:cNvPr id="8" name="Text 4"/>
          <p:cNvSpPr txBox="1"/>
          <p:nvPr/>
        </p:nvSpPr>
        <p:spPr>
          <a:xfrm>
            <a:off x="6035040" y="1280160"/>
            <a:ext cx="2743200" cy="219456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Training photos</a:t>
            </a:r>
            <a:endParaRPr lang="en-US" sz="1400" dirty="0"/>
          </a:p>
          <a:p>
            <a:pPr indent="0" marL="0">
              <a:buNone/>
            </a:pPr>
            <a:r>
              <a:rPr lang="en-US" sz="1400" dirty="0">
                <a:solidFill>
                  <a:srgbClr val="5C6577"/>
                </a:solidFill>
                <a:latin typeface="Calibri" pitchFamily="34" charset="0"/>
                <a:ea typeface="Calibri" pitchFamily="34" charset="-122"/>
                <a:cs typeface="Calibri" pitchFamily="34" charset="-120"/>
              </a:rPr>
              <a:t>Wolves: always in snow.</a:t>
            </a:r>
            <a:endParaRPr lang="en-US" sz="1400" dirty="0"/>
          </a:p>
          <a:p>
            <a:pPr indent="0" marL="0">
              <a:buNone/>
            </a:pPr>
            <a:r>
              <a:rPr lang="en-US" sz="1400" dirty="0">
                <a:solidFill>
                  <a:srgbClr val="5C6577"/>
                </a:solidFill>
                <a:latin typeface="Calibri" pitchFamily="34" charset="0"/>
                <a:ea typeface="Calibri" pitchFamily="34" charset="-122"/>
                <a:cs typeface="Calibri" pitchFamily="34" charset="-120"/>
              </a:rPr>
              <a:t>Huskies: never in snow.</a:t>
            </a:r>
            <a:endParaRPr lang="en-US" sz="14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400" dirty="0"/>
          </a:p>
          <a:p>
            <a:pPr indent="0" marL="0">
              <a:buNone/>
            </a:pPr>
            <a:r>
              <a:rPr lang="en-US" sz="1400" b="1" dirty="0">
                <a:solidFill>
                  <a:srgbClr val="1B2130"/>
                </a:solidFill>
                <a:latin typeface="Calibri" pitchFamily="34" charset="0"/>
                <a:ea typeface="Calibri" pitchFamily="34" charset="-122"/>
                <a:cs typeface="Calibri" pitchFamily="34" charset="-120"/>
              </a:rPr>
              <a:t>New photo</a:t>
            </a:r>
            <a:endParaRPr lang="en-US" sz="1400" dirty="0"/>
          </a:p>
          <a:p>
            <a:pPr indent="0" marL="0">
              <a:buNone/>
            </a:pPr>
            <a:r>
              <a:rPr lang="en-US" sz="1400" b="1" dirty="0">
                <a:solidFill>
                  <a:srgbClr val="D9822B"/>
                </a:solidFill>
                <a:latin typeface="Calibri" pitchFamily="34" charset="0"/>
                <a:ea typeface="Calibri" pitchFamily="34" charset="-122"/>
                <a:cs typeface="Calibri" pitchFamily="34" charset="-120"/>
              </a:rPr>
              <a:t>A husky in snow → “wolf”</a:t>
            </a:r>
            <a:endParaRPr lang="en-US" sz="1400" dirty="0"/>
          </a:p>
        </p:txBody>
      </p:sp>
      <p:sp>
        <p:nvSpPr>
          <p:cNvPr id="9" name="Text 5"/>
          <p:cNvSpPr txBox="1"/>
          <p:nvPr/>
        </p:nvSpPr>
        <p:spPr>
          <a:xfrm>
            <a:off x="548640" y="3931920"/>
            <a:ext cx="8229600" cy="548640"/>
          </a:xfrm>
          <a:prstGeom prst="rect">
            <a:avLst/>
          </a:prstGeom>
          <a:noFill/>
          <a:ln/>
        </p:spPr>
        <p:txBody>
          <a:bodyPr wrap="square" lIns="0" tIns="0" rIns="0" bIns="0" rtlCol="0" anchor="ctr"/>
          <a:lstStyle/>
          <a:p>
            <a:pPr indent="0" marL="0">
              <a:buNone/>
            </a:pPr>
            <a:r>
              <a:rPr lang="en-US" sz="1500" dirty="0">
                <a:solidFill>
                  <a:srgbClr val="1B2130"/>
                </a:solidFill>
                <a:latin typeface="Calibri" pitchFamily="34" charset="0"/>
                <a:ea typeface="Calibri" pitchFamily="34" charset="-122"/>
                <a:cs typeface="Calibri" pitchFamily="34" charset="-120"/>
              </a:rPr>
              <a:t>It learned the snow, not the animal. Choosing good features, and testing on new data, is what this course teaches.</a:t>
            </a:r>
            <a:endParaRPr lang="en-US" sz="1500" dirty="0"/>
          </a:p>
        </p:txBody>
      </p:sp>
      <p:sp>
        <p:nvSpPr>
          <p:cNvPr id="10" name="Text 6"/>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Pattern recognition that matters here</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Each one: raw data in, a class out</a:t>
            </a:r>
            <a:endParaRPr lang="en-US" sz="1500" dirty="0"/>
          </a:p>
        </p:txBody>
      </p:sp>
      <p:pic>
        <p:nvPicPr>
          <p:cNvPr id="4" name="Image 0" descr="xray.jpg">    </p:cNvPr>
          <p:cNvPicPr>
            <a:picLocks noChangeAspect="1"/>
          </p:cNvPicPr>
          <p:nvPr/>
        </p:nvPicPr>
        <p:blipFill>
          <a:blip r:embed="rId1"/>
          <a:srcRect l="0" r="0" t="0" b="0"/>
          <a:stretch/>
        </p:blipFill>
        <p:spPr>
          <a:xfrm>
            <a:off x="457200" y="1280160"/>
            <a:ext cx="1920240" cy="1600200"/>
          </a:xfrm>
          <a:prstGeom prst="rect">
            <a:avLst/>
          </a:prstGeom>
        </p:spPr>
      </p:pic>
      <p:sp>
        <p:nvSpPr>
          <p:cNvPr id="5" name="Text 2"/>
          <p:cNvSpPr txBox="1"/>
          <p:nvPr/>
        </p:nvSpPr>
        <p:spPr>
          <a:xfrm>
            <a:off x="457200" y="3017520"/>
            <a:ext cx="1920240" cy="100584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Chest X-ray screening</a:t>
            </a:r>
            <a:endParaRPr lang="en-US" sz="1400" dirty="0"/>
          </a:p>
          <a:p>
            <a:pPr indent="0" marL="0">
              <a:buNone/>
            </a:pPr>
            <a:r>
              <a:rPr lang="en-US" sz="1200" dirty="0">
                <a:solidFill>
                  <a:srgbClr val="5C6577"/>
                </a:solidFill>
                <a:latin typeface="Calibri" pitchFamily="34" charset="0"/>
                <a:ea typeface="Calibri" pitchFamily="34" charset="-122"/>
                <a:cs typeface="Calibri" pitchFamily="34" charset="-120"/>
              </a:rPr>
              <a:t>flag images a doctor should see first</a:t>
            </a:r>
            <a:endParaRPr lang="en-US" sz="1400" dirty="0"/>
          </a:p>
        </p:txBody>
      </p:sp>
      <p:pic>
        <p:nvPicPr>
          <p:cNvPr id="6" name="Image 1" descr="leaf.jpg">    </p:cNvPr>
          <p:cNvPicPr>
            <a:picLocks noChangeAspect="1"/>
          </p:cNvPicPr>
          <p:nvPr/>
        </p:nvPicPr>
        <p:blipFill>
          <a:blip r:embed="rId2"/>
          <a:srcRect l="0" r="0" t="0" b="0"/>
          <a:stretch/>
        </p:blipFill>
        <p:spPr>
          <a:xfrm>
            <a:off x="2560320" y="1280160"/>
            <a:ext cx="1920240" cy="1600200"/>
          </a:xfrm>
          <a:prstGeom prst="rect">
            <a:avLst/>
          </a:prstGeom>
        </p:spPr>
      </p:pic>
      <p:sp>
        <p:nvSpPr>
          <p:cNvPr id="7" name="Text 3"/>
          <p:cNvSpPr txBox="1"/>
          <p:nvPr/>
        </p:nvSpPr>
        <p:spPr>
          <a:xfrm>
            <a:off x="2560320" y="3017520"/>
            <a:ext cx="1920240" cy="100584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Plant disease</a:t>
            </a:r>
            <a:endParaRPr lang="en-US" sz="1400" dirty="0"/>
          </a:p>
          <a:p>
            <a:pPr indent="0" marL="0">
              <a:buNone/>
            </a:pPr>
            <a:r>
              <a:rPr lang="en-US" sz="1200" dirty="0">
                <a:solidFill>
                  <a:srgbClr val="5C6577"/>
                </a:solidFill>
                <a:latin typeface="Calibri" pitchFamily="34" charset="0"/>
                <a:ea typeface="Calibri" pitchFamily="34" charset="-122"/>
                <a:cs typeface="Calibri" pitchFamily="34" charset="-120"/>
              </a:rPr>
              <a:t>a photo of a leaf → healthy or which disease</a:t>
            </a:r>
            <a:endParaRPr lang="en-US" sz="1400" dirty="0"/>
          </a:p>
        </p:txBody>
      </p:sp>
      <p:pic>
        <p:nvPicPr>
          <p:cNvPr id="8" name="Image 2" descr="solar.jpg">    </p:cNvPr>
          <p:cNvPicPr>
            <a:picLocks noChangeAspect="1"/>
          </p:cNvPicPr>
          <p:nvPr/>
        </p:nvPicPr>
        <p:blipFill>
          <a:blip r:embed="rId3"/>
          <a:srcRect l="0" r="0" t="0" b="0"/>
          <a:stretch/>
        </p:blipFill>
        <p:spPr>
          <a:xfrm>
            <a:off x="4663440" y="1280160"/>
            <a:ext cx="1920240" cy="1600200"/>
          </a:xfrm>
          <a:prstGeom prst="rect">
            <a:avLst/>
          </a:prstGeom>
        </p:spPr>
      </p:pic>
      <p:sp>
        <p:nvSpPr>
          <p:cNvPr id="9" name="Text 4"/>
          <p:cNvSpPr txBox="1"/>
          <p:nvPr/>
        </p:nvSpPr>
        <p:spPr>
          <a:xfrm>
            <a:off x="4663440" y="3017520"/>
            <a:ext cx="1920240" cy="100584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Solar panel faults</a:t>
            </a:r>
            <a:endParaRPr lang="en-US" sz="1400" dirty="0"/>
          </a:p>
          <a:p>
            <a:pPr indent="0" marL="0">
              <a:buNone/>
            </a:pPr>
            <a:r>
              <a:rPr lang="en-US" sz="1200" dirty="0">
                <a:solidFill>
                  <a:srgbClr val="5C6577"/>
                </a:solidFill>
                <a:latin typeface="Calibri" pitchFamily="34" charset="0"/>
                <a:ea typeface="Calibri" pitchFamily="34" charset="-122"/>
                <a:cs typeface="Calibri" pitchFamily="34" charset="-120"/>
              </a:rPr>
              <a:t>a photo of a panel → working or damaged</a:t>
            </a:r>
            <a:endParaRPr lang="en-US" sz="1400" dirty="0"/>
          </a:p>
        </p:txBody>
      </p:sp>
      <p:pic>
        <p:nvPicPr>
          <p:cNvPr id="10" name="Image 3" descr="arabic_box.jpg">    </p:cNvPr>
          <p:cNvPicPr>
            <a:picLocks noChangeAspect="1"/>
          </p:cNvPicPr>
          <p:nvPr/>
        </p:nvPicPr>
        <p:blipFill>
          <a:blip r:embed="rId4"/>
          <a:srcRect l="0" r="0" t="0" b="0"/>
          <a:stretch/>
        </p:blipFill>
        <p:spPr>
          <a:xfrm>
            <a:off x="6766560" y="1280160"/>
            <a:ext cx="1920240" cy="1600200"/>
          </a:xfrm>
          <a:prstGeom prst="rect">
            <a:avLst/>
          </a:prstGeom>
        </p:spPr>
      </p:pic>
      <p:sp>
        <p:nvSpPr>
          <p:cNvPr id="11" name="Shape 5"/>
          <p:cNvSpPr/>
          <p:nvPr/>
        </p:nvSpPr>
        <p:spPr>
          <a:xfrm>
            <a:off x="6766560" y="1280160"/>
            <a:ext cx="1920240" cy="1600200"/>
          </a:xfrm>
          <a:prstGeom prst="rect">
            <a:avLst/>
          </a:prstGeom>
          <a:ln w="9525">
            <a:solidFill>
              <a:srgbClr val="DFE3EA"/>
            </a:solidFill>
            <a:prstDash val="solid"/>
          </a:ln>
        </p:spPr>
      </p:sp>
      <p:sp>
        <p:nvSpPr>
          <p:cNvPr id="12" name="Text 6"/>
          <p:cNvSpPr txBox="1"/>
          <p:nvPr/>
        </p:nvSpPr>
        <p:spPr>
          <a:xfrm>
            <a:off x="6766560" y="3017520"/>
            <a:ext cx="1920240" cy="1005840"/>
          </a:xfrm>
          <a:prstGeom prst="rect">
            <a:avLst/>
          </a:prstGeom>
          <a:noFill/>
          <a:ln/>
        </p:spPr>
        <p:txBody>
          <a:bodyPr wrap="square" lIns="0" tIns="0" rIns="0" bIns="0" rtlCol="0" anchor="t"/>
          <a:lstStyle/>
          <a:p>
            <a:pPr indent="0" marL="0">
              <a:buNone/>
            </a:pPr>
            <a:r>
              <a:rPr lang="en-US" sz="1400" b="1" dirty="0">
                <a:solidFill>
                  <a:srgbClr val="1B2130"/>
                </a:solidFill>
                <a:latin typeface="Calibri" pitchFamily="34" charset="0"/>
                <a:ea typeface="Calibri" pitchFamily="34" charset="-122"/>
                <a:cs typeface="Calibri" pitchFamily="34" charset="-120"/>
              </a:rPr>
              <a:t>Arabic handwriting</a:t>
            </a:r>
            <a:endParaRPr lang="en-US" sz="1400" dirty="0"/>
          </a:p>
          <a:p>
            <a:pPr indent="0" marL="0">
              <a:buNone/>
            </a:pPr>
            <a:r>
              <a:rPr lang="en-US" sz="1200" dirty="0">
                <a:solidFill>
                  <a:srgbClr val="5C6577"/>
                </a:solidFill>
                <a:latin typeface="Calibri" pitchFamily="34" charset="0"/>
                <a:ea typeface="Calibri" pitchFamily="34" charset="-122"/>
                <a:cs typeface="Calibri" pitchFamily="34" charset="-120"/>
              </a:rPr>
              <a:t>a scanned page → the words</a:t>
            </a:r>
            <a:endParaRPr lang="en-US" sz="1400" dirty="0"/>
          </a:p>
        </p:txBody>
      </p:sp>
      <p:sp>
        <p:nvSpPr>
          <p:cNvPr id="13" name="Text 7"/>
          <p:cNvSpPr txBox="1"/>
          <p:nvPr/>
        </p:nvSpPr>
        <p:spPr>
          <a:xfrm>
            <a:off x="457200" y="4251960"/>
            <a:ext cx="8229600" cy="320040"/>
          </a:xfrm>
          <a:prstGeom prst="rect">
            <a:avLst/>
          </a:prstGeom>
          <a:noFill/>
          <a:ln/>
        </p:spPr>
        <p:txBody>
          <a:bodyPr wrap="square" lIns="0" tIns="0" rIns="0" bIns="0" rtlCol="0" anchor="ctr"/>
          <a:lstStyle/>
          <a:p>
            <a:pPr indent="0" marL="0">
              <a:buNone/>
            </a:pPr>
            <a:r>
              <a:rPr lang="en-US" sz="1300" i="1" dirty="0">
                <a:solidFill>
                  <a:srgbClr val="5C6577"/>
                </a:solidFill>
                <a:latin typeface="Calibri" pitchFamily="34" charset="0"/>
                <a:ea typeface="Calibri" pitchFamily="34" charset="-122"/>
                <a:cs typeface="Calibri" pitchFamily="34" charset="-120"/>
              </a:rPr>
              <a:t>Also in your pocket every day: face unlock, spam filters, voice typing, keyboard word prediction.</a:t>
            </a:r>
            <a:endParaRPr lang="en-US" sz="1300" dirty="0"/>
          </a:p>
        </p:txBody>
      </p:sp>
      <p:sp>
        <p:nvSpPr>
          <p:cNvPr id="14" name="Text 8"/>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Sooner than you think</a:t>
            </a:r>
            <a:endParaRPr lang="en-US" sz="3000" dirty="0"/>
          </a:p>
        </p:txBody>
      </p:sp>
      <p:sp>
        <p:nvSpPr>
          <p:cNvPr id="3" name="Text 1"/>
          <p:cNvSpPr txBox="1"/>
          <p:nvPr/>
        </p:nvSpPr>
        <p:spPr>
          <a:xfrm>
            <a:off x="457200" y="1005840"/>
            <a:ext cx="4937760" cy="731520"/>
          </a:xfrm>
          <a:prstGeom prst="rect">
            <a:avLst/>
          </a:prstGeom>
          <a:noFill/>
          <a:ln/>
        </p:spPr>
        <p:txBody>
          <a:bodyPr wrap="square" lIns="0" tIns="0" rIns="0" bIns="0" rtlCol="0" anchor="ctr"/>
          <a:lstStyle/>
          <a:p>
            <a:pPr indent="0" marL="0">
              <a:buNone/>
            </a:pPr>
            <a:r>
              <a:rPr lang="en-US" sz="1300" b="1" dirty="0">
                <a:solidFill>
                  <a:srgbClr val="2D5BC4"/>
                </a:solidFill>
                <a:latin typeface="Calibri" pitchFamily="34" charset="0"/>
                <a:ea typeface="Calibri" pitchFamily="34" charset="-122"/>
                <a:cs typeface="Calibri" pitchFamily="34" charset="-120"/>
              </a:rPr>
              <a:t>Week 2</a:t>
            </a:r>
            <a:endParaRPr lang="en-US" sz="1300" dirty="0"/>
          </a:p>
          <a:p>
            <a:pPr indent="0" marL="0">
              <a:buNone/>
            </a:pPr>
            <a:r>
              <a:rPr lang="en-US" sz="2000" b="1" dirty="0">
                <a:solidFill>
                  <a:srgbClr val="1B2130"/>
                </a:solidFill>
                <a:latin typeface="Cambria" pitchFamily="34" charset="0"/>
                <a:ea typeface="Cambria" pitchFamily="34" charset="-122"/>
                <a:cs typeface="Cambria" pitchFamily="34" charset="-120"/>
              </a:rPr>
              <a:t>Your first classifier, in a few lines</a:t>
            </a:r>
            <a:endParaRPr lang="en-US" sz="1300" dirty="0"/>
          </a:p>
        </p:txBody>
      </p:sp>
      <p:sp>
        <p:nvSpPr>
          <p:cNvPr id="4" name="Text 2"/>
          <p:cNvSpPr txBox="1"/>
          <p:nvPr/>
        </p:nvSpPr>
        <p:spPr>
          <a:xfrm>
            <a:off x="457200" y="1828800"/>
            <a:ext cx="5212080" cy="1417320"/>
          </a:xfrm>
          <a:prstGeom prst="rect">
            <a:avLst/>
          </a:prstGeom>
          <a:solidFill>
            <a:srgbClr val="F6F7F9"/>
          </a:solidFill>
          <a:ln/>
        </p:spPr>
        <p:txBody>
          <a:bodyPr wrap="square" lIns="1524" tIns="1524" rIns="1524" bIns="1524" rtlCol="0" anchor="t"/>
          <a:lstStyle/>
          <a:p>
            <a:pPr indent="0" marL="0">
              <a:buNone/>
            </a:pPr>
            <a:r>
              <a:rPr lang="en-US" sz="850" dirty="0">
                <a:solidFill>
                  <a:srgbClr val="1B2130"/>
                </a:solidFill>
                <a:latin typeface="Courier New" pitchFamily="34" charset="0"/>
                <a:ea typeface="Courier New" pitchFamily="34" charset="-122"/>
                <a:cs typeface="Courier New" pitchFamily="34" charset="-120"/>
              </a:rPr>
              <a:t>import numpy as np</a:t>
            </a:r>
            <a:endParaRPr lang="en-US" sz="850" dirty="0"/>
          </a:p>
          <a:p>
            <a:pPr indent="0" marL="0">
              <a:buNone/>
            </a:pPr>
            <a:r>
              <a:rPr lang="en-US" sz="850" dirty="0">
                <a:solidFill>
                  <a:srgbClr val="1B2130"/>
                </a:solidFill>
                <a:latin typeface="Courier New" pitchFamily="34" charset="0"/>
                <a:ea typeface="Courier New" pitchFamily="34" charset="-122"/>
                <a:cs typeface="Courier New" pitchFamily="34" charset="-120"/>
              </a:rPr>
              <a:t>X = np.array([[2.5,16.0],[3.0,19.3],[4.2,20.5],[5.2,19.0]])</a:t>
            </a:r>
            <a:endParaRPr lang="en-US" sz="850" dirty="0"/>
          </a:p>
          <a:p>
            <a:pPr indent="0" marL="0">
              <a:buNone/>
            </a:pPr>
            <a:r>
              <a:rPr lang="en-US" sz="850" dirty="0">
                <a:solidFill>
                  <a:srgbClr val="1B2130"/>
                </a:solidFill>
                <a:latin typeface="Courier New" pitchFamily="34" charset="0"/>
                <a:ea typeface="Courier New" pitchFamily="34" charset="-122"/>
                <a:cs typeface="Courier New" pitchFamily="34" charset="-120"/>
              </a:rPr>
              <a:t>y = np.array(["salmon","salmon","sea bass","sea bass"])</a:t>
            </a:r>
            <a:endParaRPr lang="en-US" sz="850" dirty="0"/>
          </a:p>
          <a:p>
            <a:pPr indent="0" marL="0">
              <a:buNone/>
            </a:pPr>
            <a:r>
              <a:rPr lang="en-US" sz="850" dirty="0">
                <a:solidFill>
                  <a:srgbClr val="1B2130"/>
                </a:solidFill>
                <a:latin typeface="Courier New" pitchFamily="34" charset="0"/>
                <a:ea typeface="Courier New" pitchFamily="34" charset="-122"/>
                <a:cs typeface="Courier New" pitchFamily="34" charset="-120"/>
              </a:rPr>
              <a:t>centres = {c: X[y==c].mean(axis=0) for c in set(y)}</a:t>
            </a:r>
            <a:endParaRPr lang="en-US" sz="850" dirty="0"/>
          </a:p>
          <a:p>
            <a:pPr indent="0" marL="0">
              <a:buNone/>
            </a:pPr>
            <a:r>
              <a:rPr lang="en-US" sz="850" dirty="0">
                <a:solidFill>
                  <a:srgbClr val="1B2130"/>
                </a:solidFill>
                <a:latin typeface="Courier New" pitchFamily="34" charset="0"/>
                <a:ea typeface="Courier New" pitchFamily="34" charset="-122"/>
                <a:cs typeface="Courier New" pitchFamily="34" charset="-120"/>
              </a:rPr>
              <a:t>new_fish = np.array([4.0, 19.0])</a:t>
            </a:r>
            <a:endParaRPr lang="en-US" sz="850" dirty="0"/>
          </a:p>
          <a:p>
            <a:pPr indent="0" marL="0">
              <a:buNone/>
            </a:pPr>
            <a:r>
              <a:rPr lang="en-US" sz="850" dirty="0">
                <a:solidFill>
                  <a:srgbClr val="1B2130"/>
                </a:solidFill>
                <a:latin typeface="Courier New" pitchFamily="34" charset="0"/>
                <a:ea typeface="Courier New" pitchFamily="34" charset="-122"/>
                <a:cs typeface="Courier New" pitchFamily="34" charset="-120"/>
              </a:rPr>
              <a:t>print(min(centres, key=lambda c: np.linalg.norm(new_fish-centres[c])))</a:t>
            </a:r>
            <a:endParaRPr lang="en-US" sz="850" dirty="0"/>
          </a:p>
          <a:p>
            <a:pPr indent="0" marL="0">
              <a:buNone/>
            </a:pPr>
            <a:r>
              <a:rPr lang="en-US" sz="850" dirty="0">
                <a:solidFill>
                  <a:srgbClr val="1F7A4D"/>
                </a:solidFill>
                <a:latin typeface="Courier New" pitchFamily="34" charset="0"/>
                <a:ea typeface="Courier New" pitchFamily="34" charset="-122"/>
                <a:cs typeface="Courier New" pitchFamily="34" charset="-120"/>
              </a:rPr>
              <a:t># sea bass</a:t>
            </a:r>
            <a:endParaRPr lang="en-US" sz="850" dirty="0"/>
          </a:p>
        </p:txBody>
      </p:sp>
      <p:sp>
        <p:nvSpPr>
          <p:cNvPr id="5" name="Shape 3"/>
          <p:cNvSpPr/>
          <p:nvPr/>
        </p:nvSpPr>
        <p:spPr>
          <a:xfrm>
            <a:off x="5852160" y="1005840"/>
            <a:ext cx="2834640" cy="2926080"/>
          </a:xfrm>
          <a:prstGeom prst="roundRect">
            <a:avLst>
              <a:gd name="adj" fmla="val 3226"/>
            </a:avLst>
          </a:prstGeom>
          <a:solidFill>
            <a:srgbClr val="FBEFDF"/>
          </a:solidFill>
          <a:ln w="12700">
            <a:solidFill>
              <a:srgbClr val="FBEFDF"/>
            </a:solidFill>
            <a:prstDash val="solid"/>
          </a:ln>
        </p:spPr>
      </p:sp>
      <p:sp>
        <p:nvSpPr>
          <p:cNvPr id="6" name="Text 4"/>
          <p:cNvSpPr txBox="1"/>
          <p:nvPr/>
        </p:nvSpPr>
        <p:spPr>
          <a:xfrm>
            <a:off x="6035040" y="1143000"/>
            <a:ext cx="2560320" cy="2651760"/>
          </a:xfrm>
          <a:prstGeom prst="rect">
            <a:avLst/>
          </a:prstGeom>
          <a:noFill/>
          <a:ln/>
        </p:spPr>
        <p:txBody>
          <a:bodyPr wrap="square" lIns="0" tIns="0" rIns="0" bIns="0" rtlCol="0" anchor="t"/>
          <a:lstStyle/>
          <a:p>
            <a:pPr indent="0" marL="0">
              <a:buNone/>
            </a:pPr>
            <a:r>
              <a:rPr lang="en-US" sz="1300" b="1" dirty="0">
                <a:solidFill>
                  <a:srgbClr val="D9822B"/>
                </a:solidFill>
                <a:latin typeface="Calibri" pitchFamily="34" charset="0"/>
                <a:ea typeface="Calibri" pitchFamily="34" charset="-122"/>
                <a:cs typeface="Calibri" pitchFamily="34" charset="-120"/>
              </a:rPr>
              <a:t>Week 12</a:t>
            </a:r>
            <a:endParaRPr lang="en-US" sz="1300" dirty="0"/>
          </a:p>
          <a:p>
            <a:pPr indent="0" marL="0">
              <a:buNone/>
            </a:pPr>
            <a:r>
              <a:rPr lang="en-US" sz="2000" b="1" dirty="0">
                <a:solidFill>
                  <a:srgbClr val="1B2130"/>
                </a:solidFill>
                <a:latin typeface="Cambria" pitchFamily="34" charset="0"/>
                <a:ea typeface="Cambria" pitchFamily="34" charset="-122"/>
                <a:cs typeface="Cambria" pitchFamily="34" charset="-120"/>
              </a:rPr>
              <a:t>Your own project</a:t>
            </a:r>
            <a:endParaRPr lang="en-US" sz="130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300" dirty="0"/>
          </a:p>
          <a:p>
            <a:pPr indent="0" marL="0">
              <a:buNone/>
            </a:pPr>
            <a:r>
              <a:rPr lang="en-US" sz="1400" dirty="0">
                <a:solidFill>
                  <a:srgbClr val="1B2130"/>
                </a:solidFill>
                <a:latin typeface="Calibri" pitchFamily="34" charset="0"/>
                <a:ea typeface="Calibri" pitchFamily="34" charset="-122"/>
                <a:cs typeface="Calibri" pitchFamily="34" charset="-120"/>
              </a:rPr>
              <a:t>A problem you choose: define it, choose features and an algorithm, build it, and test it.</a:t>
            </a:r>
            <a:endParaRPr lang="en-US" sz="1300" dirty="0"/>
          </a:p>
        </p:txBody>
      </p:sp>
      <p:sp>
        <p:nvSpPr>
          <p:cNvPr id="7" name="Text 5"/>
          <p:cNvSpPr txBox="1"/>
          <p:nvPr/>
        </p:nvSpPr>
        <p:spPr>
          <a:xfrm>
            <a:off x="457200" y="4206240"/>
            <a:ext cx="8229600" cy="320040"/>
          </a:xfrm>
          <a:prstGeom prst="rect">
            <a:avLst/>
          </a:prstGeom>
          <a:noFill/>
          <a:ln/>
        </p:spPr>
        <p:txBody>
          <a:bodyPr wrap="square" lIns="0" tIns="0" rIns="0" bIns="0" rtlCol="0" anchor="ctr"/>
          <a:lstStyle/>
          <a:p>
            <a:pPr indent="0" marL="0">
              <a:buNone/>
            </a:pPr>
            <a:r>
              <a:rPr lang="en-US" sz="1400" i="1" dirty="0">
                <a:solidFill>
                  <a:srgbClr val="5C6577"/>
                </a:solidFill>
                <a:latin typeface="Calibri" pitchFamily="34" charset="0"/>
                <a:ea typeface="Calibri" pitchFamily="34" charset="-122"/>
                <a:cs typeface="Calibri" pitchFamily="34" charset="-120"/>
              </a:rPr>
              <a:t>All with a laptop and free tools: Python, scikit-learn and Google Colab.</a:t>
            </a:r>
            <a:endParaRPr lang="en-US" sz="1400" dirty="0"/>
          </a:p>
        </p:txBody>
      </p:sp>
      <p:sp>
        <p:nvSpPr>
          <p:cNvPr id="8" name="Text 6"/>
          <p:cNvSpPr txBox="1"/>
          <p:nvPr/>
        </p:nvSpPr>
        <p:spPr>
          <a:xfrm>
            <a:off x="5943600" y="4754880"/>
            <a:ext cx="2743200" cy="228600"/>
          </a:xfrm>
          <a:prstGeom prst="rect">
            <a:avLst/>
          </a:prstGeom>
          <a:noFill/>
          <a:ln/>
        </p:spPr>
        <p:txBody>
          <a:bodyPr wrap="square" lIns="0" tIns="0" rIns="0" bIns="0" rtlCol="0" anchor="ctr"/>
          <a:lstStyle/>
          <a:p>
            <a:pPr algn="r" indent="0" marL="0">
              <a:buNone/>
            </a:pPr>
            <a:r>
              <a:rPr lang="en-US" sz="1000" dirty="0">
                <a:solidFill>
                  <a:srgbClr val="5C6577"/>
                </a:solidFill>
                <a:latin typeface="Calibri" pitchFamily="34" charset="0"/>
                <a:ea typeface="Calibri" pitchFamily="34" charset="-122"/>
                <a:cs typeface="Calibri" pitchFamily="34" charset="-120"/>
              </a:rPr>
              <a:t>Week 1 · Motivation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130"/>
        </a:solidFill>
      </p:bgPr>
    </p:bg>
    <p:spTree>
      <p:nvGrpSpPr>
        <p:cNvPr id="1" name=""/>
        <p:cNvGrpSpPr/>
        <p:nvPr/>
      </p:nvGrpSpPr>
      <p:grpSpPr>
        <a:xfrm>
          <a:off x="0" y="0"/>
          <a:ext cx="0" cy="0"/>
          <a:chOff x="0" y="0"/>
          <a:chExt cx="0" cy="0"/>
        </a:xfrm>
      </p:grpSpPr>
      <p:sp>
        <p:nvSpPr>
          <p:cNvPr id="2" name="Text 0"/>
          <p:cNvSpPr txBox="1"/>
          <p:nvPr/>
        </p:nvSpPr>
        <p:spPr>
          <a:xfrm>
            <a:off x="548640" y="640080"/>
            <a:ext cx="8046720" cy="274320"/>
          </a:xfrm>
          <a:prstGeom prst="rect">
            <a:avLst/>
          </a:prstGeom>
          <a:noFill/>
          <a:ln/>
        </p:spPr>
        <p:txBody>
          <a:bodyPr wrap="square" lIns="0" tIns="0" rIns="0" bIns="0" rtlCol="0" anchor="ctr"/>
          <a:lstStyle/>
          <a:p>
            <a:pPr indent="0" marL="0">
              <a:buNone/>
            </a:pPr>
            <a:r>
              <a:rPr lang="en-US" sz="1200" spc="200" kern="0" dirty="0">
                <a:solidFill>
                  <a:srgbClr val="9FB7EE"/>
                </a:solidFill>
                <a:latin typeface="Calibri" pitchFamily="34" charset="0"/>
                <a:ea typeface="Calibri" pitchFamily="34" charset="-122"/>
                <a:cs typeface="Calibri" pitchFamily="34" charset="-120"/>
              </a:rPr>
              <a:t>ENGS 3302 PATTERN RECOGNITION</a:t>
            </a:r>
            <a:endParaRPr lang="en-US" sz="1200" dirty="0"/>
          </a:p>
        </p:txBody>
      </p:sp>
      <p:sp>
        <p:nvSpPr>
          <p:cNvPr id="3" name="Text 1"/>
          <p:cNvSpPr txBox="1"/>
          <p:nvPr/>
        </p:nvSpPr>
        <p:spPr>
          <a:xfrm>
            <a:off x="548640" y="1005840"/>
            <a:ext cx="8046720" cy="13258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Ready?</a:t>
            </a:r>
            <a:endParaRPr lang="en-US" sz="4000" dirty="0"/>
          </a:p>
        </p:txBody>
      </p:sp>
      <p:sp>
        <p:nvSpPr>
          <p:cNvPr id="4" name="Text 2"/>
          <p:cNvSpPr txBox="1"/>
          <p:nvPr/>
        </p:nvSpPr>
        <p:spPr>
          <a:xfrm>
            <a:off x="548640" y="2514600"/>
            <a:ext cx="7132320" cy="1005840"/>
          </a:xfrm>
          <a:prstGeom prst="rect">
            <a:avLst/>
          </a:prstGeom>
          <a:noFill/>
          <a:ln/>
        </p:spPr>
        <p:txBody>
          <a:bodyPr wrap="square" lIns="0" tIns="0" rIns="0" bIns="0" rtlCol="0" anchor="t"/>
          <a:lstStyle/>
          <a:p>
            <a:pPr indent="0" marL="0">
              <a:buNone/>
            </a:pPr>
            <a:r>
              <a:rPr lang="en-US" sz="1900" dirty="0">
                <a:solidFill>
                  <a:srgbClr val="D7DDEA"/>
                </a:solidFill>
                <a:latin typeface="Calibri" pitchFamily="34" charset="0"/>
                <a:ea typeface="Calibri" pitchFamily="34" charset="-122"/>
                <a:cs typeface="Calibri" pitchFamily="34" charset="-120"/>
              </a:rPr>
              <a:t>Next video: how this course works, week by week.</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8229600" cy="548640"/>
          </a:xfrm>
          <a:prstGeom prst="rect">
            <a:avLst/>
          </a:prstGeom>
          <a:noFill/>
          <a:ln/>
        </p:spPr>
        <p:txBody>
          <a:bodyPr wrap="square" lIns="0" tIns="0" rIns="0" bIns="0" rtlCol="0" anchor="ctr"/>
          <a:lstStyle/>
          <a:p>
            <a:pPr indent="0" marL="0">
              <a:buNone/>
            </a:pPr>
            <a:r>
              <a:rPr lang="en-US" sz="3000" b="1" dirty="0">
                <a:solidFill>
                  <a:srgbClr val="1B2130"/>
                </a:solidFill>
                <a:latin typeface="Cambria" pitchFamily="34" charset="0"/>
                <a:ea typeface="Cambria" pitchFamily="34" charset="-122"/>
                <a:cs typeface="Cambria" pitchFamily="34" charset="-120"/>
              </a:rPr>
              <a:t>Image credits</a:t>
            </a:r>
            <a:endParaRPr lang="en-US" sz="3000" dirty="0"/>
          </a:p>
        </p:txBody>
      </p:sp>
      <p:sp>
        <p:nvSpPr>
          <p:cNvPr id="3" name="Text 1"/>
          <p:cNvSpPr txBox="1"/>
          <p:nvPr/>
        </p:nvSpPr>
        <p:spPr>
          <a:xfrm>
            <a:off x="457200" y="822960"/>
            <a:ext cx="8229600" cy="320040"/>
          </a:xfrm>
          <a:prstGeom prst="rect">
            <a:avLst/>
          </a:prstGeom>
          <a:noFill/>
          <a:ln/>
        </p:spPr>
        <p:txBody>
          <a:bodyPr wrap="square" lIns="0" tIns="0" rIns="0" bIns="0" rtlCol="0" anchor="ctr"/>
          <a:lstStyle/>
          <a:p>
            <a:pPr indent="0" marL="0">
              <a:buNone/>
            </a:pPr>
            <a:r>
              <a:rPr lang="en-US" sz="1500" dirty="0">
                <a:solidFill>
                  <a:srgbClr val="5C6577"/>
                </a:solidFill>
                <a:latin typeface="Calibri" pitchFamily="34" charset="0"/>
                <a:ea typeface="Calibri" pitchFamily="34" charset="-122"/>
                <a:cs typeface="Calibri" pitchFamily="34" charset="-120"/>
              </a:rPr>
              <a:t>All photos from Wikimedia Commons, used under the licences shown</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4206240"/>
                <a:gridCol w="2560320"/>
                <a:gridCol w="1463040"/>
              </a:tblGrid>
              <a:tr h="246888">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Image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Author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b="1" dirty="0">
                          <a:solidFill>
                            <a:srgbClr val="5C6577"/>
                          </a:solidFill>
                          <a:latin typeface="Calibri" pitchFamily="34" charset="0"/>
                          <a:ea typeface="Calibri" pitchFamily="34" charset="-122"/>
                          <a:cs typeface="Calibri" pitchFamily="34" charset="-120"/>
                        </a:rPr>
                        <a:t>Licence</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MnistExamples.png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Josef Steppan</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4.0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Wolf in snow at Munich zoo.JPG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Martin Falbisoner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3.0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Dog portrait, Siberian Husky.jpg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Peter Forster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2.0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Normal posteroanterior (PA) chest radiograph (X-ray).jpg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Mikael Häggström</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Late blight on tomato leaf (7871756748).jpg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Dwight Sipler</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 2.0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Cracked solar panel near Leh (4336613925).jpg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Kiran Jonnalagadda</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2.0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r h="246888">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Arabic Handwriting.jpg</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Hakeem.gadi</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c>
                  <a:txBody>
                    <a:bodyPr/>
                    <a:lstStyle/>
                    <a:p>
                      <a:pPr indent="0" marL="0">
                        <a:buNone/>
                      </a:pPr>
                      <a:r>
                        <a:rPr lang="en-US" sz="1000" dirty="0">
                          <a:solidFill>
                            <a:srgbClr val="1B2130"/>
                          </a:solidFill>
                          <a:latin typeface="Calibri" pitchFamily="34" charset="0"/>
                          <a:ea typeface="Calibri" pitchFamily="34" charset="-122"/>
                          <a:cs typeface="Calibri" pitchFamily="34" charset="-120"/>
                        </a:rPr>
                        <a:t>CC BY-SA 3.0</a:t>
                      </a:r>
                      <a:endParaRPr lang="en-US" sz="1000" dirty="0">
                        <a:latin typeface="Calibri" charset="0"/>
                        <a:ea typeface="Calibri" charset="0"/>
                        <a:cs typeface="Calibri" charset="0"/>
                      </a:endParaRPr>
                    </a:p>
                  </a:txBody>
                  <a:tcPr marL="73152" marR="73152" marT="18288" marB="18288" anchor="ctr">
                    <a:lnL w="6350" cap="flat" cmpd="sng" algn="ctr">
                      <a:solidFill>
                        <a:srgbClr val="DFE3EA"/>
                      </a:solidFill>
                      <a:prstDash val="solid"/>
                      <a:round/>
                      <a:headEnd type="none" w="med" len="med"/>
                      <a:tailEnd type="none" w="med" len="med"/>
                    </a:lnL>
                    <a:lnR w="6350" cap="flat" cmpd="sng" algn="ctr">
                      <a:solidFill>
                        <a:srgbClr val="DFE3EA"/>
                      </a:solidFill>
                      <a:prstDash val="solid"/>
                      <a:round/>
                      <a:headEnd type="none" w="med" len="med"/>
                      <a:tailEnd type="none" w="med" len="med"/>
                    </a:lnR>
                    <a:lnT w="6350" cap="flat" cmpd="sng" algn="ctr">
                      <a:solidFill>
                        <a:srgbClr val="DFE3EA"/>
                      </a:solidFill>
                      <a:prstDash val="solid"/>
                      <a:round/>
                      <a:headEnd type="none" w="med" len="med"/>
                      <a:tailEnd type="none" w="med" len="med"/>
                    </a:lnT>
                    <a:lnB w="6350" cap="flat" cmpd="sng" algn="ctr">
                      <a:solidFill>
                        <a:srgbClr val="DFE3E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 · Motivation video</dc:title>
  <dc:subject>PptxGenJS Presentation</dc:subject>
  <dc:creator>PptxGenJS</dc:creator>
  <cp:lastModifiedBy>PptxGenJS</cp:lastModifiedBy>
  <cp:revision>1</cp:revision>
  <dcterms:created xsi:type="dcterms:W3CDTF">2026-10-11T08:30:51Z</dcterms:created>
  <dcterms:modified xsi:type="dcterms:W3CDTF">2026-10-11T08:30:51Z</dcterms:modified>
</cp:coreProperties>
</file>