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deck for the five content videos. Each video starts at its own section slide. Before Video 2.1, students should have done the Math Toolkit and the Math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photo is millions of numbers; we keep two. Choosing those two is feature extraction. Lightness 5.5 is really computed from this photo: keep the fish pixels, take their mean, divide by 25.5.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11% is computed from this real MNIST digit: the mean darkness of its pixels. Pause: ask students to name one feature for a photo of a car number 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shows pd.get_dummies. Keep the argument about fake order: numbers invite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both on the slide, step by step. Manhattan is the distance a taxi drives in a city with a grid of streets.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Lab Task 1 too. Pause, then show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answers checked in code (Lab Task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width in cm: distances 3.18 to salmon and 2.26 to sea bass, so sea bass. Right, width in mm: 7.12 and 20.03, so salmon. Nothing about the fish changed. In mm, width differences are 10 times larger and take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switch to the Distance and Scaling Explorer: move the new fish, switch cm/mm, and watch the decision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feature is scaled separately. The picture shows the ten fish on two number lines before and after the z-score: after it, both features are centred and have the same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two z-scores aloud. Mention that 180 mm gives exactly the same z-score as 18.0 cm: the unit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rule students forget most. In scikit-learn: scaler.fit(X_train), then scaler.transform(X_train) and scaler.transform(X_test). A pipeline does it for you. Test data is introduced properly in Video 2.5; here it is enough to say: data kept aside to check the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2.4: salmon centre (3.88, 17.36) from the five salmon; sea bass (5.94, 20.00). New fish (7.0, 18.0): 3.18 vs 2.26, sea bass. All ten training fish are on the right side. The picture is in z-scores.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an everyday example: 'adult' as a class made of two groups, people under 30 and over 60, if age and hobby were the features. Students will find better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§2.6 (ISLP §2.2). We have built a classifier; now: how good is it? We build for new samples, so we measure on samples the classifier has not seen. Test data is kept aside and used once, at the end. Penguin numbers are from Lab 2, section 1.6: 100 of 103 with z-score, 65 of 103 without. stratify keeps the class shares; random_state gives everyone the same split. Ten fish are too few to split. Week 6 returns to evaluation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from Lab 2, section 1.6 (random_state=0, stratified 30% test split). Penguin data: Palmer Penguins (Horst, Hill &amp; Gorman 2020, CC0). This answers the question left open in Video 2.4. The lesson: normalization is a tool, not a ritual.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verified by running the code on the ten fish. The lab builds the same classifier by hand first (Task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week. Point to Check yourself at the end of the Notes, and to the assignment deadline in the week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shown in the video; kept for licence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130"/>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200" spc="200" kern="0" dirty="0">
                <a:solidFill>
                  <a:srgbClr val="9FB7EE"/>
                </a:solidFill>
                <a:latin typeface="Calibri" pitchFamily="34" charset="0"/>
                <a:ea typeface="Calibri" pitchFamily="34" charset="-122"/>
                <a:cs typeface="Calibri" pitchFamily="34" charset="-120"/>
              </a:rPr>
              <a:t>ENGS 3302 · WEEK 2 · VIDEOS 2.1–2.5</a:t>
            </a:r>
            <a:endParaRPr lang="en-US" sz="1200" dirty="0"/>
          </a:p>
        </p:txBody>
      </p:sp>
      <p:sp>
        <p:nvSpPr>
          <p:cNvPr id="3" name="Text 1"/>
          <p:cNvSpPr txBox="1"/>
          <p:nvPr/>
        </p:nvSpPr>
        <p:spPr>
          <a:xfrm>
            <a:off x="548640" y="1005840"/>
            <a:ext cx="8046720" cy="13258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Features, Distance and the Nearest-Mean Classifier</a:t>
            </a:r>
            <a:endParaRPr lang="en-US" sz="4000" dirty="0"/>
          </a:p>
        </p:txBody>
      </p:sp>
      <p:sp>
        <p:nvSpPr>
          <p:cNvPr id="4" name="Text 2"/>
          <p:cNvSpPr txBox="1"/>
          <p:nvPr/>
        </p:nvSpPr>
        <p:spPr>
          <a:xfrm>
            <a:off x="548640" y="2514600"/>
            <a:ext cx="7132320" cy="1005840"/>
          </a:xfrm>
          <a:prstGeom prst="rect">
            <a:avLst/>
          </a:prstGeom>
          <a:noFill/>
          <a:ln/>
        </p:spPr>
        <p:txBody>
          <a:bodyPr wrap="square" lIns="0" tIns="0" rIns="0" bIns="0" rtlCol="0" anchor="t"/>
          <a:lstStyle/>
          <a:p>
            <a:pPr indent="0" marL="0">
              <a:buNone/>
            </a:pPr>
            <a:r>
              <a:rPr lang="en-US" sz="1900" dirty="0">
                <a:solidFill>
                  <a:srgbClr val="D7DDEA"/>
                </a:solidFill>
                <a:latin typeface="Calibri" pitchFamily="34" charset="0"/>
                <a:ea typeface="Calibri" pitchFamily="34" charset="-122"/>
                <a:cs typeface="Calibri" pitchFamily="34" charset="-120"/>
              </a:rPr>
              <a:t>Notes §2.1–2.7 · Duda §4.6, §2.6.1 · ISLP §2.2</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130"/>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200" spc="200" kern="0" dirty="0">
                <a:solidFill>
                  <a:srgbClr val="9FB7EE"/>
                </a:solidFill>
                <a:latin typeface="Calibri" pitchFamily="34" charset="0"/>
                <a:ea typeface="Calibri" pitchFamily="34" charset="-122"/>
                <a:cs typeface="Calibri" pitchFamily="34" charset="-120"/>
              </a:rPr>
              <a:t>VIDEO 2.1</a:t>
            </a:r>
            <a:endParaRPr lang="en-US" sz="1200" dirty="0"/>
          </a:p>
        </p:txBody>
      </p:sp>
      <p:sp>
        <p:nvSpPr>
          <p:cNvPr id="3" name="Text 1"/>
          <p:cNvSpPr txBox="1"/>
          <p:nvPr/>
        </p:nvSpPr>
        <p:spPr>
          <a:xfrm>
            <a:off x="548640" y="1005840"/>
            <a:ext cx="8046720" cy="13258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Features: turning objects into numbers</a:t>
            </a:r>
            <a:endParaRPr lang="en-US" sz="4000" dirty="0"/>
          </a:p>
        </p:txBody>
      </p:sp>
      <p:sp>
        <p:nvSpPr>
          <p:cNvPr id="4" name="Text 2"/>
          <p:cNvSpPr txBox="1"/>
          <p:nvPr/>
        </p:nvSpPr>
        <p:spPr>
          <a:xfrm>
            <a:off x="548640" y="2514600"/>
            <a:ext cx="7132320" cy="1005840"/>
          </a:xfrm>
          <a:prstGeom prst="rect">
            <a:avLst/>
          </a:prstGeom>
          <a:noFill/>
          <a:ln/>
        </p:spPr>
        <p:txBody>
          <a:bodyPr wrap="square" lIns="0" tIns="0" rIns="0" bIns="0" rtlCol="0" anchor="t"/>
          <a:lstStyle/>
          <a:p>
            <a:pPr indent="0" marL="0">
              <a:buNone/>
            </a:pPr>
            <a:r>
              <a:rPr lang="en-US" sz="1900" dirty="0">
                <a:solidFill>
                  <a:srgbClr val="D7DDEA"/>
                </a:solidFill>
                <a:latin typeface="Calibri" pitchFamily="34" charset="0"/>
                <a:ea typeface="Calibri" pitchFamily="34" charset="-122"/>
                <a:cs typeface="Calibri" pitchFamily="34" charset="-120"/>
              </a:rPr>
              <a:t>After this video you can give examples of features from images, sounds and text, and tell numerical from categorical features.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A classifier only sees numbers</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Feature extraction: raw data in, a few useful numbers out</a:t>
            </a:r>
            <a:endParaRPr lang="en-US" sz="1500" dirty="0"/>
          </a:p>
        </p:txBody>
      </p:sp>
      <p:pic>
        <p:nvPicPr>
          <p:cNvPr id="4" name="Image 0" descr="seabass.jpg">    </p:cNvPr>
          <p:cNvPicPr>
            <a:picLocks noChangeAspect="1"/>
          </p:cNvPicPr>
          <p:nvPr/>
        </p:nvPicPr>
        <p:blipFill>
          <a:blip r:embed="rId1"/>
          <a:srcRect l="0" r="0" t="0" b="0"/>
          <a:stretch/>
        </p:blipFill>
        <p:spPr>
          <a:xfrm>
            <a:off x="457200" y="1280160"/>
            <a:ext cx="2743200" cy="1828800"/>
          </a:xfrm>
          <a:prstGeom prst="rect">
            <a:avLst/>
          </a:prstGeom>
        </p:spPr>
      </p:pic>
      <p:sp>
        <p:nvSpPr>
          <p:cNvPr id="5" name="Text 2"/>
          <p:cNvSpPr txBox="1"/>
          <p:nvPr/>
        </p:nvSpPr>
        <p:spPr>
          <a:xfrm>
            <a:off x="457200" y="3127248"/>
            <a:ext cx="2743200" cy="164592"/>
          </a:xfrm>
          <a:prstGeom prst="rect">
            <a:avLst/>
          </a:prstGeom>
          <a:noFill/>
          <a:ln/>
        </p:spPr>
        <p:txBody>
          <a:bodyPr wrap="square" lIns="0" tIns="0" rIns="0" bIns="0" rtlCol="0" anchor="ctr"/>
          <a:lstStyle/>
          <a:p>
            <a:pPr algn="l" indent="0" marL="0">
              <a:buNone/>
            </a:pPr>
            <a:r>
              <a:rPr lang="en-US" sz="700" dirty="0">
                <a:solidFill>
                  <a:srgbClr val="8A93A3"/>
                </a:solidFill>
                <a:latin typeface="Calibri" pitchFamily="34" charset="0"/>
                <a:ea typeface="Calibri" pitchFamily="34" charset="-122"/>
                <a:cs typeface="Calibri" pitchFamily="34" charset="-120"/>
              </a:rPr>
              <a:t>Photo: Hans Hillewaert · CC BY-SA 4.0 · Wikimedia Commons</a:t>
            </a:r>
            <a:endParaRPr lang="en-US" sz="700" dirty="0"/>
          </a:p>
        </p:txBody>
      </p:sp>
      <p:sp>
        <p:nvSpPr>
          <p:cNvPr id="6" name="Text 3"/>
          <p:cNvSpPr txBox="1"/>
          <p:nvPr/>
        </p:nvSpPr>
        <p:spPr>
          <a:xfrm>
            <a:off x="3291840" y="1874520"/>
            <a:ext cx="548640" cy="548640"/>
          </a:xfrm>
          <a:prstGeom prst="rect">
            <a:avLst/>
          </a:prstGeom>
          <a:noFill/>
          <a:ln/>
        </p:spPr>
        <p:txBody>
          <a:bodyPr wrap="square" lIns="0" tIns="0" rIns="0" bIns="0" rtlCol="0" anchor="ctr"/>
          <a:lstStyle/>
          <a:p>
            <a:pPr algn="ctr" indent="0" marL="0">
              <a:buNone/>
            </a:pPr>
            <a:r>
              <a:rPr lang="en-US" sz="3200" dirty="0">
                <a:solidFill>
                  <a:srgbClr val="5C6577"/>
                </a:solidFill>
                <a:latin typeface="Cambria" pitchFamily="34" charset="0"/>
                <a:ea typeface="Cambria" pitchFamily="34" charset="-122"/>
                <a:cs typeface="Cambria" pitchFamily="34" charset="-120"/>
              </a:rPr>
              <a:t>→</a:t>
            </a:r>
            <a:endParaRPr lang="en-US" sz="3200" dirty="0"/>
          </a:p>
        </p:txBody>
      </p:sp>
      <p:sp>
        <p:nvSpPr>
          <p:cNvPr id="7" name="Shape 4"/>
          <p:cNvSpPr/>
          <p:nvPr/>
        </p:nvSpPr>
        <p:spPr>
          <a:xfrm>
            <a:off x="3931920" y="1463040"/>
            <a:ext cx="2194560" cy="1463040"/>
          </a:xfrm>
          <a:prstGeom prst="roundRect">
            <a:avLst>
              <a:gd name="adj" fmla="val 5000"/>
            </a:avLst>
          </a:prstGeom>
          <a:solidFill>
            <a:srgbClr val="EEF2FB"/>
          </a:solidFill>
          <a:ln w="12700">
            <a:solidFill>
              <a:srgbClr val="EEF2FB"/>
            </a:solidFill>
            <a:prstDash val="solid"/>
          </a:ln>
        </p:spPr>
      </p:sp>
      <p:sp>
        <p:nvSpPr>
          <p:cNvPr id="8" name="Text 5"/>
          <p:cNvSpPr txBox="1"/>
          <p:nvPr/>
        </p:nvSpPr>
        <p:spPr>
          <a:xfrm>
            <a:off x="3931920" y="1463040"/>
            <a:ext cx="2194560" cy="1463040"/>
          </a:xfrm>
          <a:prstGeom prst="rect">
            <a:avLst/>
          </a:prstGeom>
          <a:noFill/>
          <a:ln/>
        </p:spPr>
        <p:txBody>
          <a:bodyPr wrap="square" lIns="0" tIns="0" rIns="0" bIns="0" rtlCol="0" anchor="ctr"/>
          <a:lstStyle/>
          <a:p>
            <a:pPr algn="ctr" indent="0" marL="0">
              <a:buNone/>
            </a:pPr>
            <a:r>
              <a:rPr lang="en-US" sz="1700" b="1" dirty="0">
                <a:solidFill>
                  <a:srgbClr val="1B2130"/>
                </a:solidFill>
                <a:latin typeface="Courier New" pitchFamily="34" charset="0"/>
                <a:ea typeface="Courier New" pitchFamily="34" charset="-122"/>
                <a:cs typeface="Courier New" pitchFamily="34" charset="-120"/>
              </a:rPr>
              <a:t>lightness  5.5</a:t>
            </a:r>
            <a:endParaRPr lang="en-US" sz="1700" dirty="0"/>
          </a:p>
          <a:p>
            <a:pPr algn="ctr" indent="0" marL="0">
              <a:buNone/>
            </a:pPr>
            <a:r>
              <a:rPr lang="en-US" sz="1700" b="1" dirty="0">
                <a:solidFill>
                  <a:srgbClr val="1B2130"/>
                </a:solidFill>
                <a:latin typeface="Courier New" pitchFamily="34" charset="0"/>
                <a:ea typeface="Courier New" pitchFamily="34" charset="-122"/>
                <a:cs typeface="Courier New" pitchFamily="34" charset="-120"/>
              </a:rPr>
              <a:t>width     21.0</a:t>
            </a:r>
            <a:endParaRPr lang="en-US" sz="1700" dirty="0"/>
          </a:p>
        </p:txBody>
      </p:sp>
      <p:sp>
        <p:nvSpPr>
          <p:cNvPr id="9" name="Text 6"/>
          <p:cNvSpPr txBox="1"/>
          <p:nvPr/>
        </p:nvSpPr>
        <p:spPr>
          <a:xfrm>
            <a:off x="6217920" y="1874520"/>
            <a:ext cx="548640" cy="548640"/>
          </a:xfrm>
          <a:prstGeom prst="rect">
            <a:avLst/>
          </a:prstGeom>
          <a:noFill/>
          <a:ln/>
        </p:spPr>
        <p:txBody>
          <a:bodyPr wrap="square" lIns="0" tIns="0" rIns="0" bIns="0" rtlCol="0" anchor="ctr"/>
          <a:lstStyle/>
          <a:p>
            <a:pPr algn="ctr" indent="0" marL="0">
              <a:buNone/>
            </a:pPr>
            <a:r>
              <a:rPr lang="en-US" sz="3200" dirty="0">
                <a:solidFill>
                  <a:srgbClr val="5C6577"/>
                </a:solidFill>
                <a:latin typeface="Cambria" pitchFamily="34" charset="0"/>
                <a:ea typeface="Cambria" pitchFamily="34" charset="-122"/>
                <a:cs typeface="Cambria" pitchFamily="34" charset="-120"/>
              </a:rPr>
              <a:t>→</a:t>
            </a:r>
            <a:endParaRPr lang="en-US" sz="3200" dirty="0"/>
          </a:p>
        </p:txBody>
      </p:sp>
      <p:sp>
        <p:nvSpPr>
          <p:cNvPr id="10" name="Shape 7"/>
          <p:cNvSpPr/>
          <p:nvPr/>
        </p:nvSpPr>
        <p:spPr>
          <a:xfrm>
            <a:off x="6858000" y="1828800"/>
            <a:ext cx="1828800" cy="731520"/>
          </a:xfrm>
          <a:prstGeom prst="roundRect">
            <a:avLst>
              <a:gd name="adj" fmla="val 10000"/>
            </a:avLst>
          </a:prstGeom>
          <a:solidFill>
            <a:srgbClr val="FFFFFF"/>
          </a:solidFill>
          <a:ln w="25400">
            <a:solidFill>
              <a:srgbClr val="2D5BC4"/>
            </a:solidFill>
            <a:prstDash val="solid"/>
          </a:ln>
        </p:spPr>
      </p:sp>
      <p:sp>
        <p:nvSpPr>
          <p:cNvPr id="11" name="Text 8"/>
          <p:cNvSpPr txBox="1"/>
          <p:nvPr/>
        </p:nvSpPr>
        <p:spPr>
          <a:xfrm>
            <a:off x="6858000" y="1828800"/>
            <a:ext cx="1828800" cy="731520"/>
          </a:xfrm>
          <a:prstGeom prst="rect">
            <a:avLst/>
          </a:prstGeom>
          <a:noFill/>
          <a:ln/>
        </p:spPr>
        <p:txBody>
          <a:bodyPr wrap="square" lIns="0" tIns="0" rIns="0" bIns="0" rtlCol="0" anchor="ctr"/>
          <a:lstStyle/>
          <a:p>
            <a:pPr algn="ctr" indent="0" marL="0">
              <a:buNone/>
            </a:pPr>
            <a:r>
              <a:rPr lang="en-US" sz="1800" b="1" dirty="0">
                <a:solidFill>
                  <a:srgbClr val="2D5BC4"/>
                </a:solidFill>
                <a:latin typeface="Calibri" pitchFamily="34" charset="0"/>
                <a:ea typeface="Calibri" pitchFamily="34" charset="-122"/>
                <a:cs typeface="Calibri" pitchFamily="34" charset="-120"/>
              </a:rPr>
              <a:t>classifier</a:t>
            </a:r>
            <a:endParaRPr lang="en-US" sz="1800" dirty="0"/>
          </a:p>
        </p:txBody>
      </p:sp>
      <p:sp>
        <p:nvSpPr>
          <p:cNvPr id="12" name="Text 9"/>
          <p:cNvSpPr txBox="1"/>
          <p:nvPr/>
        </p:nvSpPr>
        <p:spPr>
          <a:xfrm>
            <a:off x="457200" y="3566160"/>
            <a:ext cx="8229600" cy="457200"/>
          </a:xfrm>
          <a:prstGeom prst="rect">
            <a:avLst/>
          </a:prstGeom>
          <a:noFill/>
          <a:ln/>
        </p:spPr>
        <p:txBody>
          <a:bodyPr wrap="square" lIns="0" tIns="0" rIns="0" bIns="0" rtlCol="0" anchor="ctr"/>
          <a:lstStyle/>
          <a:p>
            <a:pPr indent="0" marL="0">
              <a:buNone/>
            </a:pPr>
            <a:r>
              <a:rPr lang="en-US" sz="1400" dirty="0">
                <a:solidFill>
                  <a:srgbClr val="5C6577"/>
                </a:solidFill>
                <a:latin typeface="Calibri" pitchFamily="34" charset="0"/>
                <a:ea typeface="Calibri" pitchFamily="34" charset="-122"/>
                <a:cs typeface="Calibri" pitchFamily="34" charset="-120"/>
              </a:rPr>
              <a:t>Lightness 5.5: the mean of the fish pixels in this photo (140 of 255), on a 0–10 scale. See the Week 1 Math Toolkit.</a:t>
            </a:r>
            <a:endParaRPr lang="en-US" sz="1400" dirty="0"/>
          </a:p>
        </p:txBody>
      </p:sp>
      <p:sp>
        <p:nvSpPr>
          <p:cNvPr id="13" name="Text 10"/>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2 · Video 2.1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Features from different kinds of data</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Notes §2.1, table</a:t>
            </a:r>
            <a:endParaRPr lang="en-US" sz="1500" dirty="0"/>
          </a:p>
        </p:txBody>
      </p:sp>
      <p:sp>
        <p:nvSpPr>
          <p:cNvPr id="4" name="Shape 2"/>
          <p:cNvSpPr/>
          <p:nvPr/>
        </p:nvSpPr>
        <p:spPr>
          <a:xfrm>
            <a:off x="457200" y="1280160"/>
            <a:ext cx="1920240" cy="2468880"/>
          </a:xfrm>
          <a:prstGeom prst="roundRect">
            <a:avLst>
              <a:gd name="adj" fmla="val 3810"/>
            </a:avLst>
          </a:prstGeom>
          <a:solidFill>
            <a:srgbClr val="EEF2FB"/>
          </a:solidFill>
          <a:ln w="12700">
            <a:solidFill>
              <a:srgbClr val="EEF2FB"/>
            </a:solidFill>
            <a:prstDash val="solid"/>
          </a:ln>
        </p:spPr>
      </p:sp>
      <p:pic>
        <p:nvPicPr>
          <p:cNvPr id="5" name="Image 0" descr="digit_4.png">    </p:cNvPr>
          <p:cNvPicPr>
            <a:picLocks noChangeAspect="1"/>
          </p:cNvPicPr>
          <p:nvPr/>
        </p:nvPicPr>
        <p:blipFill>
          <a:blip r:embed="rId1"/>
          <a:stretch>
            <a:fillRect/>
          </a:stretch>
        </p:blipFill>
        <p:spPr>
          <a:xfrm>
            <a:off x="868680" y="1417320"/>
            <a:ext cx="1097280" cy="1097280"/>
          </a:xfrm>
          <a:prstGeom prst="rect">
            <a:avLst/>
          </a:prstGeom>
        </p:spPr>
      </p:pic>
      <p:sp>
        <p:nvSpPr>
          <p:cNvPr id="6" name="Text 3"/>
          <p:cNvSpPr txBox="1"/>
          <p:nvPr/>
        </p:nvSpPr>
        <p:spPr>
          <a:xfrm>
            <a:off x="566928" y="2651760"/>
            <a:ext cx="1700784" cy="1005840"/>
          </a:xfrm>
          <a:prstGeom prst="rect">
            <a:avLst/>
          </a:prstGeom>
          <a:noFill/>
          <a:ln/>
        </p:spPr>
        <p:txBody>
          <a:bodyPr wrap="square" lIns="0" tIns="0" rIns="0" bIns="0" rtlCol="0" anchor="t"/>
          <a:lstStyle/>
          <a:p>
            <a:pPr algn="ctr" indent="0" marL="0">
              <a:buNone/>
            </a:pPr>
            <a:r>
              <a:rPr lang="en-US" sz="1500" b="1" dirty="0">
                <a:solidFill>
                  <a:srgbClr val="1B2130"/>
                </a:solidFill>
                <a:latin typeface="Calibri" pitchFamily="34" charset="0"/>
                <a:ea typeface="Calibri" pitchFamily="34" charset="-122"/>
                <a:cs typeface="Calibri" pitchFamily="34" charset="-120"/>
              </a:rPr>
              <a:t>Image of a digit</a:t>
            </a:r>
            <a:endParaRPr lang="en-US" sz="1500" dirty="0"/>
          </a:p>
          <a:p>
            <a:pPr algn="ctr" indent="0" marL="0">
              <a:buNone/>
            </a:pPr>
            <a:r>
              <a:rPr lang="en-US" sz="1300" dirty="0">
                <a:solidFill>
                  <a:srgbClr val="5C6577"/>
                </a:solidFill>
                <a:latin typeface="Calibri" pitchFamily="34" charset="0"/>
                <a:ea typeface="Calibri" pitchFamily="34" charset="-122"/>
                <a:cs typeface="Calibri" pitchFamily="34" charset="-120"/>
              </a:rPr>
              <a:t>amount of ink: 11% of the image</a:t>
            </a:r>
            <a:endParaRPr lang="en-US" sz="1500" dirty="0"/>
          </a:p>
        </p:txBody>
      </p:sp>
      <p:sp>
        <p:nvSpPr>
          <p:cNvPr id="7" name="Shape 4"/>
          <p:cNvSpPr/>
          <p:nvPr/>
        </p:nvSpPr>
        <p:spPr>
          <a:xfrm>
            <a:off x="2560320" y="1280160"/>
            <a:ext cx="1920240" cy="2468880"/>
          </a:xfrm>
          <a:prstGeom prst="roundRect">
            <a:avLst>
              <a:gd name="adj" fmla="val 3810"/>
            </a:avLst>
          </a:prstGeom>
          <a:solidFill>
            <a:srgbClr val="EEF2FB"/>
          </a:solidFill>
          <a:ln w="12700">
            <a:solidFill>
              <a:srgbClr val="EEF2FB"/>
            </a:solidFill>
            <a:prstDash val="solid"/>
          </a:ln>
        </p:spPr>
      </p:sp>
      <p:pic>
        <p:nvPicPr>
          <p:cNvPr id="8" name="Image 1" descr="ic_mic.png">    </p:cNvPr>
          <p:cNvPicPr>
            <a:picLocks noChangeAspect="1"/>
          </p:cNvPicPr>
          <p:nvPr/>
        </p:nvPicPr>
        <p:blipFill>
          <a:blip r:embed="rId2"/>
          <a:stretch>
            <a:fillRect/>
          </a:stretch>
        </p:blipFill>
        <p:spPr>
          <a:xfrm>
            <a:off x="3200400" y="1600200"/>
            <a:ext cx="640080" cy="640080"/>
          </a:xfrm>
          <a:prstGeom prst="rect">
            <a:avLst/>
          </a:prstGeom>
        </p:spPr>
      </p:pic>
      <p:sp>
        <p:nvSpPr>
          <p:cNvPr id="9" name="Text 5"/>
          <p:cNvSpPr txBox="1"/>
          <p:nvPr/>
        </p:nvSpPr>
        <p:spPr>
          <a:xfrm>
            <a:off x="2670048" y="2651760"/>
            <a:ext cx="1700784" cy="1005840"/>
          </a:xfrm>
          <a:prstGeom prst="rect">
            <a:avLst/>
          </a:prstGeom>
          <a:noFill/>
          <a:ln/>
        </p:spPr>
        <p:txBody>
          <a:bodyPr wrap="square" lIns="0" tIns="0" rIns="0" bIns="0" rtlCol="0" anchor="t"/>
          <a:lstStyle/>
          <a:p>
            <a:pPr algn="ctr" indent="0" marL="0">
              <a:buNone/>
            </a:pPr>
            <a:r>
              <a:rPr lang="en-US" sz="1500" b="1" dirty="0">
                <a:solidFill>
                  <a:srgbClr val="1B2130"/>
                </a:solidFill>
                <a:latin typeface="Calibri" pitchFamily="34" charset="0"/>
                <a:ea typeface="Calibri" pitchFamily="34" charset="-122"/>
                <a:cs typeface="Calibri" pitchFamily="34" charset="-120"/>
              </a:rPr>
              <a:t>Sound</a:t>
            </a:r>
            <a:endParaRPr lang="en-US" sz="1500" dirty="0"/>
          </a:p>
          <a:p>
            <a:pPr algn="ctr" indent="0" marL="0">
              <a:buNone/>
            </a:pPr>
            <a:r>
              <a:rPr lang="en-US" sz="1300" dirty="0">
                <a:solidFill>
                  <a:srgbClr val="5C6577"/>
                </a:solidFill>
                <a:latin typeface="Calibri" pitchFamily="34" charset="0"/>
                <a:ea typeface="Calibri" pitchFamily="34" charset="-122"/>
                <a:cs typeface="Calibri" pitchFamily="34" charset="-120"/>
              </a:rPr>
              <a:t>loudness, pitch, duration</a:t>
            </a:r>
            <a:endParaRPr lang="en-US" sz="1500" dirty="0"/>
          </a:p>
        </p:txBody>
      </p:sp>
      <p:sp>
        <p:nvSpPr>
          <p:cNvPr id="10" name="Shape 6"/>
          <p:cNvSpPr/>
          <p:nvPr/>
        </p:nvSpPr>
        <p:spPr>
          <a:xfrm>
            <a:off x="4663440" y="1280160"/>
            <a:ext cx="1920240" cy="2468880"/>
          </a:xfrm>
          <a:prstGeom prst="roundRect">
            <a:avLst>
              <a:gd name="adj" fmla="val 3810"/>
            </a:avLst>
          </a:prstGeom>
          <a:solidFill>
            <a:srgbClr val="EEF2FB"/>
          </a:solidFill>
          <a:ln w="12700">
            <a:solidFill>
              <a:srgbClr val="EEF2FB"/>
            </a:solidFill>
            <a:prstDash val="solid"/>
          </a:ln>
        </p:spPr>
      </p:sp>
      <p:pic>
        <p:nvPicPr>
          <p:cNvPr id="11" name="Image 2" descr="ic_mail.png">    </p:cNvPr>
          <p:cNvPicPr>
            <a:picLocks noChangeAspect="1"/>
          </p:cNvPicPr>
          <p:nvPr/>
        </p:nvPicPr>
        <p:blipFill>
          <a:blip r:embed="rId3"/>
          <a:stretch>
            <a:fillRect/>
          </a:stretch>
        </p:blipFill>
        <p:spPr>
          <a:xfrm>
            <a:off x="5303520" y="1600200"/>
            <a:ext cx="640080" cy="640080"/>
          </a:xfrm>
          <a:prstGeom prst="rect">
            <a:avLst/>
          </a:prstGeom>
        </p:spPr>
      </p:pic>
      <p:sp>
        <p:nvSpPr>
          <p:cNvPr id="12" name="Text 7"/>
          <p:cNvSpPr txBox="1"/>
          <p:nvPr/>
        </p:nvSpPr>
        <p:spPr>
          <a:xfrm>
            <a:off x="4773168" y="2651760"/>
            <a:ext cx="1700784" cy="1005840"/>
          </a:xfrm>
          <a:prstGeom prst="rect">
            <a:avLst/>
          </a:prstGeom>
          <a:noFill/>
          <a:ln/>
        </p:spPr>
        <p:txBody>
          <a:bodyPr wrap="square" lIns="0" tIns="0" rIns="0" bIns="0" rtlCol="0" anchor="t"/>
          <a:lstStyle/>
          <a:p>
            <a:pPr algn="ctr" indent="0" marL="0">
              <a:buNone/>
            </a:pPr>
            <a:r>
              <a:rPr lang="en-US" sz="1500" b="1" dirty="0">
                <a:solidFill>
                  <a:srgbClr val="1B2130"/>
                </a:solidFill>
                <a:latin typeface="Calibri" pitchFamily="34" charset="0"/>
                <a:ea typeface="Calibri" pitchFamily="34" charset="-122"/>
                <a:cs typeface="Calibri" pitchFamily="34" charset="-120"/>
              </a:rPr>
              <a:t>E-mail</a:t>
            </a:r>
            <a:endParaRPr lang="en-US" sz="1500" dirty="0"/>
          </a:p>
          <a:p>
            <a:pPr algn="ctr" indent="0" marL="0">
              <a:buNone/>
            </a:pPr>
            <a:r>
              <a:rPr lang="en-US" sz="1300" dirty="0">
                <a:solidFill>
                  <a:srgbClr val="5C6577"/>
                </a:solidFill>
                <a:latin typeface="Calibri" pitchFamily="34" charset="0"/>
                <a:ea typeface="Calibri" pitchFamily="34" charset="-122"/>
                <a:cs typeface="Calibri" pitchFamily="34" charset="-120"/>
              </a:rPr>
              <a:t>count of “free”, number of links</a:t>
            </a:r>
            <a:endParaRPr lang="en-US" sz="1500" dirty="0"/>
          </a:p>
        </p:txBody>
      </p:sp>
      <p:sp>
        <p:nvSpPr>
          <p:cNvPr id="13" name="Shape 8"/>
          <p:cNvSpPr/>
          <p:nvPr/>
        </p:nvSpPr>
        <p:spPr>
          <a:xfrm>
            <a:off x="6766560" y="1280160"/>
            <a:ext cx="1920240" cy="2468880"/>
          </a:xfrm>
          <a:prstGeom prst="roundRect">
            <a:avLst>
              <a:gd name="adj" fmla="val 3810"/>
            </a:avLst>
          </a:prstGeom>
          <a:solidFill>
            <a:srgbClr val="FBEFDF"/>
          </a:solidFill>
          <a:ln w="12700">
            <a:solidFill>
              <a:srgbClr val="FBEFDF"/>
            </a:solidFill>
            <a:prstDash val="solid"/>
          </a:ln>
        </p:spPr>
      </p:sp>
      <p:pic>
        <p:nvPicPr>
          <p:cNvPr id="14" name="Image 3" descr="ic_gear.png">    </p:cNvPr>
          <p:cNvPicPr>
            <a:picLocks noChangeAspect="1"/>
          </p:cNvPicPr>
          <p:nvPr/>
        </p:nvPicPr>
        <p:blipFill>
          <a:blip r:embed="rId4"/>
          <a:stretch>
            <a:fillRect/>
          </a:stretch>
        </p:blipFill>
        <p:spPr>
          <a:xfrm>
            <a:off x="7406640" y="1600200"/>
            <a:ext cx="640080" cy="640080"/>
          </a:xfrm>
          <a:prstGeom prst="rect">
            <a:avLst/>
          </a:prstGeom>
        </p:spPr>
      </p:pic>
      <p:sp>
        <p:nvSpPr>
          <p:cNvPr id="15" name="Text 9"/>
          <p:cNvSpPr txBox="1"/>
          <p:nvPr/>
        </p:nvSpPr>
        <p:spPr>
          <a:xfrm>
            <a:off x="6876288" y="2651760"/>
            <a:ext cx="1700784" cy="1005840"/>
          </a:xfrm>
          <a:prstGeom prst="rect">
            <a:avLst/>
          </a:prstGeom>
          <a:noFill/>
          <a:ln/>
        </p:spPr>
        <p:txBody>
          <a:bodyPr wrap="square" lIns="0" tIns="0" rIns="0" bIns="0" rtlCol="0" anchor="t"/>
          <a:lstStyle/>
          <a:p>
            <a:pPr algn="ctr" indent="0" marL="0">
              <a:buNone/>
            </a:pPr>
            <a:r>
              <a:rPr lang="en-US" sz="1500" b="1" dirty="0">
                <a:solidFill>
                  <a:srgbClr val="1B2130"/>
                </a:solidFill>
                <a:latin typeface="Calibri" pitchFamily="34" charset="0"/>
                <a:ea typeface="Calibri" pitchFamily="34" charset="-122"/>
                <a:cs typeface="Calibri" pitchFamily="34" charset="-120"/>
              </a:rPr>
              <a:t>Customer record</a:t>
            </a:r>
            <a:endParaRPr lang="en-US" sz="1500" dirty="0"/>
          </a:p>
          <a:p>
            <a:pPr algn="ctr" indent="0" marL="0">
              <a:buNone/>
            </a:pPr>
            <a:r>
              <a:rPr lang="en-US" sz="1300" dirty="0">
                <a:solidFill>
                  <a:srgbClr val="5C6577"/>
                </a:solidFill>
                <a:latin typeface="Calibri" pitchFamily="34" charset="0"/>
                <a:ea typeface="Calibri" pitchFamily="34" charset="-122"/>
                <a:cs typeface="Calibri" pitchFamily="34" charset="-120"/>
              </a:rPr>
              <a:t>city, payment method (categorical)</a:t>
            </a:r>
            <a:endParaRPr lang="en-US" sz="1500" dirty="0"/>
          </a:p>
        </p:txBody>
      </p:sp>
      <p:sp>
        <p:nvSpPr>
          <p:cNvPr id="16" name="Text 10"/>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1500" dirty="0">
                <a:solidFill>
                  <a:srgbClr val="1B2130"/>
                </a:solidFill>
                <a:latin typeface="Calibri" pitchFamily="34" charset="0"/>
                <a:ea typeface="Calibri" pitchFamily="34" charset="-122"/>
                <a:cs typeface="Calibri" pitchFamily="34" charset="-120"/>
              </a:rPr>
              <a:t>Numerical: size has a meaning (20 cm &gt; 16 cm). Categorical: a label from a list (Gaza, Rafah, Khan Younis).</a:t>
            </a:r>
            <a:endParaRPr lang="en-US" sz="1500" dirty="0"/>
          </a:p>
        </p:txBody>
      </p:sp>
      <p:sp>
        <p:nvSpPr>
          <p:cNvPr id="17" name="Text 11"/>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2 · Video 2.1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Categorical features need coding</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One-hot encoding: one 0/1 column per category</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2011680" cy="914400"/>
        </p:xfrm>
        <a:graphic>
          <a:graphicData uri="http://schemas.openxmlformats.org/drawingml/2006/table">
            <a:tbl>
              <a:tblPr/>
              <a:tblGrid>
                <a:gridCol w="2011680"/>
              </a:tblGrid>
              <a:tr h="438912">
                <a:tc>
                  <a:txBody>
                    <a:bodyPr/>
                    <a:lstStyle/>
                    <a:p>
                      <a:pPr algn="ctr" indent="0" marL="0">
                        <a:buNone/>
                      </a:pPr>
                      <a:r>
                        <a:rPr lang="en-US" sz="1600" b="1" dirty="0">
                          <a:solidFill>
                            <a:srgbClr val="5C6577"/>
                          </a:solidFill>
                          <a:latin typeface="Calibri" pitchFamily="34" charset="0"/>
                          <a:ea typeface="Calibri" pitchFamily="34" charset="-122"/>
                          <a:cs typeface="Calibri" pitchFamily="34" charset="-120"/>
                        </a:rPr>
                        <a:t>port</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1B2130"/>
                          </a:solidFill>
                          <a:latin typeface="Calibri" pitchFamily="34" charset="0"/>
                          <a:ea typeface="Calibri" pitchFamily="34" charset="-122"/>
                          <a:cs typeface="Calibri" pitchFamily="34" charset="-120"/>
                        </a:rPr>
                        <a:t>Gaza</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1B2130"/>
                          </a:solidFill>
                          <a:latin typeface="Calibri" pitchFamily="34" charset="0"/>
                          <a:ea typeface="Calibri" pitchFamily="34" charset="-122"/>
                          <a:cs typeface="Calibri" pitchFamily="34" charset="-120"/>
                        </a:rPr>
                        <a:t>Rafah</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1B2130"/>
                          </a:solidFill>
                          <a:latin typeface="Calibri" pitchFamily="34" charset="0"/>
                          <a:ea typeface="Calibri" pitchFamily="34" charset="-122"/>
                          <a:cs typeface="Calibri" pitchFamily="34" charset="-120"/>
                        </a:rPr>
                        <a:t>Gaza</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1B2130"/>
                          </a:solidFill>
                          <a:latin typeface="Calibri" pitchFamily="34" charset="0"/>
                          <a:ea typeface="Calibri" pitchFamily="34" charset="-122"/>
                          <a:cs typeface="Calibri" pitchFamily="34" charset="-120"/>
                        </a:rPr>
                        <a:t>Khan Younis</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2743200" y="2240280"/>
            <a:ext cx="548640" cy="548640"/>
          </a:xfrm>
          <a:prstGeom prst="rect">
            <a:avLst/>
          </a:prstGeom>
          <a:noFill/>
          <a:ln/>
        </p:spPr>
        <p:txBody>
          <a:bodyPr wrap="square" lIns="0" tIns="0" rIns="0" bIns="0" rtlCol="0" anchor="ctr"/>
          <a:lstStyle/>
          <a:p>
            <a:pPr algn="ctr" indent="0" marL="0">
              <a:buNone/>
            </a:pPr>
            <a:r>
              <a:rPr lang="en-US" sz="3200" dirty="0">
                <a:solidFill>
                  <a:srgbClr val="5C6577"/>
                </a:solidFill>
                <a:latin typeface="Cambria" pitchFamily="34" charset="0"/>
                <a:ea typeface="Cambria" pitchFamily="34" charset="-122"/>
                <a:cs typeface="Cambria" pitchFamily="34" charset="-120"/>
              </a:rPr>
              <a:t>→</a:t>
            </a:r>
            <a:endParaRPr lang="en-US" sz="32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3474720" y="1371600"/>
          <a:ext cx="5120640" cy="914400"/>
        </p:xfrm>
        <a:graphic>
          <a:graphicData uri="http://schemas.openxmlformats.org/drawingml/2006/table">
            <a:tbl>
              <a:tblPr/>
              <a:tblGrid>
                <a:gridCol w="1554480"/>
                <a:gridCol w="2011680"/>
                <a:gridCol w="1554480"/>
              </a:tblGrid>
              <a:tr h="438912">
                <a:tc>
                  <a:txBody>
                    <a:bodyPr/>
                    <a:lstStyle/>
                    <a:p>
                      <a:pPr algn="ctr" indent="0" marL="0">
                        <a:buNone/>
                      </a:pPr>
                      <a:r>
                        <a:rPr lang="en-US" sz="1600" b="1" dirty="0">
                          <a:solidFill>
                            <a:srgbClr val="5C6577"/>
                          </a:solidFill>
                          <a:latin typeface="Calibri" pitchFamily="34" charset="0"/>
                          <a:ea typeface="Calibri" pitchFamily="34" charset="-122"/>
                          <a:cs typeface="Calibri" pitchFamily="34" charset="-120"/>
                        </a:rPr>
                        <a:t>port_Gaza</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5C6577"/>
                          </a:solidFill>
                          <a:latin typeface="Calibri" pitchFamily="34" charset="0"/>
                          <a:ea typeface="Calibri" pitchFamily="34" charset="-122"/>
                          <a:cs typeface="Calibri" pitchFamily="34" charset="-120"/>
                        </a:rPr>
                        <a:t>port_Khan Younis</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5C6577"/>
                          </a:solidFill>
                          <a:latin typeface="Calibri" pitchFamily="34" charset="0"/>
                          <a:ea typeface="Calibri" pitchFamily="34" charset="-122"/>
                          <a:cs typeface="Calibri" pitchFamily="34" charset="-120"/>
                        </a:rPr>
                        <a:t>port_Rafah</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1B2130"/>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4C8"/>
                    </a:solidFill>
                  </a:tcPr>
                </a:tc>
                <a:tc>
                  <a:txBody>
                    <a:bodyPr/>
                    <a:lstStyle/>
                    <a:p>
                      <a:pPr algn="ctr" indent="0" marL="0">
                        <a:buNone/>
                      </a:pPr>
                      <a:r>
                        <a:rPr lang="en-US" sz="1600" dirty="0">
                          <a:solidFill>
                            <a:srgbClr val="1B213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13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1B213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13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130"/>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4C8"/>
                    </a:solidFill>
                  </a:tcPr>
                </a:tc>
              </a:tr>
              <a:tr h="438912">
                <a:tc>
                  <a:txBody>
                    <a:bodyPr/>
                    <a:lstStyle/>
                    <a:p>
                      <a:pPr algn="ctr" indent="0" marL="0">
                        <a:buNone/>
                      </a:pPr>
                      <a:r>
                        <a:rPr lang="en-US" sz="1600" dirty="0">
                          <a:solidFill>
                            <a:srgbClr val="1B2130"/>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4C8"/>
                    </a:solidFill>
                  </a:tcPr>
                </a:tc>
                <a:tc>
                  <a:txBody>
                    <a:bodyPr/>
                    <a:lstStyle/>
                    <a:p>
                      <a:pPr algn="ctr" indent="0" marL="0">
                        <a:buNone/>
                      </a:pPr>
                      <a:r>
                        <a:rPr lang="en-US" sz="1600" dirty="0">
                          <a:solidFill>
                            <a:srgbClr val="1B213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13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1B213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130"/>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4C8"/>
                    </a:solidFill>
                  </a:tcPr>
                </a:tc>
                <a:tc>
                  <a:txBody>
                    <a:bodyPr/>
                    <a:lstStyle/>
                    <a:p>
                      <a:pPr algn="ctr" indent="0" marL="0">
                        <a:buNone/>
                      </a:pPr>
                      <a:r>
                        <a:rPr lang="en-US" sz="1600" dirty="0">
                          <a:solidFill>
                            <a:srgbClr val="1B213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3840480"/>
            <a:ext cx="8046720" cy="640080"/>
          </a:xfrm>
          <a:prstGeom prst="rect">
            <a:avLst/>
          </a:prstGeom>
          <a:noFill/>
          <a:ln/>
        </p:spPr>
        <p:txBody>
          <a:bodyPr wrap="square" lIns="0" tIns="0" rIns="0" bIns="0" rtlCol="0" anchor="ctr"/>
          <a:lstStyle/>
          <a:p>
            <a:pPr indent="0" marL="0">
              <a:buNone/>
            </a:pPr>
            <a:r>
              <a:rPr lang="en-US" sz="1500" dirty="0">
                <a:solidFill>
                  <a:srgbClr val="1B2130"/>
                </a:solidFill>
                <a:latin typeface="Calibri" pitchFamily="34" charset="0"/>
                <a:ea typeface="Calibri" pitchFamily="34" charset="-122"/>
                <a:cs typeface="Calibri" pitchFamily="34" charset="-120"/>
              </a:rPr>
              <a:t>Why not Gaza = 1, Rafah = 2, Khan Younis = 3? Because then Khan Younis would be “further” from Gaza than Rafah is, and a distance would believe it.</a:t>
            </a:r>
            <a:endParaRPr lang="en-US" sz="1500" dirty="0"/>
          </a:p>
        </p:txBody>
      </p:sp>
      <p:sp>
        <p:nvSpPr>
          <p:cNvPr id="8" name="Text 4"/>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2 · Video 2.1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130"/>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200" spc="200" kern="0" dirty="0">
                <a:solidFill>
                  <a:srgbClr val="9FB7EE"/>
                </a:solidFill>
                <a:latin typeface="Calibri" pitchFamily="34" charset="0"/>
                <a:ea typeface="Calibri" pitchFamily="34" charset="-122"/>
                <a:cs typeface="Calibri" pitchFamily="34" charset="-120"/>
              </a:rPr>
              <a:t>VIDEO 2.2</a:t>
            </a:r>
            <a:endParaRPr lang="en-US" sz="1200" dirty="0"/>
          </a:p>
        </p:txBody>
      </p:sp>
      <p:sp>
        <p:nvSpPr>
          <p:cNvPr id="3" name="Text 1"/>
          <p:cNvSpPr txBox="1"/>
          <p:nvPr/>
        </p:nvSpPr>
        <p:spPr>
          <a:xfrm>
            <a:off x="548640" y="1005840"/>
            <a:ext cx="8046720" cy="13258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Measuring distance</a:t>
            </a:r>
            <a:endParaRPr lang="en-US" sz="4000" dirty="0"/>
          </a:p>
        </p:txBody>
      </p:sp>
      <p:sp>
        <p:nvSpPr>
          <p:cNvPr id="4" name="Text 2"/>
          <p:cNvSpPr txBox="1"/>
          <p:nvPr/>
        </p:nvSpPr>
        <p:spPr>
          <a:xfrm>
            <a:off x="548640" y="2514600"/>
            <a:ext cx="7132320" cy="1005840"/>
          </a:xfrm>
          <a:prstGeom prst="rect">
            <a:avLst/>
          </a:prstGeom>
          <a:noFill/>
          <a:ln/>
        </p:spPr>
        <p:txBody>
          <a:bodyPr wrap="square" lIns="0" tIns="0" rIns="0" bIns="0" rtlCol="0" anchor="t"/>
          <a:lstStyle/>
          <a:p>
            <a:pPr indent="0" marL="0">
              <a:buNone/>
            </a:pPr>
            <a:r>
              <a:rPr lang="en-US" sz="1900" dirty="0">
                <a:solidFill>
                  <a:srgbClr val="D7DDEA"/>
                </a:solidFill>
                <a:latin typeface="Calibri" pitchFamily="34" charset="0"/>
                <a:ea typeface="Calibri" pitchFamily="34" charset="-122"/>
                <a:cs typeface="Calibri" pitchFamily="34" charset="-120"/>
              </a:rPr>
              <a:t>After this video you can compute the Euclidean and the Manhattan distance between two feature vectors.</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Two ways to measure distance</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Notes §2.2 · Worked example 2.1</a:t>
            </a:r>
            <a:endParaRPr lang="en-US" sz="1500" dirty="0"/>
          </a:p>
        </p:txBody>
      </p:sp>
      <p:pic>
        <p:nvPicPr>
          <p:cNvPr id="4" name="Image 0" descr="fig1_distances.png">    </p:cNvPr>
          <p:cNvPicPr>
            <a:picLocks noChangeAspect="1"/>
          </p:cNvPicPr>
          <p:nvPr/>
        </p:nvPicPr>
        <p:blipFill>
          <a:blip r:embed="rId1"/>
          <a:stretch>
            <a:fillRect/>
          </a:stretch>
        </p:blipFill>
        <p:spPr>
          <a:xfrm>
            <a:off x="365760" y="1188720"/>
            <a:ext cx="4754880" cy="2852928"/>
          </a:xfrm>
          <a:prstGeom prst="rect">
            <a:avLst/>
          </a:prstGeom>
        </p:spPr>
      </p:pic>
      <p:sp>
        <p:nvSpPr>
          <p:cNvPr id="5" name="Shape 2"/>
          <p:cNvSpPr/>
          <p:nvPr/>
        </p:nvSpPr>
        <p:spPr>
          <a:xfrm>
            <a:off x="5394960" y="1280160"/>
            <a:ext cx="3291840" cy="2651760"/>
          </a:xfrm>
          <a:prstGeom prst="roundRect">
            <a:avLst>
              <a:gd name="adj" fmla="val 2759"/>
            </a:avLst>
          </a:prstGeom>
          <a:solidFill>
            <a:srgbClr val="EEF2FB"/>
          </a:solidFill>
          <a:ln w="12700">
            <a:solidFill>
              <a:srgbClr val="EEF2FB"/>
            </a:solidFill>
            <a:prstDash val="solid"/>
          </a:ln>
        </p:spPr>
      </p:sp>
      <p:sp>
        <p:nvSpPr>
          <p:cNvPr id="6" name="Text 3"/>
          <p:cNvSpPr txBox="1"/>
          <p:nvPr/>
        </p:nvSpPr>
        <p:spPr>
          <a:xfrm>
            <a:off x="5577840" y="1371600"/>
            <a:ext cx="3017520" cy="2468880"/>
          </a:xfrm>
          <a:prstGeom prst="rect">
            <a:avLst/>
          </a:prstGeom>
          <a:noFill/>
          <a:ln/>
        </p:spPr>
        <p:txBody>
          <a:bodyPr wrap="square" lIns="0" tIns="0" rIns="0" bIns="0" rtlCol="0" anchor="t"/>
          <a:lstStyle/>
          <a:p>
            <a:pPr indent="0" marL="0">
              <a:buNone/>
            </a:pPr>
            <a:r>
              <a:rPr lang="en-US" sz="1500" b="1" dirty="0">
                <a:solidFill>
                  <a:srgbClr val="2D5BC4"/>
                </a:solidFill>
                <a:latin typeface="Calibri" pitchFamily="34" charset="0"/>
                <a:ea typeface="Calibri" pitchFamily="34" charset="-122"/>
                <a:cs typeface="Calibri" pitchFamily="34" charset="-120"/>
              </a:rPr>
              <a:t>Euclidean</a:t>
            </a:r>
            <a:endParaRPr lang="en-US" sz="1500" dirty="0"/>
          </a:p>
          <a:p>
            <a:pPr indent="0" marL="0">
              <a:buNone/>
            </a:pPr>
            <a:r>
              <a:rPr lang="en-US" sz="1500" dirty="0">
                <a:solidFill>
                  <a:srgbClr val="1B2130"/>
                </a:solidFill>
                <a:latin typeface="Calibri" pitchFamily="34" charset="0"/>
                <a:ea typeface="Calibri" pitchFamily="34" charset="-122"/>
                <a:cs typeface="Calibri" pitchFamily="34" charset="-120"/>
              </a:rPr>
              <a:t>straight line: √(1.7² + 4.5²) ≈ 4.81</a:t>
            </a:r>
            <a:endParaRPr lang="en-US" sz="1500" dirty="0"/>
          </a:p>
          <a:p>
            <a:pPr indent="0" marL="0">
              <a:buNone/>
            </a:pPr>
            <a:r>
              <a:rPr lang="en-US" sz="800" dirty="0">
                <a:solidFill>
                  <a:srgbClr val="1B2130"/>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D9822B"/>
                </a:solidFill>
                <a:latin typeface="Calibri" pitchFamily="34" charset="0"/>
                <a:ea typeface="Calibri" pitchFamily="34" charset="-122"/>
                <a:cs typeface="Calibri" pitchFamily="34" charset="-120"/>
              </a:rPr>
              <a:t>Manhattan</a:t>
            </a:r>
            <a:endParaRPr lang="en-US" sz="1500" dirty="0"/>
          </a:p>
          <a:p>
            <a:pPr indent="0" marL="0">
              <a:buNone/>
            </a:pPr>
            <a:r>
              <a:rPr lang="en-US" sz="1500" dirty="0">
                <a:solidFill>
                  <a:srgbClr val="1B2130"/>
                </a:solidFill>
                <a:latin typeface="Calibri" pitchFamily="34" charset="0"/>
                <a:ea typeface="Calibri" pitchFamily="34" charset="-122"/>
                <a:cs typeface="Calibri" pitchFamily="34" charset="-120"/>
              </a:rPr>
              <a:t>along the axes: 1.7 + 4.5 = 6.2</a:t>
            </a:r>
            <a:endParaRPr lang="en-US" sz="1500" dirty="0"/>
          </a:p>
          <a:p>
            <a:pPr indent="0" marL="0">
              <a:buNone/>
            </a:pPr>
            <a:r>
              <a:rPr lang="en-US" sz="800" dirty="0">
                <a:solidFill>
                  <a:srgbClr val="1B2130"/>
                </a:solidFill>
                <a:latin typeface="Calibri" pitchFamily="34" charset="0"/>
                <a:ea typeface="Calibri" pitchFamily="34" charset="-122"/>
                <a:cs typeface="Calibri" pitchFamily="34" charset="-120"/>
              </a:rPr>
              <a:t> </a:t>
            </a:r>
            <a:endParaRPr lang="en-US" sz="1500" dirty="0"/>
          </a:p>
          <a:p>
            <a:pPr indent="0" marL="0">
              <a:buNone/>
            </a:pPr>
            <a:r>
              <a:rPr lang="en-US" sz="1500" i="1" dirty="0">
                <a:solidFill>
                  <a:srgbClr val="5C6577"/>
                </a:solidFill>
                <a:latin typeface="Calibri" pitchFamily="34" charset="0"/>
                <a:ea typeface="Calibri" pitchFamily="34" charset="-122"/>
                <a:cs typeface="Calibri" pitchFamily="34" charset="-120"/>
              </a:rPr>
              <a:t>Default in this course: Euclidean.</a:t>
            </a:r>
            <a:endParaRPr lang="en-US" sz="1500" dirty="0"/>
          </a:p>
        </p:txBody>
      </p:sp>
      <p:sp>
        <p:nvSpPr>
          <p:cNvPr id="7" name="Text 4"/>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2 · Video 2.2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Your turn</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Pause the video and compute, then continue</a:t>
            </a:r>
            <a:endParaRPr lang="en-US" sz="1500" dirty="0"/>
          </a:p>
        </p:txBody>
      </p:sp>
      <p:sp>
        <p:nvSpPr>
          <p:cNvPr id="4" name="Shape 2"/>
          <p:cNvSpPr/>
          <p:nvPr/>
        </p:nvSpPr>
        <p:spPr>
          <a:xfrm>
            <a:off x="548640" y="1280160"/>
            <a:ext cx="8046720" cy="1463040"/>
          </a:xfrm>
          <a:prstGeom prst="roundRect">
            <a:avLst>
              <a:gd name="adj" fmla="val 6250"/>
            </a:avLst>
          </a:prstGeom>
          <a:solidFill>
            <a:srgbClr val="FBEFDF"/>
          </a:solidFill>
          <a:ln w="12700">
            <a:solidFill>
              <a:srgbClr val="FBEFDF"/>
            </a:solidFill>
            <a:prstDash val="solid"/>
          </a:ln>
        </p:spPr>
      </p:sp>
      <p:sp>
        <p:nvSpPr>
          <p:cNvPr id="5" name="Text 3"/>
          <p:cNvSpPr txBox="1"/>
          <p:nvPr/>
        </p:nvSpPr>
        <p:spPr>
          <a:xfrm>
            <a:off x="822960" y="1280160"/>
            <a:ext cx="7498080" cy="1463040"/>
          </a:xfrm>
          <a:prstGeom prst="rect">
            <a:avLst/>
          </a:prstGeom>
          <a:noFill/>
          <a:ln/>
        </p:spPr>
        <p:txBody>
          <a:bodyPr wrap="square" lIns="0" tIns="0" rIns="0" bIns="0" rtlCol="0" anchor="ctr"/>
          <a:lstStyle/>
          <a:p>
            <a:pPr indent="0" marL="0">
              <a:buNone/>
            </a:pPr>
            <a:r>
              <a:rPr lang="en-US" sz="2000" b="1" dirty="0">
                <a:solidFill>
                  <a:srgbClr val="1B2130"/>
                </a:solidFill>
                <a:latin typeface="Calibri" pitchFamily="34" charset="0"/>
                <a:ea typeface="Calibri" pitchFamily="34" charset="-122"/>
                <a:cs typeface="Calibri" pitchFamily="34" charset="-120"/>
              </a:rPr>
              <a:t>Salmon (3.8, 16.5) and sea bass (6.0, 21.0).</a:t>
            </a:r>
            <a:endParaRPr lang="en-US" sz="2000" dirty="0"/>
          </a:p>
          <a:p>
            <a:pPr indent="0" marL="0">
              <a:buNone/>
            </a:pPr>
            <a:r>
              <a:rPr lang="en-US" sz="2000" dirty="0">
                <a:solidFill>
                  <a:srgbClr val="1B2130"/>
                </a:solidFill>
                <a:latin typeface="Calibri" pitchFamily="34" charset="0"/>
                <a:ea typeface="Calibri" pitchFamily="34" charset="-122"/>
                <a:cs typeface="Calibri" pitchFamily="34" charset="-120"/>
              </a:rPr>
              <a:t>Compute the Euclidean and the Manhattan distance.</a:t>
            </a:r>
            <a:endParaRPr lang="en-US" sz="2000" dirty="0"/>
          </a:p>
        </p:txBody>
      </p:sp>
      <p:sp>
        <p:nvSpPr>
          <p:cNvPr id="6" name="Text 4"/>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2 · Video 2.2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Your turn: answer</a:t>
            </a:r>
            <a:endParaRPr lang="en-US" sz="3000" dirty="0"/>
          </a:p>
        </p:txBody>
      </p:sp>
      <p:sp>
        <p:nvSpPr>
          <p:cNvPr id="3" name="Text 1"/>
          <p:cNvSpPr txBox="1"/>
          <p:nvPr/>
        </p:nvSpPr>
        <p:spPr>
          <a:xfrm>
            <a:off x="548640" y="1188720"/>
            <a:ext cx="8046720" cy="2011680"/>
          </a:xfrm>
          <a:prstGeom prst="rect">
            <a:avLst/>
          </a:prstGeom>
          <a:noFill/>
          <a:ln/>
        </p:spPr>
        <p:txBody>
          <a:bodyPr wrap="square" lIns="0" tIns="0" rIns="0" bIns="0" rtlCol="0" anchor="t"/>
          <a:lstStyle/>
          <a:p>
            <a:pPr indent="0" marL="0">
              <a:buNone/>
            </a:pPr>
            <a:r>
              <a:rPr lang="en-US" sz="2000" dirty="0">
                <a:solidFill>
                  <a:srgbClr val="1B2130"/>
                </a:solidFill>
                <a:latin typeface="Calibri" pitchFamily="34" charset="0"/>
                <a:ea typeface="Calibri" pitchFamily="34" charset="-122"/>
                <a:cs typeface="Calibri" pitchFamily="34" charset="-120"/>
              </a:rPr>
              <a:t>Differences: 3.8 − 6.0 = −2.2 and 16.5 − 21.0 = −4.5</a:t>
            </a:r>
            <a:endParaRPr lang="en-US" sz="2000" dirty="0"/>
          </a:p>
          <a:p>
            <a:pPr indent="0" marL="0">
              <a:buNone/>
            </a:pPr>
            <a:r>
              <a:rPr lang="en-US" sz="800" dirty="0">
                <a:solidFill>
                  <a:srgbClr val="1B2130"/>
                </a:solidFill>
                <a:latin typeface="Calibri" pitchFamily="34" charset="0"/>
                <a:ea typeface="Calibri" pitchFamily="34" charset="-122"/>
                <a:cs typeface="Calibri" pitchFamily="34" charset="-120"/>
              </a:rPr>
              <a:t> </a:t>
            </a:r>
            <a:endParaRPr lang="en-US" sz="2000" dirty="0"/>
          </a:p>
          <a:p>
            <a:pPr indent="0" marL="0">
              <a:buNone/>
            </a:pPr>
            <a:r>
              <a:rPr lang="en-US" sz="2000" b="1" dirty="0">
                <a:solidFill>
                  <a:srgbClr val="2D5BC4"/>
                </a:solidFill>
                <a:latin typeface="Calibri" pitchFamily="34" charset="0"/>
                <a:ea typeface="Calibri" pitchFamily="34" charset="-122"/>
                <a:cs typeface="Calibri" pitchFamily="34" charset="-120"/>
              </a:rPr>
              <a:t>Euclidean: √(2.2² + 4.5²) = √25.09 ≈ 5.01</a:t>
            </a:r>
            <a:endParaRPr lang="en-US" sz="2000" dirty="0"/>
          </a:p>
          <a:p>
            <a:pPr indent="0" marL="0">
              <a:buNone/>
            </a:pPr>
            <a:r>
              <a:rPr lang="en-US" sz="2000" b="1" dirty="0">
                <a:solidFill>
                  <a:srgbClr val="D9822B"/>
                </a:solidFill>
                <a:latin typeface="Calibri" pitchFamily="34" charset="0"/>
                <a:ea typeface="Calibri" pitchFamily="34" charset="-122"/>
                <a:cs typeface="Calibri" pitchFamily="34" charset="-120"/>
              </a:rPr>
              <a:t>Manhattan: 2.2 + 4.5 = 6.7</a:t>
            </a:r>
            <a:endParaRPr lang="en-US" sz="2000" dirty="0"/>
          </a:p>
        </p:txBody>
      </p:sp>
      <p:sp>
        <p:nvSpPr>
          <p:cNvPr id="4" name="Text 2"/>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2 · Video 2.2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130"/>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200" spc="200" kern="0" dirty="0">
                <a:solidFill>
                  <a:srgbClr val="9FB7EE"/>
                </a:solidFill>
                <a:latin typeface="Calibri" pitchFamily="34" charset="0"/>
                <a:ea typeface="Calibri" pitchFamily="34" charset="-122"/>
                <a:cs typeface="Calibri" pitchFamily="34" charset="-120"/>
              </a:rPr>
              <a:t>VIDEO 2.3</a:t>
            </a:r>
            <a:endParaRPr lang="en-US" sz="1200" dirty="0"/>
          </a:p>
        </p:txBody>
      </p:sp>
      <p:sp>
        <p:nvSpPr>
          <p:cNvPr id="3" name="Text 1"/>
          <p:cNvSpPr txBox="1"/>
          <p:nvPr/>
        </p:nvSpPr>
        <p:spPr>
          <a:xfrm>
            <a:off x="548640" y="1005840"/>
            <a:ext cx="8046720" cy="13258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When the units decide</a:t>
            </a:r>
            <a:endParaRPr lang="en-US" sz="4000" dirty="0"/>
          </a:p>
        </p:txBody>
      </p:sp>
      <p:sp>
        <p:nvSpPr>
          <p:cNvPr id="4" name="Text 2"/>
          <p:cNvSpPr txBox="1"/>
          <p:nvPr/>
        </p:nvSpPr>
        <p:spPr>
          <a:xfrm>
            <a:off x="548640" y="2514600"/>
            <a:ext cx="7132320" cy="1005840"/>
          </a:xfrm>
          <a:prstGeom prst="rect">
            <a:avLst/>
          </a:prstGeom>
          <a:noFill/>
          <a:ln/>
        </p:spPr>
        <p:txBody>
          <a:bodyPr wrap="square" lIns="0" tIns="0" rIns="0" bIns="0" rtlCol="0" anchor="t"/>
          <a:lstStyle/>
          <a:p>
            <a:pPr indent="0" marL="0">
              <a:buNone/>
            </a:pPr>
            <a:r>
              <a:rPr lang="en-US" sz="1900" dirty="0">
                <a:solidFill>
                  <a:srgbClr val="D7DDEA"/>
                </a:solidFill>
                <a:latin typeface="Calibri" pitchFamily="34" charset="0"/>
                <a:ea typeface="Calibri" pitchFamily="34" charset="-122"/>
                <a:cs typeface="Calibri" pitchFamily="34" charset="-120"/>
              </a:rPr>
              <a:t>After this video you can explain why the units of a feature can change a distance-based decision.</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Same fish, different units, different answer</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Notes §2.3 · Worked example 2.2</a:t>
            </a:r>
            <a:endParaRPr lang="en-US" sz="1500" dirty="0"/>
          </a:p>
        </p:txBody>
      </p:sp>
      <p:pic>
        <p:nvPicPr>
          <p:cNvPr id="4" name="Image 0" descr="fig2_units.png">    </p:cNvPr>
          <p:cNvPicPr>
            <a:picLocks noChangeAspect="1"/>
          </p:cNvPicPr>
          <p:nvPr/>
        </p:nvPicPr>
        <p:blipFill>
          <a:blip r:embed="rId1"/>
          <a:stretch>
            <a:fillRect/>
          </a:stretch>
        </p:blipFill>
        <p:spPr>
          <a:xfrm>
            <a:off x="274320" y="1143000"/>
            <a:ext cx="8595360" cy="3474720"/>
          </a:xfrm>
          <a:prstGeom prst="rect">
            <a:avLst/>
          </a:prstGeom>
        </p:spPr>
      </p:pic>
      <p:sp>
        <p:nvSpPr>
          <p:cNvPr id="5" name="Text 2"/>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2 · Video 2.3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The numbers behind the picture</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554480"/>
                <a:gridCol w="2651760"/>
                <a:gridCol w="2651760"/>
                <a:gridCol w="1371600"/>
              </a:tblGrid>
              <a:tr h="502920">
                <a:tc>
                  <a:txBody>
                    <a:bodyPr/>
                    <a:lstStyle/>
                    <a:p>
                      <a:pPr indent="0" marL="0">
                        <a:buNone/>
                      </a:pP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500" b="1" dirty="0">
                          <a:solidFill>
                            <a:srgbClr val="5C6577"/>
                          </a:solidFill>
                          <a:latin typeface="Calibri" pitchFamily="34" charset="0"/>
                          <a:ea typeface="Calibri" pitchFamily="34" charset="-122"/>
                          <a:cs typeface="Calibri" pitchFamily="34" charset="-120"/>
                        </a:rPr>
                        <a:t>to salmon centre</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500" b="1" dirty="0">
                          <a:solidFill>
                            <a:srgbClr val="5C6577"/>
                          </a:solidFill>
                          <a:latin typeface="Calibri" pitchFamily="34" charset="0"/>
                          <a:ea typeface="Calibri" pitchFamily="34" charset="-122"/>
                          <a:cs typeface="Calibri" pitchFamily="34" charset="-120"/>
                        </a:rPr>
                        <a:t>to sea bass centre</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500" b="1" dirty="0">
                          <a:solidFill>
                            <a:srgbClr val="5C6577"/>
                          </a:solidFill>
                          <a:latin typeface="Calibri" pitchFamily="34" charset="0"/>
                          <a:ea typeface="Calibri" pitchFamily="34" charset="-122"/>
                          <a:cs typeface="Calibri" pitchFamily="34" charset="-120"/>
                        </a:rPr>
                        <a:t>decision</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r>
              <a:tr h="502920">
                <a:tc>
                  <a:txBody>
                    <a:bodyPr/>
                    <a:lstStyle/>
                    <a:p>
                      <a:pPr indent="0" marL="0">
                        <a:buNone/>
                      </a:pPr>
                      <a:r>
                        <a:rPr lang="en-US" sz="1500" dirty="0">
                          <a:solidFill>
                            <a:srgbClr val="1B2130"/>
                          </a:solidFill>
                          <a:latin typeface="Calibri" pitchFamily="34" charset="0"/>
                          <a:ea typeface="Calibri" pitchFamily="34" charset="-122"/>
                          <a:cs typeface="Calibri" pitchFamily="34" charset="-120"/>
                        </a:rPr>
                        <a:t>width in cm</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500" dirty="0">
                          <a:solidFill>
                            <a:srgbClr val="1B2130"/>
                          </a:solidFill>
                          <a:latin typeface="Calibri" pitchFamily="34" charset="0"/>
                          <a:ea typeface="Calibri" pitchFamily="34" charset="-122"/>
                          <a:cs typeface="Calibri" pitchFamily="34" charset="-120"/>
                        </a:rPr>
                        <a:t>√(3.12² + 0.64²) ≈ 3.18</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500" dirty="0">
                          <a:solidFill>
                            <a:srgbClr val="1B2130"/>
                          </a:solidFill>
                          <a:latin typeface="Calibri" pitchFamily="34" charset="0"/>
                          <a:ea typeface="Calibri" pitchFamily="34" charset="-122"/>
                          <a:cs typeface="Calibri" pitchFamily="34" charset="-120"/>
                        </a:rPr>
                        <a:t>√(1.06² + 2.00²) ≈ 2.26</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500" b="1" dirty="0">
                          <a:solidFill>
                            <a:srgbClr val="2D5BC4"/>
                          </a:solidFill>
                          <a:latin typeface="Calibri" pitchFamily="34" charset="0"/>
                          <a:ea typeface="Calibri" pitchFamily="34" charset="-122"/>
                          <a:cs typeface="Calibri" pitchFamily="34" charset="-120"/>
                        </a:rPr>
                        <a:t>sea bass</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r>
              <a:tr h="502920">
                <a:tc>
                  <a:txBody>
                    <a:bodyPr/>
                    <a:lstStyle/>
                    <a:p>
                      <a:pPr indent="0" marL="0">
                        <a:buNone/>
                      </a:pPr>
                      <a:r>
                        <a:rPr lang="en-US" sz="1500" dirty="0">
                          <a:solidFill>
                            <a:srgbClr val="1B2130"/>
                          </a:solidFill>
                          <a:latin typeface="Calibri" pitchFamily="34" charset="0"/>
                          <a:ea typeface="Calibri" pitchFamily="34" charset="-122"/>
                          <a:cs typeface="Calibri" pitchFamily="34" charset="-120"/>
                        </a:rPr>
                        <a:t>width in mm</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500" dirty="0">
                          <a:solidFill>
                            <a:srgbClr val="1B2130"/>
                          </a:solidFill>
                          <a:latin typeface="Calibri" pitchFamily="34" charset="0"/>
                          <a:ea typeface="Calibri" pitchFamily="34" charset="-122"/>
                          <a:cs typeface="Calibri" pitchFamily="34" charset="-120"/>
                        </a:rPr>
                        <a:t>√(3.12² + 6.4²) ≈ 7.12</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500" dirty="0">
                          <a:solidFill>
                            <a:srgbClr val="1B2130"/>
                          </a:solidFill>
                          <a:latin typeface="Calibri" pitchFamily="34" charset="0"/>
                          <a:ea typeface="Calibri" pitchFamily="34" charset="-122"/>
                          <a:cs typeface="Calibri" pitchFamily="34" charset="-120"/>
                        </a:rPr>
                        <a:t>√(1.06² + 20²) ≈ 20.03</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500" b="1" dirty="0">
                          <a:solidFill>
                            <a:srgbClr val="D9822B"/>
                          </a:solidFill>
                          <a:latin typeface="Calibri" pitchFamily="34" charset="0"/>
                          <a:ea typeface="Calibri" pitchFamily="34" charset="-122"/>
                          <a:cs typeface="Calibri" pitchFamily="34" charset="-120"/>
                        </a:rPr>
                        <a:t>salmon</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r>
            </a:tbl>
          </a:graphicData>
        </a:graphic>
      </p:graphicFrame>
      <p:sp>
        <p:nvSpPr>
          <p:cNvPr id="4" name="Shape 1"/>
          <p:cNvSpPr/>
          <p:nvPr/>
        </p:nvSpPr>
        <p:spPr>
          <a:xfrm>
            <a:off x="457200" y="3108960"/>
            <a:ext cx="8229600" cy="822960"/>
          </a:xfrm>
          <a:prstGeom prst="roundRect">
            <a:avLst>
              <a:gd name="adj" fmla="val 8889"/>
            </a:avLst>
          </a:prstGeom>
          <a:solidFill>
            <a:srgbClr val="FBEFDF"/>
          </a:solidFill>
          <a:ln w="12700">
            <a:solidFill>
              <a:srgbClr val="FBEFDF"/>
            </a:solidFill>
            <a:prstDash val="solid"/>
          </a:ln>
        </p:spPr>
      </p:sp>
      <p:sp>
        <p:nvSpPr>
          <p:cNvPr id="5" name="Text 2"/>
          <p:cNvSpPr txBox="1"/>
          <p:nvPr/>
        </p:nvSpPr>
        <p:spPr>
          <a:xfrm>
            <a:off x="685800" y="3108960"/>
            <a:ext cx="7772400" cy="822960"/>
          </a:xfrm>
          <a:prstGeom prst="rect">
            <a:avLst/>
          </a:prstGeom>
          <a:noFill/>
          <a:ln/>
        </p:spPr>
        <p:txBody>
          <a:bodyPr wrap="square" lIns="0" tIns="0" rIns="0" bIns="0" rtlCol="0" anchor="ctr"/>
          <a:lstStyle/>
          <a:p>
            <a:pPr indent="0" marL="0">
              <a:buNone/>
            </a:pPr>
            <a:r>
              <a:rPr lang="en-US" sz="1700" b="1" dirty="0">
                <a:solidFill>
                  <a:srgbClr val="1B2130"/>
                </a:solidFill>
                <a:latin typeface="Calibri" pitchFamily="34" charset="0"/>
                <a:ea typeface="Calibri" pitchFamily="34" charset="-122"/>
                <a:cs typeface="Calibri" pitchFamily="34" charset="-120"/>
              </a:rPr>
              <a:t>A distance only sees numbers. Features with large ranges take over. Bring all features to a common scale first.</a:t>
            </a:r>
            <a:endParaRPr lang="en-US" sz="1700" dirty="0"/>
          </a:p>
        </p:txBody>
      </p:sp>
      <p:sp>
        <p:nvSpPr>
          <p:cNvPr id="6" name="Text 3"/>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2 · Video 2.3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130"/>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200" spc="200" kern="0" dirty="0">
                <a:solidFill>
                  <a:srgbClr val="9FB7EE"/>
                </a:solidFill>
                <a:latin typeface="Calibri" pitchFamily="34" charset="0"/>
                <a:ea typeface="Calibri" pitchFamily="34" charset="-122"/>
                <a:cs typeface="Calibri" pitchFamily="34" charset="-120"/>
              </a:rPr>
              <a:t>VIDEO 2.4</a:t>
            </a:r>
            <a:endParaRPr lang="en-US" sz="1200" dirty="0"/>
          </a:p>
        </p:txBody>
      </p:sp>
      <p:sp>
        <p:nvSpPr>
          <p:cNvPr id="3" name="Text 1"/>
          <p:cNvSpPr txBox="1"/>
          <p:nvPr/>
        </p:nvSpPr>
        <p:spPr>
          <a:xfrm>
            <a:off x="548640" y="1005840"/>
            <a:ext cx="8046720" cy="13258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Normalization</a:t>
            </a:r>
            <a:endParaRPr lang="en-US" sz="4000" dirty="0"/>
          </a:p>
        </p:txBody>
      </p:sp>
      <p:sp>
        <p:nvSpPr>
          <p:cNvPr id="4" name="Text 2"/>
          <p:cNvSpPr txBox="1"/>
          <p:nvPr/>
        </p:nvSpPr>
        <p:spPr>
          <a:xfrm>
            <a:off x="548640" y="2514600"/>
            <a:ext cx="7132320" cy="1005840"/>
          </a:xfrm>
          <a:prstGeom prst="rect">
            <a:avLst/>
          </a:prstGeom>
          <a:noFill/>
          <a:ln/>
        </p:spPr>
        <p:txBody>
          <a:bodyPr wrap="square" lIns="0" tIns="0" rIns="0" bIns="0" rtlCol="0" anchor="t"/>
          <a:lstStyle/>
          <a:p>
            <a:pPr indent="0" marL="0">
              <a:buNone/>
            </a:pPr>
            <a:r>
              <a:rPr lang="en-US" sz="1900" dirty="0">
                <a:solidFill>
                  <a:srgbClr val="D7DDEA"/>
                </a:solidFill>
                <a:latin typeface="Calibri" pitchFamily="34" charset="0"/>
                <a:ea typeface="Calibri" pitchFamily="34" charset="-122"/>
                <a:cs typeface="Calibri" pitchFamily="34" charset="-120"/>
              </a:rPr>
              <a:t>After this video you can normalize features with min-max scaling and the z-score, using numbers from the training data.</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Two ways to put features on one scale</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Notes §2.4</a:t>
            </a:r>
            <a:endParaRPr lang="en-US" sz="1500" dirty="0"/>
          </a:p>
        </p:txBody>
      </p:sp>
      <p:sp>
        <p:nvSpPr>
          <p:cNvPr id="4" name="Shape 2"/>
          <p:cNvSpPr/>
          <p:nvPr/>
        </p:nvSpPr>
        <p:spPr>
          <a:xfrm>
            <a:off x="457200" y="1234440"/>
            <a:ext cx="4023360" cy="1463040"/>
          </a:xfrm>
          <a:prstGeom prst="roundRect">
            <a:avLst>
              <a:gd name="adj" fmla="val 5000"/>
            </a:avLst>
          </a:prstGeom>
          <a:solidFill>
            <a:srgbClr val="E8F5EE"/>
          </a:solidFill>
          <a:ln w="12700">
            <a:solidFill>
              <a:srgbClr val="E8F5EE"/>
            </a:solidFill>
            <a:prstDash val="solid"/>
          </a:ln>
        </p:spPr>
      </p:sp>
      <p:sp>
        <p:nvSpPr>
          <p:cNvPr id="5" name="Text 3"/>
          <p:cNvSpPr txBox="1"/>
          <p:nvPr/>
        </p:nvSpPr>
        <p:spPr>
          <a:xfrm>
            <a:off x="640080" y="1280160"/>
            <a:ext cx="3657600" cy="1371600"/>
          </a:xfrm>
          <a:prstGeom prst="rect">
            <a:avLst/>
          </a:prstGeom>
          <a:noFill/>
          <a:ln/>
        </p:spPr>
        <p:txBody>
          <a:bodyPr wrap="square" lIns="0" tIns="0" rIns="0" bIns="0" rtlCol="0" anchor="ctr"/>
          <a:lstStyle/>
          <a:p>
            <a:pPr indent="0" marL="0">
              <a:buNone/>
            </a:pPr>
            <a:r>
              <a:rPr lang="en-US" sz="1800" b="1" dirty="0">
                <a:solidFill>
                  <a:srgbClr val="1B2130"/>
                </a:solidFill>
                <a:latin typeface="Calibri" pitchFamily="34" charset="0"/>
                <a:ea typeface="Calibri" pitchFamily="34" charset="-122"/>
                <a:cs typeface="Calibri" pitchFamily="34" charset="-120"/>
              </a:rPr>
              <a:t>Min-max</a:t>
            </a:r>
            <a:endParaRPr lang="en-US" sz="1800" dirty="0"/>
          </a:p>
          <a:p>
            <a:pPr indent="0" marL="0">
              <a:buNone/>
            </a:pPr>
            <a:r>
              <a:rPr lang="en-US" sz="1500" dirty="0">
                <a:solidFill>
                  <a:srgbClr val="1B2130"/>
                </a:solidFill>
                <a:latin typeface="Courier New" pitchFamily="34" charset="0"/>
                <a:ea typeface="Courier New" pitchFamily="34" charset="-122"/>
                <a:cs typeface="Courier New" pitchFamily="34" charset="-120"/>
              </a:rPr>
              <a:t>x' = (x − min) / (max − min)</a:t>
            </a:r>
            <a:endParaRPr lang="en-US" sz="1800" dirty="0"/>
          </a:p>
          <a:p>
            <a:pPr indent="0" marL="0">
              <a:buNone/>
            </a:pPr>
            <a:r>
              <a:rPr lang="en-US" sz="1300" dirty="0">
                <a:solidFill>
                  <a:srgbClr val="5C6577"/>
                </a:solidFill>
                <a:latin typeface="Calibri" pitchFamily="34" charset="0"/>
                <a:ea typeface="Calibri" pitchFamily="34" charset="-122"/>
                <a:cs typeface="Calibri" pitchFamily="34" charset="-120"/>
              </a:rPr>
              <a:t>result between 0 and 1</a:t>
            </a:r>
            <a:endParaRPr lang="en-US" sz="1800" dirty="0"/>
          </a:p>
        </p:txBody>
      </p:sp>
      <p:sp>
        <p:nvSpPr>
          <p:cNvPr id="6" name="Shape 4"/>
          <p:cNvSpPr/>
          <p:nvPr/>
        </p:nvSpPr>
        <p:spPr>
          <a:xfrm>
            <a:off x="4663440" y="1234440"/>
            <a:ext cx="4023360" cy="1463040"/>
          </a:xfrm>
          <a:prstGeom prst="roundRect">
            <a:avLst>
              <a:gd name="adj" fmla="val 5000"/>
            </a:avLst>
          </a:prstGeom>
          <a:solidFill>
            <a:srgbClr val="E8F5EE"/>
          </a:solidFill>
          <a:ln w="12700">
            <a:solidFill>
              <a:srgbClr val="E8F5EE"/>
            </a:solidFill>
            <a:prstDash val="solid"/>
          </a:ln>
        </p:spPr>
      </p:sp>
      <p:sp>
        <p:nvSpPr>
          <p:cNvPr id="7" name="Text 5"/>
          <p:cNvSpPr txBox="1"/>
          <p:nvPr/>
        </p:nvSpPr>
        <p:spPr>
          <a:xfrm>
            <a:off x="4846320" y="1280160"/>
            <a:ext cx="3657600" cy="1371600"/>
          </a:xfrm>
          <a:prstGeom prst="rect">
            <a:avLst/>
          </a:prstGeom>
          <a:noFill/>
          <a:ln/>
        </p:spPr>
        <p:txBody>
          <a:bodyPr wrap="square" lIns="0" tIns="0" rIns="0" bIns="0" rtlCol="0" anchor="ctr"/>
          <a:lstStyle/>
          <a:p>
            <a:pPr indent="0" marL="0">
              <a:buNone/>
            </a:pPr>
            <a:r>
              <a:rPr lang="en-US" sz="1800" b="1" dirty="0">
                <a:solidFill>
                  <a:srgbClr val="1B2130"/>
                </a:solidFill>
                <a:latin typeface="Calibri" pitchFamily="34" charset="0"/>
                <a:ea typeface="Calibri" pitchFamily="34" charset="-122"/>
                <a:cs typeface="Calibri" pitchFamily="34" charset="-120"/>
              </a:rPr>
              <a:t>z-score</a:t>
            </a:r>
            <a:endParaRPr lang="en-US" sz="1800" dirty="0"/>
          </a:p>
          <a:p>
            <a:pPr indent="0" marL="0">
              <a:buNone/>
            </a:pPr>
            <a:r>
              <a:rPr lang="en-US" sz="1500" dirty="0">
                <a:solidFill>
                  <a:srgbClr val="1B2130"/>
                </a:solidFill>
                <a:latin typeface="Courier New" pitchFamily="34" charset="0"/>
                <a:ea typeface="Courier New" pitchFamily="34" charset="-122"/>
                <a:cs typeface="Courier New" pitchFamily="34" charset="-120"/>
              </a:rPr>
              <a:t>z = (x − mean) / std</a:t>
            </a:r>
            <a:endParaRPr lang="en-US" sz="1800" dirty="0"/>
          </a:p>
          <a:p>
            <a:pPr indent="0" marL="0">
              <a:buNone/>
            </a:pPr>
            <a:r>
              <a:rPr lang="en-US" sz="1300" dirty="0">
                <a:solidFill>
                  <a:srgbClr val="5C6577"/>
                </a:solidFill>
                <a:latin typeface="Calibri" pitchFamily="34" charset="0"/>
                <a:ea typeface="Calibri" pitchFamily="34" charset="-122"/>
                <a:cs typeface="Calibri" pitchFamily="34" charset="-120"/>
              </a:rPr>
              <a:t>result has mean 0 and std 1</a:t>
            </a:r>
            <a:endParaRPr lang="en-US" sz="1800" dirty="0"/>
          </a:p>
        </p:txBody>
      </p:sp>
      <p:pic>
        <p:nvPicPr>
          <p:cNvPr id="8" name="Image 0" descr="fig_numberlines.png">    </p:cNvPr>
          <p:cNvPicPr>
            <a:picLocks noChangeAspect="1"/>
          </p:cNvPicPr>
          <p:nvPr/>
        </p:nvPicPr>
        <p:blipFill>
          <a:blip r:embed="rId1"/>
          <a:stretch>
            <a:fillRect/>
          </a:stretch>
        </p:blipFill>
        <p:spPr>
          <a:xfrm>
            <a:off x="457200" y="2834640"/>
            <a:ext cx="8229600" cy="1828800"/>
          </a:xfrm>
          <a:prstGeom prst="rect">
            <a:avLst/>
          </a:prstGeom>
        </p:spPr>
      </p:pic>
      <p:sp>
        <p:nvSpPr>
          <p:cNvPr id="9" name="Text 6"/>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2 · Video 2.4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Normalizing the new fish (7.0, 18.0)</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Worked example 2.3 · training numbers from the ten fish</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645920"/>
                <a:gridCol w="3291840"/>
                <a:gridCol w="3291840"/>
              </a:tblGrid>
              <a:tr h="457200">
                <a:tc>
                  <a:txBody>
                    <a:bodyPr/>
                    <a:lstStyle/>
                    <a:p>
                      <a:pPr indent="0" marL="0">
                        <a:buNone/>
                      </a:pP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500" b="1" dirty="0">
                          <a:solidFill>
                            <a:srgbClr val="5C6577"/>
                          </a:solidFill>
                          <a:latin typeface="Calibri" pitchFamily="34" charset="0"/>
                          <a:ea typeface="Calibri" pitchFamily="34" charset="-122"/>
                          <a:cs typeface="Calibri" pitchFamily="34" charset="-120"/>
                        </a:rPr>
                        <a:t>lightness</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500" b="1" dirty="0">
                          <a:solidFill>
                            <a:srgbClr val="5C6577"/>
                          </a:solidFill>
                          <a:latin typeface="Calibri" pitchFamily="34" charset="0"/>
                          <a:ea typeface="Calibri" pitchFamily="34" charset="-122"/>
                          <a:cs typeface="Calibri" pitchFamily="34" charset="-120"/>
                        </a:rPr>
                        <a:t>width (cm)</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B2130"/>
                          </a:solidFill>
                          <a:latin typeface="Calibri" pitchFamily="34" charset="0"/>
                          <a:ea typeface="Calibri" pitchFamily="34" charset="-122"/>
                          <a:cs typeface="Calibri" pitchFamily="34" charset="-120"/>
                        </a:rPr>
                        <a:t>min, max</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500" dirty="0">
                          <a:solidFill>
                            <a:srgbClr val="1B2130"/>
                          </a:solidFill>
                          <a:latin typeface="Calibri" pitchFamily="34" charset="0"/>
                          <a:ea typeface="Calibri" pitchFamily="34" charset="-122"/>
                          <a:cs typeface="Calibri" pitchFamily="34" charset="-120"/>
                        </a:rPr>
                        <a:t>2.5, 7.5</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500" dirty="0">
                          <a:solidFill>
                            <a:srgbClr val="1B2130"/>
                          </a:solidFill>
                          <a:latin typeface="Calibri" pitchFamily="34" charset="0"/>
                          <a:ea typeface="Calibri" pitchFamily="34" charset="-122"/>
                          <a:cs typeface="Calibri" pitchFamily="34" charset="-120"/>
                        </a:rPr>
                        <a:t>16.0, 21.0</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B2130"/>
                          </a:solidFill>
                          <a:latin typeface="Calibri" pitchFamily="34" charset="0"/>
                          <a:ea typeface="Calibri" pitchFamily="34" charset="-122"/>
                          <a:cs typeface="Calibri" pitchFamily="34" charset="-120"/>
                        </a:rPr>
                        <a:t>mean, std</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500" dirty="0">
                          <a:solidFill>
                            <a:srgbClr val="1B2130"/>
                          </a:solidFill>
                          <a:latin typeface="Calibri" pitchFamily="34" charset="0"/>
                          <a:ea typeface="Calibri" pitchFamily="34" charset="-122"/>
                          <a:cs typeface="Calibri" pitchFamily="34" charset="-120"/>
                        </a:rPr>
                        <a:t>4.91, 1.529</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500" dirty="0">
                          <a:solidFill>
                            <a:srgbClr val="1B2130"/>
                          </a:solidFill>
                          <a:latin typeface="Calibri" pitchFamily="34" charset="0"/>
                          <a:ea typeface="Calibri" pitchFamily="34" charset="-122"/>
                          <a:cs typeface="Calibri" pitchFamily="34" charset="-120"/>
                        </a:rPr>
                        <a:t>18.68, 1.638</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B2130"/>
                          </a:solidFill>
                          <a:latin typeface="Calibri" pitchFamily="34" charset="0"/>
                          <a:ea typeface="Calibri" pitchFamily="34" charset="-122"/>
                          <a:cs typeface="Calibri" pitchFamily="34" charset="-120"/>
                        </a:rPr>
                        <a:t>min-max</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2FB"/>
                    </a:solidFill>
                  </a:tcPr>
                </a:tc>
                <a:tc>
                  <a:txBody>
                    <a:bodyPr/>
                    <a:lstStyle/>
                    <a:p>
                      <a:pPr indent="0" marL="0">
                        <a:buNone/>
                      </a:pPr>
                      <a:r>
                        <a:rPr lang="en-US" sz="1500" dirty="0">
                          <a:solidFill>
                            <a:srgbClr val="1B2130"/>
                          </a:solidFill>
                          <a:latin typeface="Calibri" pitchFamily="34" charset="0"/>
                          <a:ea typeface="Calibri" pitchFamily="34" charset="-122"/>
                          <a:cs typeface="Calibri" pitchFamily="34" charset="-120"/>
                        </a:rPr>
                        <a:t>(7.0 − 2.5) / 5.0 = 0.90</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2FB"/>
                    </a:solidFill>
                  </a:tcPr>
                </a:tc>
                <a:tc>
                  <a:txBody>
                    <a:bodyPr/>
                    <a:lstStyle/>
                    <a:p>
                      <a:pPr indent="0" marL="0">
                        <a:buNone/>
                      </a:pPr>
                      <a:r>
                        <a:rPr lang="en-US" sz="1500" dirty="0">
                          <a:solidFill>
                            <a:srgbClr val="1B2130"/>
                          </a:solidFill>
                          <a:latin typeface="Calibri" pitchFamily="34" charset="0"/>
                          <a:ea typeface="Calibri" pitchFamily="34" charset="-122"/>
                          <a:cs typeface="Calibri" pitchFamily="34" charset="-120"/>
                        </a:rPr>
                        <a:t>(18.0 − 16.0) / 5.0 = 0.40</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2FB"/>
                    </a:solidFill>
                  </a:tcPr>
                </a:tc>
              </a:tr>
              <a:tr h="457200">
                <a:tc>
                  <a:txBody>
                    <a:bodyPr/>
                    <a:lstStyle/>
                    <a:p>
                      <a:pPr indent="0" marL="0">
                        <a:buNone/>
                      </a:pPr>
                      <a:r>
                        <a:rPr lang="en-US" sz="1500" b="1" dirty="0">
                          <a:solidFill>
                            <a:srgbClr val="1B2130"/>
                          </a:solidFill>
                          <a:latin typeface="Calibri" pitchFamily="34" charset="0"/>
                          <a:ea typeface="Calibri" pitchFamily="34" charset="-122"/>
                          <a:cs typeface="Calibri" pitchFamily="34" charset="-120"/>
                        </a:rPr>
                        <a:t>z-score</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2FB"/>
                    </a:solidFill>
                  </a:tcPr>
                </a:tc>
                <a:tc>
                  <a:txBody>
                    <a:bodyPr/>
                    <a:lstStyle/>
                    <a:p>
                      <a:pPr indent="0" marL="0">
                        <a:buNone/>
                      </a:pPr>
                      <a:r>
                        <a:rPr lang="en-US" sz="1500" dirty="0">
                          <a:solidFill>
                            <a:srgbClr val="1B2130"/>
                          </a:solidFill>
                          <a:latin typeface="Calibri" pitchFamily="34" charset="0"/>
                          <a:ea typeface="Calibri" pitchFamily="34" charset="-122"/>
                          <a:cs typeface="Calibri" pitchFamily="34" charset="-120"/>
                        </a:rPr>
                        <a:t>(7.0 − 4.91) / 1.529 ≈ 1.37</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2FB"/>
                    </a:solidFill>
                  </a:tcPr>
                </a:tc>
                <a:tc>
                  <a:txBody>
                    <a:bodyPr/>
                    <a:lstStyle/>
                    <a:p>
                      <a:pPr indent="0" marL="0">
                        <a:buNone/>
                      </a:pPr>
                      <a:r>
                        <a:rPr lang="en-US" sz="1500" dirty="0">
                          <a:solidFill>
                            <a:srgbClr val="1B2130"/>
                          </a:solidFill>
                          <a:latin typeface="Calibri" pitchFamily="34" charset="0"/>
                          <a:ea typeface="Calibri" pitchFamily="34" charset="-122"/>
                          <a:cs typeface="Calibri" pitchFamily="34" charset="-120"/>
                        </a:rPr>
                        <a:t>(18.0 − 18.68) / 1.638 ≈ −0.42</a:t>
                      </a:r>
                      <a:endParaRPr lang="en-US" sz="15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2FB"/>
                    </a:solidFill>
                  </a:tcPr>
                </a:tc>
              </a:tr>
            </a:tbl>
          </a:graphicData>
        </a:graphic>
      </p:graphicFrame>
      <p:sp>
        <p:nvSpPr>
          <p:cNvPr id="5" name="Text 2"/>
          <p:cNvSpPr txBox="1"/>
          <p:nvPr/>
        </p:nvSpPr>
        <p:spPr>
          <a:xfrm>
            <a:off x="457200" y="3749040"/>
            <a:ext cx="8229600" cy="457200"/>
          </a:xfrm>
          <a:prstGeom prst="rect">
            <a:avLst/>
          </a:prstGeom>
          <a:noFill/>
          <a:ln/>
        </p:spPr>
        <p:txBody>
          <a:bodyPr wrap="square" lIns="0" tIns="0" rIns="0" bIns="0" rtlCol="0" anchor="ctr"/>
          <a:lstStyle/>
          <a:p>
            <a:pPr indent="0" marL="0">
              <a:buNone/>
            </a:pPr>
            <a:r>
              <a:rPr lang="en-US" sz="1700" b="1" dirty="0">
                <a:solidFill>
                  <a:srgbClr val="1F7A4D"/>
                </a:solidFill>
                <a:latin typeface="Calibri" pitchFamily="34" charset="0"/>
                <a:ea typeface="Calibri" pitchFamily="34" charset="-122"/>
                <a:cs typeface="Calibri" pitchFamily="34" charset="-120"/>
              </a:rPr>
              <a:t>After either method the nearest centre is sea bass, in cm or in mm.</a:t>
            </a:r>
            <a:endParaRPr lang="en-US" sz="1700" dirty="0"/>
          </a:p>
        </p:txBody>
      </p:sp>
      <p:sp>
        <p:nvSpPr>
          <p:cNvPr id="6" name="Text 3"/>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2 · Video 2.4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Use the training numbers for everything</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Otherwise: data leakage</a:t>
            </a:r>
            <a:endParaRPr lang="en-US" sz="1500" dirty="0"/>
          </a:p>
        </p:txBody>
      </p:sp>
      <p:sp>
        <p:nvSpPr>
          <p:cNvPr id="4" name="Shape 2"/>
          <p:cNvSpPr/>
          <p:nvPr/>
        </p:nvSpPr>
        <p:spPr>
          <a:xfrm>
            <a:off x="457200" y="1371600"/>
            <a:ext cx="2103120" cy="914400"/>
          </a:xfrm>
          <a:prstGeom prst="roundRect">
            <a:avLst>
              <a:gd name="adj" fmla="val 8000"/>
            </a:avLst>
          </a:prstGeom>
          <a:solidFill>
            <a:srgbClr val="EEF2FB"/>
          </a:solidFill>
          <a:ln w="19050">
            <a:solidFill>
              <a:srgbClr val="EEF2FB"/>
            </a:solidFill>
            <a:prstDash val="solid"/>
          </a:ln>
        </p:spPr>
      </p:sp>
      <p:sp>
        <p:nvSpPr>
          <p:cNvPr id="5" name="Text 3"/>
          <p:cNvSpPr txBox="1"/>
          <p:nvPr/>
        </p:nvSpPr>
        <p:spPr>
          <a:xfrm>
            <a:off x="457200" y="1371600"/>
            <a:ext cx="2103120" cy="914400"/>
          </a:xfrm>
          <a:prstGeom prst="rect">
            <a:avLst/>
          </a:prstGeom>
          <a:noFill/>
          <a:ln/>
        </p:spPr>
        <p:txBody>
          <a:bodyPr wrap="square" lIns="0" tIns="0" rIns="0" bIns="0" rtlCol="0" anchor="ctr"/>
          <a:lstStyle/>
          <a:p>
            <a:pPr algn="ctr" indent="0" marL="0">
              <a:buNone/>
            </a:pPr>
            <a:r>
              <a:rPr lang="en-US" sz="1500" b="1" dirty="0">
                <a:solidFill>
                  <a:srgbClr val="1B2130"/>
                </a:solidFill>
                <a:latin typeface="Calibri" pitchFamily="34" charset="0"/>
                <a:ea typeface="Calibri" pitchFamily="34" charset="-122"/>
                <a:cs typeface="Calibri" pitchFamily="34" charset="-120"/>
              </a:rPr>
              <a:t>training data</a:t>
            </a:r>
            <a:endParaRPr lang="en-US" sz="1500" dirty="0"/>
          </a:p>
        </p:txBody>
      </p:sp>
      <p:sp>
        <p:nvSpPr>
          <p:cNvPr id="6" name="Shape 4"/>
          <p:cNvSpPr/>
          <p:nvPr/>
        </p:nvSpPr>
        <p:spPr>
          <a:xfrm>
            <a:off x="3200400" y="1371600"/>
            <a:ext cx="2377440" cy="914400"/>
          </a:xfrm>
          <a:prstGeom prst="roundRect">
            <a:avLst>
              <a:gd name="adj" fmla="val 8000"/>
            </a:avLst>
          </a:prstGeom>
          <a:solidFill>
            <a:srgbClr val="E8F5EE"/>
          </a:solidFill>
          <a:ln w="19050">
            <a:solidFill>
              <a:srgbClr val="1F7A4D"/>
            </a:solidFill>
            <a:prstDash val="solid"/>
          </a:ln>
        </p:spPr>
      </p:sp>
      <p:sp>
        <p:nvSpPr>
          <p:cNvPr id="7" name="Text 5"/>
          <p:cNvSpPr txBox="1"/>
          <p:nvPr/>
        </p:nvSpPr>
        <p:spPr>
          <a:xfrm>
            <a:off x="3200400" y="1371600"/>
            <a:ext cx="2377440" cy="914400"/>
          </a:xfrm>
          <a:prstGeom prst="rect">
            <a:avLst/>
          </a:prstGeom>
          <a:noFill/>
          <a:ln/>
        </p:spPr>
        <p:txBody>
          <a:bodyPr wrap="square" lIns="0" tIns="0" rIns="0" bIns="0" rtlCol="0" anchor="ctr"/>
          <a:lstStyle/>
          <a:p>
            <a:pPr algn="ctr" indent="0" marL="0">
              <a:buNone/>
            </a:pPr>
            <a:r>
              <a:rPr lang="en-US" sz="1500" b="1" dirty="0">
                <a:solidFill>
                  <a:srgbClr val="1B2130"/>
                </a:solidFill>
                <a:latin typeface="Calibri" pitchFamily="34" charset="0"/>
                <a:ea typeface="Calibri" pitchFamily="34" charset="-122"/>
                <a:cs typeface="Calibri" pitchFamily="34" charset="-120"/>
              </a:rPr>
              <a:t>fit: mean, std</a:t>
            </a:r>
            <a:endParaRPr lang="en-US" sz="1500" dirty="0"/>
          </a:p>
          <a:p>
            <a:pPr algn="ctr" indent="0" marL="0">
              <a:buNone/>
            </a:pPr>
            <a:r>
              <a:rPr lang="en-US" sz="1500" b="1" dirty="0">
                <a:solidFill>
                  <a:srgbClr val="1B2130"/>
                </a:solidFill>
                <a:latin typeface="Calibri" pitchFamily="34" charset="0"/>
                <a:ea typeface="Calibri" pitchFamily="34" charset="-122"/>
                <a:cs typeface="Calibri" pitchFamily="34" charset="-120"/>
              </a:rPr>
              <a:t>(min, max)</a:t>
            </a:r>
            <a:endParaRPr lang="en-US" sz="1500" dirty="0"/>
          </a:p>
        </p:txBody>
      </p:sp>
      <p:sp>
        <p:nvSpPr>
          <p:cNvPr id="8" name="Shape 6"/>
          <p:cNvSpPr/>
          <p:nvPr/>
        </p:nvSpPr>
        <p:spPr>
          <a:xfrm>
            <a:off x="6309360" y="914400"/>
            <a:ext cx="2377440" cy="731520"/>
          </a:xfrm>
          <a:prstGeom prst="roundRect">
            <a:avLst>
              <a:gd name="adj" fmla="val 10000"/>
            </a:avLst>
          </a:prstGeom>
          <a:solidFill>
            <a:srgbClr val="EEF2FB"/>
          </a:solidFill>
          <a:ln w="19050">
            <a:solidFill>
              <a:srgbClr val="EEF2FB"/>
            </a:solidFill>
            <a:prstDash val="solid"/>
          </a:ln>
        </p:spPr>
      </p:sp>
      <p:sp>
        <p:nvSpPr>
          <p:cNvPr id="9" name="Text 7"/>
          <p:cNvSpPr txBox="1"/>
          <p:nvPr/>
        </p:nvSpPr>
        <p:spPr>
          <a:xfrm>
            <a:off x="6309360" y="914400"/>
            <a:ext cx="2377440" cy="731520"/>
          </a:xfrm>
          <a:prstGeom prst="rect">
            <a:avLst/>
          </a:prstGeom>
          <a:noFill/>
          <a:ln/>
        </p:spPr>
        <p:txBody>
          <a:bodyPr wrap="square" lIns="0" tIns="0" rIns="0" bIns="0" rtlCol="0" anchor="ctr"/>
          <a:lstStyle/>
          <a:p>
            <a:pPr algn="ctr" indent="0" marL="0">
              <a:buNone/>
            </a:pPr>
            <a:r>
              <a:rPr lang="en-US" sz="1500" b="1" dirty="0">
                <a:solidFill>
                  <a:srgbClr val="1B2130"/>
                </a:solidFill>
                <a:latin typeface="Calibri" pitchFamily="34" charset="0"/>
                <a:ea typeface="Calibri" pitchFamily="34" charset="-122"/>
                <a:cs typeface="Calibri" pitchFamily="34" charset="-120"/>
              </a:rPr>
              <a:t>transform training data</a:t>
            </a:r>
            <a:endParaRPr lang="en-US" sz="1500" dirty="0"/>
          </a:p>
        </p:txBody>
      </p:sp>
      <p:sp>
        <p:nvSpPr>
          <p:cNvPr id="10" name="Shape 8"/>
          <p:cNvSpPr/>
          <p:nvPr/>
        </p:nvSpPr>
        <p:spPr>
          <a:xfrm>
            <a:off x="6309360" y="2011680"/>
            <a:ext cx="2377440" cy="731520"/>
          </a:xfrm>
          <a:prstGeom prst="roundRect">
            <a:avLst>
              <a:gd name="adj" fmla="val 10000"/>
            </a:avLst>
          </a:prstGeom>
          <a:solidFill>
            <a:srgbClr val="FBEFDF"/>
          </a:solidFill>
          <a:ln w="19050">
            <a:solidFill>
              <a:srgbClr val="FBEFDF"/>
            </a:solidFill>
            <a:prstDash val="solid"/>
          </a:ln>
        </p:spPr>
      </p:sp>
      <p:sp>
        <p:nvSpPr>
          <p:cNvPr id="11" name="Text 9"/>
          <p:cNvSpPr txBox="1"/>
          <p:nvPr/>
        </p:nvSpPr>
        <p:spPr>
          <a:xfrm>
            <a:off x="6309360" y="2011680"/>
            <a:ext cx="2377440" cy="731520"/>
          </a:xfrm>
          <a:prstGeom prst="rect">
            <a:avLst/>
          </a:prstGeom>
          <a:noFill/>
          <a:ln/>
        </p:spPr>
        <p:txBody>
          <a:bodyPr wrap="square" lIns="0" tIns="0" rIns="0" bIns="0" rtlCol="0" anchor="ctr"/>
          <a:lstStyle/>
          <a:p>
            <a:pPr algn="ctr" indent="0" marL="0">
              <a:buNone/>
            </a:pPr>
            <a:r>
              <a:rPr lang="en-US" sz="1500" b="1" dirty="0">
                <a:solidFill>
                  <a:srgbClr val="1B2130"/>
                </a:solidFill>
                <a:latin typeface="Calibri" pitchFamily="34" charset="0"/>
                <a:ea typeface="Calibri" pitchFamily="34" charset="-122"/>
                <a:cs typeface="Calibri" pitchFamily="34" charset="-120"/>
              </a:rPr>
              <a:t>transform new / test data</a:t>
            </a:r>
            <a:endParaRPr lang="en-US" sz="1500" dirty="0"/>
          </a:p>
        </p:txBody>
      </p:sp>
      <p:sp>
        <p:nvSpPr>
          <p:cNvPr id="12" name="Shape 10"/>
          <p:cNvSpPr/>
          <p:nvPr/>
        </p:nvSpPr>
        <p:spPr>
          <a:xfrm>
            <a:off x="2651760" y="1691640"/>
            <a:ext cx="457200" cy="274320"/>
          </a:xfrm>
          <a:prstGeom prst="rightArrow">
            <a:avLst/>
          </a:prstGeom>
          <a:solidFill>
            <a:srgbClr val="5C6577"/>
          </a:solidFill>
          <a:ln w="12700">
            <a:solidFill>
              <a:srgbClr val="5C6577"/>
            </a:solidFill>
            <a:prstDash val="solid"/>
          </a:ln>
        </p:spPr>
      </p:sp>
      <p:sp>
        <p:nvSpPr>
          <p:cNvPr id="13" name="Shape 11"/>
          <p:cNvSpPr/>
          <p:nvPr/>
        </p:nvSpPr>
        <p:spPr>
          <a:xfrm>
            <a:off x="5577840" y="1828800"/>
            <a:ext cx="731520" cy="-548640"/>
          </a:xfrm>
          <a:prstGeom prst="line">
            <a:avLst/>
          </a:prstGeom>
          <a:noFill/>
          <a:ln w="25400">
            <a:solidFill>
              <a:srgbClr val="5C6577"/>
            </a:solidFill>
            <a:prstDash val="solid"/>
            <a:tailEnd type="triangle"/>
          </a:ln>
        </p:spPr>
      </p:sp>
      <p:sp>
        <p:nvSpPr>
          <p:cNvPr id="14" name="Shape 12"/>
          <p:cNvSpPr/>
          <p:nvPr/>
        </p:nvSpPr>
        <p:spPr>
          <a:xfrm>
            <a:off x="5577840" y="1828800"/>
            <a:ext cx="731520" cy="548640"/>
          </a:xfrm>
          <a:prstGeom prst="line">
            <a:avLst/>
          </a:prstGeom>
          <a:noFill/>
          <a:ln w="25400">
            <a:solidFill>
              <a:srgbClr val="5C6577"/>
            </a:solidFill>
            <a:prstDash val="solid"/>
            <a:tailEnd type="triangle"/>
          </a:ln>
        </p:spPr>
      </p:sp>
      <p:sp>
        <p:nvSpPr>
          <p:cNvPr id="15" name="Shape 13"/>
          <p:cNvSpPr/>
          <p:nvPr/>
        </p:nvSpPr>
        <p:spPr>
          <a:xfrm>
            <a:off x="457200" y="3108960"/>
            <a:ext cx="8229600" cy="1005840"/>
          </a:xfrm>
          <a:prstGeom prst="roundRect">
            <a:avLst>
              <a:gd name="adj" fmla="val 7273"/>
            </a:avLst>
          </a:prstGeom>
          <a:solidFill>
            <a:srgbClr val="FBEFDF"/>
          </a:solidFill>
          <a:ln w="12700">
            <a:solidFill>
              <a:srgbClr val="FBEFDF"/>
            </a:solidFill>
            <a:prstDash val="solid"/>
          </a:ln>
        </p:spPr>
      </p:sp>
      <p:sp>
        <p:nvSpPr>
          <p:cNvPr id="16" name="Text 14"/>
          <p:cNvSpPr txBox="1"/>
          <p:nvPr/>
        </p:nvSpPr>
        <p:spPr>
          <a:xfrm>
            <a:off x="685800" y="3108960"/>
            <a:ext cx="7772400" cy="1005840"/>
          </a:xfrm>
          <a:prstGeom prst="rect">
            <a:avLst/>
          </a:prstGeom>
          <a:noFill/>
          <a:ln/>
        </p:spPr>
        <p:txBody>
          <a:bodyPr wrap="square" lIns="0" tIns="0" rIns="0" bIns="0" rtlCol="0" anchor="ctr"/>
          <a:lstStyle/>
          <a:p>
            <a:pPr indent="0" marL="0">
              <a:buNone/>
            </a:pPr>
            <a:r>
              <a:rPr lang="en-US" sz="1500" b="1" dirty="0">
                <a:solidFill>
                  <a:srgbClr val="D9822B"/>
                </a:solidFill>
                <a:latin typeface="Calibri" pitchFamily="34" charset="0"/>
                <a:ea typeface="Calibri" pitchFamily="34" charset="-122"/>
                <a:cs typeface="Calibri" pitchFamily="34" charset="-120"/>
              </a:rPr>
              <a:t>Wrong: </a:t>
            </a:r>
            <a:pPr indent="0" marL="0">
              <a:buNone/>
            </a:pPr>
            <a:r>
              <a:rPr lang="en-US" sz="1500" dirty="0">
                <a:solidFill>
                  <a:srgbClr val="1B2130"/>
                </a:solidFill>
                <a:latin typeface="Calibri" pitchFamily="34" charset="0"/>
                <a:ea typeface="Calibri" pitchFamily="34" charset="-122"/>
                <a:cs typeface="Calibri" pitchFamily="34" charset="-120"/>
              </a:rPr>
              <a:t>computing the mean and std on all the data, or again on the test data. The test data then leaks into training, and the test score looks better than it really is.</a:t>
            </a:r>
            <a:endParaRPr lang="en-US" sz="1500" dirty="0"/>
          </a:p>
        </p:txBody>
      </p:sp>
      <p:sp>
        <p:nvSpPr>
          <p:cNvPr id="17" name="Text 15"/>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2 · Video 2.4</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130"/>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200" spc="200" kern="0" dirty="0">
                <a:solidFill>
                  <a:srgbClr val="9FB7EE"/>
                </a:solidFill>
                <a:latin typeface="Calibri" pitchFamily="34" charset="0"/>
                <a:ea typeface="Calibri" pitchFamily="34" charset="-122"/>
                <a:cs typeface="Calibri" pitchFamily="34" charset="-120"/>
              </a:rPr>
              <a:t>VIDEO 2.5</a:t>
            </a:r>
            <a:endParaRPr lang="en-US" sz="1200" dirty="0"/>
          </a:p>
        </p:txBody>
      </p:sp>
      <p:sp>
        <p:nvSpPr>
          <p:cNvPr id="3" name="Text 1"/>
          <p:cNvSpPr txBox="1"/>
          <p:nvPr/>
        </p:nvSpPr>
        <p:spPr>
          <a:xfrm>
            <a:off x="548640" y="1005840"/>
            <a:ext cx="8046720" cy="13258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The nearest-mean classifier</a:t>
            </a:r>
            <a:endParaRPr lang="en-US" sz="4000" dirty="0"/>
          </a:p>
        </p:txBody>
      </p:sp>
      <p:sp>
        <p:nvSpPr>
          <p:cNvPr id="4" name="Text 2"/>
          <p:cNvSpPr txBox="1"/>
          <p:nvPr/>
        </p:nvSpPr>
        <p:spPr>
          <a:xfrm>
            <a:off x="548640" y="2514600"/>
            <a:ext cx="7132320" cy="1005840"/>
          </a:xfrm>
          <a:prstGeom prst="rect">
            <a:avLst/>
          </a:prstGeom>
          <a:noFill/>
          <a:ln/>
        </p:spPr>
        <p:txBody>
          <a:bodyPr wrap="square" lIns="0" tIns="0" rIns="0" bIns="0" rtlCol="0" anchor="t"/>
          <a:lstStyle/>
          <a:p>
            <a:pPr indent="0" marL="0">
              <a:buNone/>
            </a:pPr>
            <a:r>
              <a:rPr lang="en-US" sz="1900" dirty="0">
                <a:solidFill>
                  <a:srgbClr val="D7DDEA"/>
                </a:solidFill>
                <a:latin typeface="Calibri" pitchFamily="34" charset="0"/>
                <a:ea typeface="Calibri" pitchFamily="34" charset="-122"/>
                <a:cs typeface="Calibri" pitchFamily="34" charset="-120"/>
              </a:rPr>
              <a:t>After this video you can classify a new sample with the nearest-mean classifier, say when it fails, and measure it on test data.</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Your first classifier, in two steps</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Notes §2.5 · Duda §2.6.1: the minimum-distance classifier</a:t>
            </a:r>
            <a:endParaRPr lang="en-US" sz="1500" dirty="0"/>
          </a:p>
        </p:txBody>
      </p:sp>
      <p:sp>
        <p:nvSpPr>
          <p:cNvPr id="4" name="Shape 2"/>
          <p:cNvSpPr/>
          <p:nvPr/>
        </p:nvSpPr>
        <p:spPr>
          <a:xfrm>
            <a:off x="457200" y="1325880"/>
            <a:ext cx="4206240" cy="960120"/>
          </a:xfrm>
          <a:prstGeom prst="roundRect">
            <a:avLst>
              <a:gd name="adj" fmla="val 7619"/>
            </a:avLst>
          </a:prstGeom>
          <a:solidFill>
            <a:srgbClr val="EEF2FB"/>
          </a:solidFill>
          <a:ln w="12700">
            <a:solidFill>
              <a:srgbClr val="EEF2FB"/>
            </a:solidFill>
            <a:prstDash val="solid"/>
          </a:ln>
        </p:spPr>
      </p:sp>
      <p:sp>
        <p:nvSpPr>
          <p:cNvPr id="5" name="Text 3"/>
          <p:cNvSpPr txBox="1"/>
          <p:nvPr/>
        </p:nvSpPr>
        <p:spPr>
          <a:xfrm>
            <a:off x="640080" y="1325880"/>
            <a:ext cx="3840480" cy="960120"/>
          </a:xfrm>
          <a:prstGeom prst="rect">
            <a:avLst/>
          </a:prstGeom>
          <a:noFill/>
          <a:ln/>
        </p:spPr>
        <p:txBody>
          <a:bodyPr wrap="square" lIns="0" tIns="0" rIns="0" bIns="0" rtlCol="0" anchor="ctr"/>
          <a:lstStyle/>
          <a:p>
            <a:pPr indent="0" marL="0">
              <a:buNone/>
            </a:pPr>
            <a:r>
              <a:rPr lang="en-US" sz="1800" b="1" dirty="0">
                <a:solidFill>
                  <a:srgbClr val="1B2130"/>
                </a:solidFill>
                <a:latin typeface="Calibri" pitchFamily="34" charset="0"/>
                <a:ea typeface="Calibri" pitchFamily="34" charset="-122"/>
                <a:cs typeface="Calibri" pitchFamily="34" charset="-120"/>
              </a:rPr>
              <a:t>1  Train</a:t>
            </a:r>
            <a:endParaRPr lang="en-US" sz="1800" dirty="0"/>
          </a:p>
          <a:p>
            <a:pPr indent="0" marL="0">
              <a:buNone/>
            </a:pPr>
            <a:r>
              <a:rPr lang="en-US" sz="1400" dirty="0">
                <a:solidFill>
                  <a:srgbClr val="5C6577"/>
                </a:solidFill>
                <a:latin typeface="Calibri" pitchFamily="34" charset="0"/>
                <a:ea typeface="Calibri" pitchFamily="34" charset="-122"/>
                <a:cs typeface="Calibri" pitchFamily="34" charset="-120"/>
              </a:rPr>
              <a:t>compute the mean of each class: one centre per class</a:t>
            </a:r>
            <a:endParaRPr lang="en-US" sz="1800" dirty="0"/>
          </a:p>
        </p:txBody>
      </p:sp>
      <p:sp>
        <p:nvSpPr>
          <p:cNvPr id="6" name="Shape 4"/>
          <p:cNvSpPr/>
          <p:nvPr/>
        </p:nvSpPr>
        <p:spPr>
          <a:xfrm>
            <a:off x="457200" y="2468880"/>
            <a:ext cx="4206240" cy="960120"/>
          </a:xfrm>
          <a:prstGeom prst="roundRect">
            <a:avLst>
              <a:gd name="adj" fmla="val 7619"/>
            </a:avLst>
          </a:prstGeom>
          <a:solidFill>
            <a:srgbClr val="E8F5EE"/>
          </a:solidFill>
          <a:ln w="12700">
            <a:solidFill>
              <a:srgbClr val="E8F5EE"/>
            </a:solidFill>
            <a:prstDash val="solid"/>
          </a:ln>
        </p:spPr>
      </p:sp>
      <p:sp>
        <p:nvSpPr>
          <p:cNvPr id="7" name="Text 5"/>
          <p:cNvSpPr txBox="1"/>
          <p:nvPr/>
        </p:nvSpPr>
        <p:spPr>
          <a:xfrm>
            <a:off x="640080" y="2468880"/>
            <a:ext cx="3840480" cy="960120"/>
          </a:xfrm>
          <a:prstGeom prst="rect">
            <a:avLst/>
          </a:prstGeom>
          <a:noFill/>
          <a:ln/>
        </p:spPr>
        <p:txBody>
          <a:bodyPr wrap="square" lIns="0" tIns="0" rIns="0" bIns="0" rtlCol="0" anchor="ctr"/>
          <a:lstStyle/>
          <a:p>
            <a:pPr indent="0" marL="0">
              <a:buNone/>
            </a:pPr>
            <a:r>
              <a:rPr lang="en-US" sz="1800" b="1" dirty="0">
                <a:solidFill>
                  <a:srgbClr val="1B2130"/>
                </a:solidFill>
                <a:latin typeface="Calibri" pitchFamily="34" charset="0"/>
                <a:ea typeface="Calibri" pitchFamily="34" charset="-122"/>
                <a:cs typeface="Calibri" pitchFamily="34" charset="-120"/>
              </a:rPr>
              <a:t>2  Classify</a:t>
            </a:r>
            <a:endParaRPr lang="en-US" sz="1800" dirty="0"/>
          </a:p>
          <a:p>
            <a:pPr indent="0" marL="0">
              <a:buNone/>
            </a:pPr>
            <a:r>
              <a:rPr lang="en-US" sz="1400" dirty="0">
                <a:solidFill>
                  <a:srgbClr val="5C6577"/>
                </a:solidFill>
                <a:latin typeface="Calibri" pitchFamily="34" charset="0"/>
                <a:ea typeface="Calibri" pitchFamily="34" charset="-122"/>
                <a:cs typeface="Calibri" pitchFamily="34" charset="-120"/>
              </a:rPr>
              <a:t>measure the distance to every centre and choose the nearest</a:t>
            </a:r>
            <a:endParaRPr lang="en-US" sz="1800" dirty="0"/>
          </a:p>
        </p:txBody>
      </p:sp>
      <p:pic>
        <p:nvPicPr>
          <p:cNvPr id="8" name="Image 0" descr="fig3_zscore.png">    </p:cNvPr>
          <p:cNvPicPr>
            <a:picLocks noChangeAspect="1"/>
          </p:cNvPicPr>
          <p:nvPr/>
        </p:nvPicPr>
        <p:blipFill>
          <a:blip r:embed="rId1"/>
          <a:stretch>
            <a:fillRect/>
          </a:stretch>
        </p:blipFill>
        <p:spPr>
          <a:xfrm>
            <a:off x="4937760" y="1143000"/>
            <a:ext cx="3749040" cy="3063240"/>
          </a:xfrm>
          <a:prstGeom prst="rect">
            <a:avLst/>
          </a:prstGeom>
        </p:spPr>
      </p:pic>
      <p:sp>
        <p:nvSpPr>
          <p:cNvPr id="9" name="Text 6"/>
          <p:cNvSpPr txBox="1"/>
          <p:nvPr/>
        </p:nvSpPr>
        <p:spPr>
          <a:xfrm>
            <a:off x="457200" y="3794760"/>
            <a:ext cx="4206240" cy="640080"/>
          </a:xfrm>
          <a:prstGeom prst="rect">
            <a:avLst/>
          </a:prstGeom>
          <a:noFill/>
          <a:ln/>
        </p:spPr>
        <p:txBody>
          <a:bodyPr wrap="square" lIns="0" tIns="0" rIns="0" bIns="0" rtlCol="0" anchor="ctr"/>
          <a:lstStyle/>
          <a:p>
            <a:pPr indent="0" marL="0">
              <a:buNone/>
            </a:pPr>
            <a:r>
              <a:rPr lang="en-US" sz="1400" dirty="0">
                <a:solidFill>
                  <a:srgbClr val="1B2130"/>
                </a:solidFill>
                <a:latin typeface="Calibri" pitchFamily="34" charset="0"/>
                <a:ea typeface="Calibri" pitchFamily="34" charset="-122"/>
                <a:cs typeface="Calibri" pitchFamily="34" charset="-120"/>
              </a:rPr>
              <a:t>The boundary is the straight line halfway between the two centres, at a right angle.</a:t>
            </a:r>
            <a:endParaRPr lang="en-US" sz="1400" dirty="0"/>
          </a:p>
        </p:txBody>
      </p:sp>
      <p:sp>
        <p:nvSpPr>
          <p:cNvPr id="10" name="Text 7"/>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2 · Video 2.5</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When it fails</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One centre per class works only if each class is one compact group</a:t>
            </a:r>
            <a:endParaRPr lang="en-US" sz="1500" dirty="0"/>
          </a:p>
        </p:txBody>
      </p:sp>
      <p:pic>
        <p:nvPicPr>
          <p:cNvPr id="4" name="Image 0" descr="fig4_fail.png">    </p:cNvPr>
          <p:cNvPicPr>
            <a:picLocks noChangeAspect="1"/>
          </p:cNvPicPr>
          <p:nvPr/>
        </p:nvPicPr>
        <p:blipFill>
          <a:blip r:embed="rId1"/>
          <a:stretch>
            <a:fillRect/>
          </a:stretch>
        </p:blipFill>
        <p:spPr>
          <a:xfrm>
            <a:off x="457200" y="1188720"/>
            <a:ext cx="5120640" cy="2898648"/>
          </a:xfrm>
          <a:prstGeom prst="rect">
            <a:avLst/>
          </a:prstGeom>
        </p:spPr>
      </p:pic>
      <p:sp>
        <p:nvSpPr>
          <p:cNvPr id="5" name="Text 2"/>
          <p:cNvSpPr txBox="1"/>
          <p:nvPr/>
        </p:nvSpPr>
        <p:spPr>
          <a:xfrm>
            <a:off x="5852160" y="1371600"/>
            <a:ext cx="2834640" cy="2560320"/>
          </a:xfrm>
          <a:prstGeom prst="rect">
            <a:avLst/>
          </a:prstGeom>
          <a:noFill/>
          <a:ln/>
        </p:spPr>
        <p:txBody>
          <a:bodyPr wrap="square" lIns="0" tIns="0" rIns="0" bIns="0" rtlCol="0" anchor="t"/>
          <a:lstStyle/>
          <a:p>
            <a:pPr indent="0" marL="0">
              <a:buNone/>
            </a:pPr>
            <a:r>
              <a:rPr lang="en-US" sz="1500" dirty="0">
                <a:solidFill>
                  <a:srgbClr val="1B2130"/>
                </a:solidFill>
                <a:latin typeface="Calibri" pitchFamily="34" charset="0"/>
                <a:ea typeface="Calibri" pitchFamily="34" charset="-122"/>
                <a:cs typeface="Calibri" pitchFamily="34" charset="-120"/>
              </a:rPr>
              <a:t>Class A is two groups. Its mean falls in the middle, inside class B.</a:t>
            </a:r>
            <a:endParaRPr lang="en-US" sz="1500" dirty="0"/>
          </a:p>
          <a:p>
            <a:pPr indent="0" marL="0">
              <a:buNone/>
            </a:pPr>
            <a:r>
              <a:rPr lang="en-US" sz="800" dirty="0">
                <a:solidFill>
                  <a:srgbClr val="1B2130"/>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D9822B"/>
                </a:solidFill>
                <a:latin typeface="Calibri" pitchFamily="34" charset="0"/>
                <a:ea typeface="Calibri" pitchFamily="34" charset="-122"/>
                <a:cs typeface="Calibri" pitchFamily="34" charset="-120"/>
              </a:rPr>
              <a:t>29 of 75 points misclassified.</a:t>
            </a:r>
            <a:endParaRPr lang="en-US" sz="1500" dirty="0"/>
          </a:p>
          <a:p>
            <a:pPr indent="0" marL="0">
              <a:buNone/>
            </a:pPr>
            <a:r>
              <a:rPr lang="en-US" sz="800" dirty="0">
                <a:solidFill>
                  <a:srgbClr val="1B2130"/>
                </a:solidFill>
                <a:latin typeface="Calibri" pitchFamily="34" charset="0"/>
                <a:ea typeface="Calibri" pitchFamily="34" charset="-122"/>
                <a:cs typeface="Calibri" pitchFamily="34" charset="-120"/>
              </a:rPr>
              <a:t> </a:t>
            </a:r>
            <a:endParaRPr lang="en-US" sz="1500" dirty="0"/>
          </a:p>
          <a:p>
            <a:pPr indent="0" marL="0">
              <a:buNone/>
            </a:pPr>
            <a:r>
              <a:rPr lang="en-US" sz="1500" dirty="0">
                <a:solidFill>
                  <a:srgbClr val="5C6577"/>
                </a:solidFill>
                <a:latin typeface="Calibri" pitchFamily="34" charset="0"/>
                <a:ea typeface="Calibri" pitchFamily="34" charset="-122"/>
                <a:cs typeface="Calibri" pitchFamily="34" charset="-120"/>
              </a:rPr>
              <a:t>Week 6 (k-NN) handles this case.</a:t>
            </a:r>
            <a:endParaRPr lang="en-US" sz="1500" dirty="0"/>
          </a:p>
        </p:txBody>
      </p:sp>
      <p:sp>
        <p:nvSpPr>
          <p:cNvPr id="6" name="Text 3"/>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2 · Video 2.5</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Training data and test data</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Judge a classifier on samples it has never seen</a:t>
            </a:r>
            <a:endParaRPr lang="en-US" sz="1500" dirty="0"/>
          </a:p>
        </p:txBody>
      </p:sp>
      <p:sp>
        <p:nvSpPr>
          <p:cNvPr id="4" name="Shape 2"/>
          <p:cNvSpPr/>
          <p:nvPr/>
        </p:nvSpPr>
        <p:spPr>
          <a:xfrm>
            <a:off x="457200" y="1371600"/>
            <a:ext cx="3840480" cy="731520"/>
          </a:xfrm>
          <a:prstGeom prst="rect">
            <a:avLst/>
          </a:prstGeom>
          <a:solidFill>
            <a:srgbClr val="EEF2FB"/>
          </a:solidFill>
          <a:ln w="12700">
            <a:solidFill>
              <a:srgbClr val="2D5BC4"/>
            </a:solidFill>
            <a:prstDash val="solid"/>
          </a:ln>
        </p:spPr>
      </p:sp>
      <p:sp>
        <p:nvSpPr>
          <p:cNvPr id="5" name="Text 3"/>
          <p:cNvSpPr txBox="1"/>
          <p:nvPr/>
        </p:nvSpPr>
        <p:spPr>
          <a:xfrm>
            <a:off x="457200" y="1371600"/>
            <a:ext cx="3840480" cy="731520"/>
          </a:xfrm>
          <a:prstGeom prst="rect">
            <a:avLst/>
          </a:prstGeom>
          <a:noFill/>
          <a:ln/>
        </p:spPr>
        <p:txBody>
          <a:bodyPr wrap="square" lIns="0" tIns="0" rIns="0" bIns="0" rtlCol="0" anchor="ctr"/>
          <a:lstStyle/>
          <a:p>
            <a:pPr algn="ctr" indent="0" marL="0">
              <a:buNone/>
            </a:pPr>
            <a:r>
              <a:rPr lang="en-US" sz="1500" b="1" dirty="0">
                <a:solidFill>
                  <a:srgbClr val="1B2130"/>
                </a:solidFill>
                <a:latin typeface="Calibri" pitchFamily="34" charset="0"/>
                <a:ea typeface="Calibri" pitchFamily="34" charset="-122"/>
                <a:cs typeface="Calibri" pitchFamily="34" charset="-120"/>
              </a:rPr>
              <a:t>training data</a:t>
            </a:r>
            <a:endParaRPr lang="en-US" sz="1500" dirty="0"/>
          </a:p>
          <a:p>
            <a:pPr algn="ctr" indent="0" marL="0">
              <a:buNone/>
            </a:pPr>
            <a:r>
              <a:rPr lang="en-US" sz="1200" dirty="0">
                <a:solidFill>
                  <a:srgbClr val="5C6577"/>
                </a:solidFill>
                <a:latin typeface="Calibri" pitchFamily="34" charset="0"/>
                <a:ea typeface="Calibri" pitchFamily="34" charset="-122"/>
                <a:cs typeface="Calibri" pitchFamily="34" charset="-120"/>
              </a:rPr>
              <a:t>70% · learn everything here</a:t>
            </a:r>
            <a:endParaRPr lang="en-US" sz="1500" dirty="0"/>
          </a:p>
        </p:txBody>
      </p:sp>
      <p:sp>
        <p:nvSpPr>
          <p:cNvPr id="6" name="Shape 4"/>
          <p:cNvSpPr/>
          <p:nvPr/>
        </p:nvSpPr>
        <p:spPr>
          <a:xfrm>
            <a:off x="4297680" y="1371600"/>
            <a:ext cx="1645920" cy="731520"/>
          </a:xfrm>
          <a:prstGeom prst="rect">
            <a:avLst/>
          </a:prstGeom>
          <a:solidFill>
            <a:srgbClr val="FBEFDF"/>
          </a:solidFill>
          <a:ln w="12700">
            <a:solidFill>
              <a:srgbClr val="D9822B"/>
            </a:solidFill>
            <a:prstDash val="solid"/>
          </a:ln>
        </p:spPr>
      </p:sp>
      <p:sp>
        <p:nvSpPr>
          <p:cNvPr id="7" name="Text 5"/>
          <p:cNvSpPr txBox="1"/>
          <p:nvPr/>
        </p:nvSpPr>
        <p:spPr>
          <a:xfrm>
            <a:off x="4297680" y="1371600"/>
            <a:ext cx="1645920" cy="731520"/>
          </a:xfrm>
          <a:prstGeom prst="rect">
            <a:avLst/>
          </a:prstGeom>
          <a:noFill/>
          <a:ln/>
        </p:spPr>
        <p:txBody>
          <a:bodyPr wrap="square" lIns="0" tIns="0" rIns="0" bIns="0" rtlCol="0" anchor="ctr"/>
          <a:lstStyle/>
          <a:p>
            <a:pPr algn="ctr" indent="0" marL="0">
              <a:buNone/>
            </a:pPr>
            <a:r>
              <a:rPr lang="en-US" sz="1500" b="1" dirty="0">
                <a:solidFill>
                  <a:srgbClr val="1B2130"/>
                </a:solidFill>
                <a:latin typeface="Calibri" pitchFamily="34" charset="0"/>
                <a:ea typeface="Calibri" pitchFamily="34" charset="-122"/>
                <a:cs typeface="Calibri" pitchFamily="34" charset="-120"/>
              </a:rPr>
              <a:t>test data</a:t>
            </a:r>
            <a:endParaRPr lang="en-US" sz="1500" dirty="0"/>
          </a:p>
          <a:p>
            <a:pPr algn="ctr" indent="0" marL="0">
              <a:buNone/>
            </a:pPr>
            <a:r>
              <a:rPr lang="en-US" sz="1200" dirty="0">
                <a:solidFill>
                  <a:srgbClr val="5C6577"/>
                </a:solidFill>
                <a:latin typeface="Calibri" pitchFamily="34" charset="0"/>
                <a:ea typeface="Calibri" pitchFamily="34" charset="-122"/>
                <a:cs typeface="Calibri" pitchFamily="34" charset="-120"/>
              </a:rPr>
              <a:t>30% · kept aside</a:t>
            </a:r>
            <a:endParaRPr lang="en-US" sz="1500" dirty="0"/>
          </a:p>
        </p:txBody>
      </p:sp>
      <p:sp>
        <p:nvSpPr>
          <p:cNvPr id="8" name="Text 6"/>
          <p:cNvSpPr txBox="1"/>
          <p:nvPr/>
        </p:nvSpPr>
        <p:spPr>
          <a:xfrm>
            <a:off x="457200" y="2240280"/>
            <a:ext cx="5486400" cy="457200"/>
          </a:xfrm>
          <a:prstGeom prst="rect">
            <a:avLst/>
          </a:prstGeom>
          <a:noFill/>
          <a:ln/>
        </p:spPr>
        <p:txBody>
          <a:bodyPr wrap="square" lIns="0" tIns="0" rIns="0" bIns="0" rtlCol="0" anchor="ctr"/>
          <a:lstStyle/>
          <a:p>
            <a:pPr indent="0" marL="0">
              <a:buNone/>
            </a:pPr>
            <a:r>
              <a:rPr lang="en-US" sz="1300" i="1" dirty="0">
                <a:solidFill>
                  <a:srgbClr val="5C6577"/>
                </a:solidFill>
                <a:latin typeface="Calibri" pitchFamily="34" charset="0"/>
                <a:ea typeface="Calibri" pitchFamily="34" charset="-122"/>
                <a:cs typeface="Calibri" pitchFamily="34" charset="-120"/>
              </a:rPr>
              <a:t>Memorizing the training data gives 100% on it, and says nothing about new samples.</a:t>
            </a:r>
            <a:endParaRPr lang="en-US" sz="1300" dirty="0"/>
          </a:p>
        </p:txBody>
      </p:sp>
      <p:sp>
        <p:nvSpPr>
          <p:cNvPr id="9" name="Shape 7"/>
          <p:cNvSpPr/>
          <p:nvPr/>
        </p:nvSpPr>
        <p:spPr>
          <a:xfrm>
            <a:off x="6217920" y="1280160"/>
            <a:ext cx="2468880" cy="1463040"/>
          </a:xfrm>
          <a:prstGeom prst="roundRect">
            <a:avLst>
              <a:gd name="adj" fmla="val 5000"/>
            </a:avLst>
          </a:prstGeom>
          <a:solidFill>
            <a:srgbClr val="E8F5EE"/>
          </a:solidFill>
          <a:ln w="12700">
            <a:solidFill>
              <a:srgbClr val="E8F5EE"/>
            </a:solidFill>
            <a:prstDash val="solid"/>
          </a:ln>
        </p:spPr>
      </p:sp>
      <p:sp>
        <p:nvSpPr>
          <p:cNvPr id="10" name="Text 8"/>
          <p:cNvSpPr txBox="1"/>
          <p:nvPr/>
        </p:nvSpPr>
        <p:spPr>
          <a:xfrm>
            <a:off x="6309360" y="1325880"/>
            <a:ext cx="2286000" cy="1371600"/>
          </a:xfrm>
          <a:prstGeom prst="rect">
            <a:avLst/>
          </a:prstGeom>
          <a:noFill/>
          <a:ln/>
        </p:spPr>
        <p:txBody>
          <a:bodyPr wrap="square" lIns="0" tIns="0" rIns="0" bIns="0" rtlCol="0" anchor="ctr"/>
          <a:lstStyle/>
          <a:p>
            <a:pPr algn="ctr" indent="0" marL="0">
              <a:buNone/>
            </a:pPr>
            <a:r>
              <a:rPr lang="en-US" sz="1400" b="1" dirty="0">
                <a:solidFill>
                  <a:srgbClr val="1B2130"/>
                </a:solidFill>
                <a:latin typeface="Calibri" pitchFamily="34" charset="0"/>
                <a:ea typeface="Calibri" pitchFamily="34" charset="-122"/>
                <a:cs typeface="Calibri" pitchFamily="34" charset="-120"/>
              </a:rPr>
              <a:t>accuracy =</a:t>
            </a:r>
            <a:endParaRPr lang="en-US" sz="1400" dirty="0"/>
          </a:p>
          <a:p>
            <a:pPr algn="ctr" indent="0" marL="0">
              <a:buNone/>
            </a:pPr>
            <a:r>
              <a:rPr lang="en-US" sz="1400" dirty="0">
                <a:solidFill>
                  <a:srgbClr val="1B2130"/>
                </a:solidFill>
                <a:latin typeface="Calibri" pitchFamily="34" charset="0"/>
                <a:ea typeface="Calibri" pitchFamily="34" charset="-122"/>
                <a:cs typeface="Calibri" pitchFamily="34" charset="-120"/>
              </a:rPr>
              <a:t>correct / test samples</a:t>
            </a:r>
            <a:endParaRPr lang="en-US" sz="1400" dirty="0"/>
          </a:p>
          <a:p>
            <a:pPr algn="ctr" indent="0" marL="0">
              <a:buNone/>
            </a:pPr>
            <a:r>
              <a:rPr lang="en-US" sz="600" dirty="0">
                <a:solidFill>
                  <a:srgbClr val="1B2130"/>
                </a:solidFill>
                <a:latin typeface="Calibri" pitchFamily="34" charset="0"/>
                <a:ea typeface="Calibri" pitchFamily="34" charset="-122"/>
                <a:cs typeface="Calibri" pitchFamily="34" charset="-120"/>
              </a:rPr>
              <a:t> </a:t>
            </a:r>
            <a:endParaRPr lang="en-US" sz="1400" dirty="0"/>
          </a:p>
          <a:p>
            <a:pPr algn="ctr" indent="0" marL="0">
              <a:buNone/>
            </a:pPr>
            <a:r>
              <a:rPr lang="en-US" sz="1400" b="1" dirty="0">
                <a:solidFill>
                  <a:srgbClr val="1B2130"/>
                </a:solidFill>
                <a:latin typeface="Calibri" pitchFamily="34" charset="0"/>
                <a:ea typeface="Calibri" pitchFamily="34" charset="-122"/>
                <a:cs typeface="Calibri" pitchFamily="34" charset="-120"/>
              </a:rPr>
              <a:t>error rate = 1 − accuracy</a:t>
            </a:r>
            <a:endParaRPr lang="en-US" sz="1400" dirty="0"/>
          </a:p>
        </p:txBody>
      </p:sp>
      <p:sp>
        <p:nvSpPr>
          <p:cNvPr id="11" name="Shape 9"/>
          <p:cNvSpPr/>
          <p:nvPr/>
        </p:nvSpPr>
        <p:spPr>
          <a:xfrm>
            <a:off x="457200" y="2926080"/>
            <a:ext cx="8229600" cy="1234440"/>
          </a:xfrm>
          <a:prstGeom prst="roundRect">
            <a:avLst>
              <a:gd name="adj" fmla="val 5926"/>
            </a:avLst>
          </a:prstGeom>
          <a:solidFill>
            <a:srgbClr val="EEF2FB"/>
          </a:solidFill>
          <a:ln w="12700">
            <a:solidFill>
              <a:srgbClr val="EEF2FB"/>
            </a:solidFill>
            <a:prstDash val="solid"/>
          </a:ln>
        </p:spPr>
      </p:sp>
      <p:sp>
        <p:nvSpPr>
          <p:cNvPr id="12" name="Text 10"/>
          <p:cNvSpPr txBox="1"/>
          <p:nvPr/>
        </p:nvSpPr>
        <p:spPr>
          <a:xfrm>
            <a:off x="685800" y="2926080"/>
            <a:ext cx="7772400" cy="1234440"/>
          </a:xfrm>
          <a:prstGeom prst="rect">
            <a:avLst/>
          </a:prstGeom>
          <a:noFill/>
          <a:ln/>
        </p:spPr>
        <p:txBody>
          <a:bodyPr wrap="square" lIns="0" tIns="0" rIns="0" bIns="0" rtlCol="0" anchor="ctr"/>
          <a:lstStyle/>
          <a:p>
            <a:pPr indent="0" marL="0">
              <a:buNone/>
            </a:pPr>
            <a:r>
              <a:rPr lang="en-US" sz="1500" b="1" dirty="0">
                <a:solidFill>
                  <a:srgbClr val="1B2130"/>
                </a:solidFill>
                <a:latin typeface="Calibri" pitchFamily="34" charset="0"/>
                <a:ea typeface="Calibri" pitchFamily="34" charset="-122"/>
                <a:cs typeface="Calibri" pitchFamily="34" charset="-120"/>
              </a:rPr>
              <a:t>Penguins (342 samples): </a:t>
            </a:r>
            <a:pPr indent="0" marL="0">
              <a:buNone/>
            </a:pPr>
            <a:r>
              <a:rPr lang="en-US" sz="1500" dirty="0">
                <a:solidFill>
                  <a:srgbClr val="1B2130"/>
                </a:solidFill>
                <a:latin typeface="Calibri" pitchFamily="34" charset="0"/>
                <a:ea typeface="Calibri" pitchFamily="34" charset="-122"/>
                <a:cs typeface="Calibri" pitchFamily="34" charset="-120"/>
              </a:rPr>
              <a:t>train on 239, test on 103.</a:t>
            </a:r>
            <a:endParaRPr lang="en-US" sz="1500" dirty="0"/>
          </a:p>
          <a:p>
            <a:pPr indent="0" marL="0">
              <a:buNone/>
            </a:pPr>
            <a:r>
              <a:rPr lang="en-US" sz="1500" dirty="0">
                <a:solidFill>
                  <a:srgbClr val="1B2130"/>
                </a:solidFill>
                <a:latin typeface="Calibri" pitchFamily="34" charset="0"/>
                <a:ea typeface="Calibri" pitchFamily="34" charset="-122"/>
                <a:cs typeface="Calibri" pitchFamily="34" charset="-120"/>
              </a:rPr>
              <a:t>Nearest mean with z-score: 100 of 103 right → accuracy 100/103 ≈ 0.97, error rate ≈ 0.03.</a:t>
            </a:r>
            <a:endParaRPr lang="en-US" sz="1500" dirty="0"/>
          </a:p>
          <a:p>
            <a:pPr indent="0" marL="0">
              <a:buNone/>
            </a:pPr>
            <a:r>
              <a:rPr lang="en-US" sz="1200" dirty="0">
                <a:solidFill>
                  <a:srgbClr val="5C6577"/>
                </a:solidFill>
                <a:latin typeface="Courier New" pitchFamily="34" charset="0"/>
                <a:ea typeface="Courier New" pitchFamily="34" charset="-122"/>
                <a:cs typeface="Courier New" pitchFamily="34" charset="-120"/>
              </a:rPr>
              <a:t>train_test_split(X, y, test_size=0.3, random_state=0, stratify=y)</a:t>
            </a:r>
            <a:endParaRPr lang="en-US" sz="1500" dirty="0"/>
          </a:p>
        </p:txBody>
      </p:sp>
      <p:sp>
        <p:nvSpPr>
          <p:cNvPr id="13" name="Text 11"/>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2 · Video 2.5</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Is normalizing always better?</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Nearest mean, 30% test data, from the lab</a:t>
            </a:r>
            <a:endParaRPr lang="en-US" sz="1500" dirty="0"/>
          </a:p>
        </p:txBody>
      </p:sp>
      <p:pic>
        <p:nvPicPr>
          <p:cNvPr id="4" name="Image 0" descr="fig_acc.png">    </p:cNvPr>
          <p:cNvPicPr>
            <a:picLocks noChangeAspect="1"/>
          </p:cNvPicPr>
          <p:nvPr/>
        </p:nvPicPr>
        <p:blipFill>
          <a:blip r:embed="rId1"/>
          <a:stretch>
            <a:fillRect/>
          </a:stretch>
        </p:blipFill>
        <p:spPr>
          <a:xfrm>
            <a:off x="457200" y="1188720"/>
            <a:ext cx="4480560" cy="2724912"/>
          </a:xfrm>
          <a:prstGeom prst="rect">
            <a:avLst/>
          </a:prstGeom>
        </p:spPr>
      </p:pic>
      <p:sp>
        <p:nvSpPr>
          <p:cNvPr id="5" name="Text 2"/>
          <p:cNvSpPr txBox="1"/>
          <p:nvPr/>
        </p:nvSpPr>
        <p:spPr>
          <a:xfrm>
            <a:off x="5212080" y="1234440"/>
            <a:ext cx="3474720" cy="3017520"/>
          </a:xfrm>
          <a:prstGeom prst="rect">
            <a:avLst/>
          </a:prstGeom>
          <a:noFill/>
          <a:ln/>
        </p:spPr>
        <p:txBody>
          <a:bodyPr wrap="square" lIns="0" tIns="0" rIns="0" bIns="0" rtlCol="0" anchor="t"/>
          <a:lstStyle/>
          <a:p>
            <a:pPr indent="0" marL="0">
              <a:buNone/>
            </a:pPr>
            <a:r>
              <a:rPr lang="en-US" sz="1400" b="1" dirty="0">
                <a:solidFill>
                  <a:srgbClr val="1B2130"/>
                </a:solidFill>
                <a:latin typeface="Calibri" pitchFamily="34" charset="0"/>
                <a:ea typeface="Calibri" pitchFamily="34" charset="-122"/>
                <a:cs typeface="Calibri" pitchFamily="34" charset="-120"/>
              </a:rPr>
              <a:t>Penguins: </a:t>
            </a:r>
            <a:pPr indent="0" marL="0">
              <a:buNone/>
            </a:pPr>
            <a:r>
              <a:rPr lang="en-US" sz="1400" dirty="0">
                <a:solidFill>
                  <a:srgbClr val="1B2130"/>
                </a:solidFill>
                <a:latin typeface="Calibri" pitchFamily="34" charset="0"/>
                <a:ea typeface="Calibri" pitchFamily="34" charset="-122"/>
                <a:cs typeface="Calibri" pitchFamily="34" charset="-120"/>
              </a:rPr>
              <a:t>bills in mm, body mass in grams (2700–6300). Unscaled, the mass decides: 63%. Scaled: 97%.</a:t>
            </a:r>
            <a:endParaRPr lang="en-US" sz="1400" dirty="0"/>
          </a:p>
          <a:p>
            <a:pPr indent="0" marL="0">
              <a:buNone/>
            </a:pPr>
            <a:r>
              <a:rPr lang="en-US" sz="800" dirty="0">
                <a:solidFill>
                  <a:srgbClr val="1B213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1B2130"/>
                </a:solidFill>
                <a:latin typeface="Calibri" pitchFamily="34" charset="0"/>
                <a:ea typeface="Calibri" pitchFamily="34" charset="-122"/>
                <a:cs typeface="Calibri" pitchFamily="34" charset="-120"/>
              </a:rPr>
              <a:t>Iris: </a:t>
            </a:r>
            <a:pPr indent="0" marL="0">
              <a:buNone/>
            </a:pPr>
            <a:r>
              <a:rPr lang="en-US" sz="1400" dirty="0">
                <a:solidFill>
                  <a:srgbClr val="1B2130"/>
                </a:solidFill>
                <a:latin typeface="Calibri" pitchFamily="34" charset="0"/>
                <a:ea typeface="Calibri" pitchFamily="34" charset="-122"/>
                <a:cs typeface="Calibri" pitchFamily="34" charset="-120"/>
              </a:rPr>
              <a:t>four lengths, all in cm. Scaling makes a noisy feature as loud as the useful ones: 91% falls to 76%.</a:t>
            </a:r>
            <a:endParaRPr lang="en-US" sz="1400" dirty="0"/>
          </a:p>
          <a:p>
            <a:pPr indent="0" marL="0">
              <a:buNone/>
            </a:pPr>
            <a:r>
              <a:rPr lang="en-US" sz="800" dirty="0">
                <a:solidFill>
                  <a:srgbClr val="1B213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2D5BC4"/>
                </a:solidFill>
                <a:latin typeface="Calibri" pitchFamily="34" charset="0"/>
                <a:ea typeface="Calibri" pitchFamily="34" charset="-122"/>
                <a:cs typeface="Calibri" pitchFamily="34" charset="-120"/>
              </a:rPr>
              <a:t>Normalize when ranges differ for reasons unrelated to the classes. Always check on test data.</a:t>
            </a:r>
            <a:endParaRPr lang="en-US" sz="1400" dirty="0"/>
          </a:p>
        </p:txBody>
      </p:sp>
      <p:sp>
        <p:nvSpPr>
          <p:cNvPr id="6" name="Text 3"/>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2 · Video 2.5</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In Python</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Normalization and nearest mean in one pipeline</a:t>
            </a:r>
            <a:endParaRPr lang="en-US" sz="1500" dirty="0"/>
          </a:p>
        </p:txBody>
      </p:sp>
      <p:sp>
        <p:nvSpPr>
          <p:cNvPr id="4" name="Text 2"/>
          <p:cNvSpPr txBox="1"/>
          <p:nvPr/>
        </p:nvSpPr>
        <p:spPr>
          <a:xfrm>
            <a:off x="457200" y="1234440"/>
            <a:ext cx="8229600" cy="2103120"/>
          </a:xfrm>
          <a:prstGeom prst="rect">
            <a:avLst/>
          </a:prstGeom>
          <a:solidFill>
            <a:srgbClr val="F6F7F9"/>
          </a:solidFill>
          <a:ln/>
        </p:spPr>
        <p:txBody>
          <a:bodyPr wrap="square" lIns="1905" tIns="1905" rIns="1905" bIns="1905" rtlCol="0" anchor="t"/>
          <a:lstStyle/>
          <a:p>
            <a:pPr indent="0" marL="0">
              <a:buNone/>
            </a:pPr>
            <a:r>
              <a:rPr lang="en-US" sz="1300" dirty="0">
                <a:solidFill>
                  <a:srgbClr val="1B2130"/>
                </a:solidFill>
                <a:latin typeface="Courier New" pitchFamily="34" charset="0"/>
                <a:ea typeface="Courier New" pitchFamily="34" charset="-122"/>
                <a:cs typeface="Courier New" pitchFamily="34" charset="-120"/>
              </a:rPr>
              <a:t>from sklearn.pipeline import make_pipeline</a:t>
            </a:r>
            <a:endParaRPr lang="en-US" sz="1300" dirty="0"/>
          </a:p>
          <a:p>
            <a:pPr indent="0" marL="0">
              <a:buNone/>
            </a:pPr>
            <a:r>
              <a:rPr lang="en-US" sz="1300" dirty="0">
                <a:solidFill>
                  <a:srgbClr val="1B2130"/>
                </a:solidFill>
                <a:latin typeface="Courier New" pitchFamily="34" charset="0"/>
                <a:ea typeface="Courier New" pitchFamily="34" charset="-122"/>
                <a:cs typeface="Courier New" pitchFamily="34" charset="-120"/>
              </a:rPr>
              <a:t>from sklearn.preprocessing import StandardScaler</a:t>
            </a:r>
            <a:endParaRPr lang="en-US" sz="1300" dirty="0"/>
          </a:p>
          <a:p>
            <a:pPr indent="0" marL="0">
              <a:buNone/>
            </a:pPr>
            <a:r>
              <a:rPr lang="en-US" sz="1300" dirty="0">
                <a:solidFill>
                  <a:srgbClr val="1B2130"/>
                </a:solidFill>
                <a:latin typeface="Courier New" pitchFamily="34" charset="0"/>
                <a:ea typeface="Courier New" pitchFamily="34" charset="-122"/>
                <a:cs typeface="Courier New" pitchFamily="34" charset="-120"/>
              </a:rPr>
              <a:t>from sklearn.neighbors import NearestCentroid</a:t>
            </a:r>
            <a:endParaRPr lang="en-US" sz="1300" dirty="0"/>
          </a:p>
          <a:p>
            <a:pPr indent="0" marL="0">
              <a:buNone/>
            </a:pPr>
            <a:r>
              <a:rPr lang="en-US" sz="1300" dirty="0">
                <a:solidFill>
                  <a:srgbClr val="1B213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B2130"/>
                </a:solidFill>
                <a:latin typeface="Courier New" pitchFamily="34" charset="0"/>
                <a:ea typeface="Courier New" pitchFamily="34" charset="-122"/>
                <a:cs typeface="Courier New" pitchFamily="34" charset="-120"/>
              </a:rPr>
              <a:t>model = make_pipeline(StandardScaler(), NearestCentroid())</a:t>
            </a:r>
            <a:endParaRPr lang="en-US" sz="1300" dirty="0"/>
          </a:p>
          <a:p>
            <a:pPr indent="0" marL="0">
              <a:buNone/>
            </a:pPr>
            <a:r>
              <a:rPr lang="en-US" sz="1300" dirty="0">
                <a:solidFill>
                  <a:srgbClr val="1B2130"/>
                </a:solidFill>
                <a:latin typeface="Courier New" pitchFamily="34" charset="0"/>
                <a:ea typeface="Courier New" pitchFamily="34" charset="-122"/>
                <a:cs typeface="Courier New" pitchFamily="34" charset="-120"/>
              </a:rPr>
              <a:t>model.fit(X, y)              # learns mean/std, then the centres</a:t>
            </a:r>
            <a:endParaRPr lang="en-US" sz="1300" dirty="0"/>
          </a:p>
          <a:p>
            <a:pPr indent="0" marL="0">
              <a:buNone/>
            </a:pPr>
            <a:r>
              <a:rPr lang="en-US" sz="1300" dirty="0">
                <a:solidFill>
                  <a:srgbClr val="1B2130"/>
                </a:solidFill>
                <a:latin typeface="Courier New" pitchFamily="34" charset="0"/>
                <a:ea typeface="Courier New" pitchFamily="34" charset="-122"/>
                <a:cs typeface="Courier New" pitchFamily="34" charset="-120"/>
              </a:rPr>
              <a:t>model.predict([[7.0, 18.0]]) # array(['sea bass'])</a:t>
            </a:r>
            <a:endParaRPr lang="en-US" sz="1300" dirty="0"/>
          </a:p>
        </p:txBody>
      </p:sp>
      <p:sp>
        <p:nvSpPr>
          <p:cNvPr id="5" name="Text 3"/>
          <p:cNvSpPr txBox="1"/>
          <p:nvPr/>
        </p:nvSpPr>
        <p:spPr>
          <a:xfrm>
            <a:off x="457200" y="3611880"/>
            <a:ext cx="8229600" cy="548640"/>
          </a:xfrm>
          <a:prstGeom prst="rect">
            <a:avLst/>
          </a:prstGeom>
          <a:noFill/>
          <a:ln/>
        </p:spPr>
        <p:txBody>
          <a:bodyPr wrap="square" lIns="0" tIns="0" rIns="0" bIns="0" rtlCol="0" anchor="ctr"/>
          <a:lstStyle/>
          <a:p>
            <a:pPr indent="0" marL="0">
              <a:buNone/>
            </a:pPr>
            <a:r>
              <a:rPr lang="en-US" sz="1500" dirty="0">
                <a:solidFill>
                  <a:srgbClr val="1B2130"/>
                </a:solidFill>
                <a:latin typeface="Calibri" pitchFamily="34" charset="0"/>
                <a:ea typeface="Calibri" pitchFamily="34" charset="-122"/>
                <a:cs typeface="Calibri" pitchFamily="34" charset="-120"/>
              </a:rPr>
              <a:t>fit uses only the training data; predict reuses the same numbers. The pipeline follows the leakage rule for you.</a:t>
            </a:r>
            <a:endParaRPr lang="en-US" sz="1500" dirty="0"/>
          </a:p>
        </p:txBody>
      </p:sp>
      <p:sp>
        <p:nvSpPr>
          <p:cNvPr id="6" name="Text 4"/>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2 · Video 2.5</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130"/>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200" spc="200" kern="0" dirty="0">
                <a:solidFill>
                  <a:srgbClr val="9FB7EE"/>
                </a:solidFill>
                <a:latin typeface="Calibri" pitchFamily="34" charset="0"/>
                <a:ea typeface="Calibri" pitchFamily="34" charset="-122"/>
                <a:cs typeface="Calibri" pitchFamily="34" charset="-120"/>
              </a:rPr>
              <a:t>REMEMBER</a:t>
            </a:r>
            <a:endParaRPr lang="en-US" sz="1200" dirty="0"/>
          </a:p>
        </p:txBody>
      </p:sp>
      <p:sp>
        <p:nvSpPr>
          <p:cNvPr id="3" name="Text 1"/>
          <p:cNvSpPr txBox="1"/>
          <p:nvPr/>
        </p:nvSpPr>
        <p:spPr>
          <a:xfrm>
            <a:off x="548640" y="1005840"/>
            <a:ext cx="8046720" cy="13258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Scale first, then measure</a:t>
            </a:r>
            <a:endParaRPr lang="en-US" sz="4000" dirty="0"/>
          </a:p>
        </p:txBody>
      </p:sp>
      <p:sp>
        <p:nvSpPr>
          <p:cNvPr id="4" name="Text 2"/>
          <p:cNvSpPr txBox="1"/>
          <p:nvPr/>
        </p:nvSpPr>
        <p:spPr>
          <a:xfrm>
            <a:off x="548640" y="2514600"/>
            <a:ext cx="7132320" cy="1005840"/>
          </a:xfrm>
          <a:prstGeom prst="rect">
            <a:avLst/>
          </a:prstGeom>
          <a:noFill/>
          <a:ln/>
        </p:spPr>
        <p:txBody>
          <a:bodyPr wrap="square" lIns="0" tIns="0" rIns="0" bIns="0" rtlCol="0" anchor="t"/>
          <a:lstStyle/>
          <a:p>
            <a:pPr indent="0" marL="0">
              <a:buNone/>
            </a:pPr>
            <a:r>
              <a:rPr lang="en-US" sz="1900" dirty="0">
                <a:solidFill>
                  <a:srgbClr val="D7DDEA"/>
                </a:solidFill>
                <a:latin typeface="Calibri" pitchFamily="34" charset="0"/>
                <a:ea typeface="Calibri" pitchFamily="34" charset="-122"/>
                <a:cs typeface="Calibri" pitchFamily="34" charset="-120"/>
              </a:rPr>
              <a:t>Features become numbers; distances compare them; normalize with training numbers; the nearest centre decides. Read Notes §2.1–2.7, then do Lab 2 and Assignment 2.</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Image credits</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All photos from Wikimedia Commons, used under the licences shown</a:t>
            </a:r>
            <a:endParaRPr lang="en-US" sz="15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4206240"/>
                <a:gridCol w="2560320"/>
                <a:gridCol w="1463040"/>
              </a:tblGrid>
              <a:tr h="246888">
                <a:tc>
                  <a:txBody>
                    <a:bodyPr/>
                    <a:lstStyle/>
                    <a:p>
                      <a:pPr indent="0" marL="0">
                        <a:buNone/>
                      </a:pPr>
                      <a:r>
                        <a:rPr lang="en-US" sz="1000" b="1" dirty="0">
                          <a:solidFill>
                            <a:srgbClr val="5C6577"/>
                          </a:solidFill>
                          <a:latin typeface="Calibri" pitchFamily="34" charset="0"/>
                          <a:ea typeface="Calibri" pitchFamily="34" charset="-122"/>
                          <a:cs typeface="Calibri" pitchFamily="34" charset="-120"/>
                        </a:rPr>
                        <a:t>Image</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b="1" dirty="0">
                          <a:solidFill>
                            <a:srgbClr val="5C6577"/>
                          </a:solidFill>
                          <a:latin typeface="Calibri" pitchFamily="34" charset="0"/>
                          <a:ea typeface="Calibri" pitchFamily="34" charset="-122"/>
                          <a:cs typeface="Calibri" pitchFamily="34" charset="-120"/>
                        </a:rPr>
                        <a:t>Author</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b="1" dirty="0">
                          <a:solidFill>
                            <a:srgbClr val="5C6577"/>
                          </a:solidFill>
                          <a:latin typeface="Calibri" pitchFamily="34" charset="0"/>
                          <a:ea typeface="Calibri" pitchFamily="34" charset="-122"/>
                          <a:cs typeface="Calibri" pitchFamily="34" charset="-120"/>
                        </a:rPr>
                        <a:t>Licence</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r h="246888">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Dicentrarchus labrax (Belgium).jpg</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Hans Hillewaert</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CC BY-SA 4.0</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r h="246888">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MnistExamples.png</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Josef Steppan</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CC BY-SA 4.0</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 · Features, distance and the nearest-mean classifier</dc:title>
  <dc:subject>PptxGenJS Presentation</dc:subject>
  <dc:creator>PptxGenJS</dc:creator>
  <cp:lastModifiedBy>PptxGenJS</cp:lastModifiedBy>
  <cp:revision>1</cp:revision>
  <dcterms:created xsi:type="dcterms:W3CDTF">2026-10-17T09:49:01Z</dcterms:created>
  <dcterms:modified xsi:type="dcterms:W3CDTF">2026-10-17T09:49:01Z</dcterms:modified>
</cp:coreProperties>
</file>