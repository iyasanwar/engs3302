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deck for the four content videos. Each video starts at its own section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one example through the three words. Raw data: the zoomed square shows that the camera gives only numbers (the top row is the black background, the lower rows are the fish). Class: the answer must be one item from this list. Action: the gate moves. Then ask: for face unlock, what are the raw data, the classes and the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ask students to add one row from their own life before you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 fish-processing line. Right: fishermen sorting the catch by hand. This is the setting of Duda's example in Chapter 1, and of Section 1.2 of the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ask students to list three features they could measure from an image. The numbers that follow (length, lightness, width) are the textbook's teaching example, not real measurements of these species. Salmon picture: a scientific illustration from the U.S. Fish and Wildlife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Figure 1. The small picture shows how the feature is measured from the image: from the mouth to the tip of the tail. Move the threshold in your mind: every position leaves many fish on the wrong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small picture: keep only the fish pixels (the black background removed) and take their mean; for this photo it is 140 out of 255, about 5.5 on a 0 to 10 scale. This is the key idea box of Section 1.2. Then switch to the Feature Space Explorer: Iris, one feature, setosa with petal length gives 0 errors; versicolor vs virginica gives about 7 errors at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Iris before switching to the Explorer. The four features are sepal length, sepal width, petal length and petal width. Photo credits are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find the two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Highlighted: the salmon with 5.6 and the sea bass with 4.2. Try 5.4 aloud: 3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1.2. Check two fish aloud: salmon (2.5, 16.0) gives 18.5; sea bass (4.2, 20.5) gives 24.7. Then show the Explorer with two features: versicolor vs virginica drops from 7 to about 4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Figure 4. The complex boundary learned accidents of the training set. Mention Occam's razor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stage in one sentence with the fish, then repeat with the number 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doubles as a map of the semester. Link the last sentence to the project stages (decision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ask students to classify 'grouping songs without labels' (answer: unsupervised).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week. Point to the Check yourself questions at the end of the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shown in the video; kept for licence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130"/>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274320"/>
          </a:xfrm>
          <a:prstGeom prst="rect">
            <a:avLst/>
          </a:prstGeom>
          <a:noFill/>
          <a:ln/>
        </p:spPr>
        <p:txBody>
          <a:bodyPr wrap="square" lIns="0" tIns="0" rIns="0" bIns="0" rtlCol="0" anchor="ctr"/>
          <a:lstStyle/>
          <a:p>
            <a:pPr indent="0" marL="0">
              <a:buNone/>
            </a:pPr>
            <a:r>
              <a:rPr lang="en-US" sz="1200" spc="200" kern="0" dirty="0">
                <a:solidFill>
                  <a:srgbClr val="9FB7EE"/>
                </a:solidFill>
                <a:latin typeface="Calibri" pitchFamily="34" charset="0"/>
                <a:ea typeface="Calibri" pitchFamily="34" charset="-122"/>
                <a:cs typeface="Calibri" pitchFamily="34" charset="-120"/>
              </a:rPr>
              <a:t>ENGS 3302 · WEEK 1 · VIDEOS 1.1–1.4</a:t>
            </a:r>
            <a:endParaRPr lang="en-US" sz="1200" dirty="0"/>
          </a:p>
        </p:txBody>
      </p:sp>
      <p:sp>
        <p:nvSpPr>
          <p:cNvPr id="3" name="Text 1"/>
          <p:cNvSpPr txBox="1"/>
          <p:nvPr/>
        </p:nvSpPr>
        <p:spPr>
          <a:xfrm>
            <a:off x="548640" y="1005840"/>
            <a:ext cx="8046720" cy="13258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Introduction to Pattern Recognition</a:t>
            </a:r>
            <a:endParaRPr lang="en-US" sz="4000" dirty="0"/>
          </a:p>
        </p:txBody>
      </p:sp>
      <p:sp>
        <p:nvSpPr>
          <p:cNvPr id="4" name="Text 2"/>
          <p:cNvSpPr txBox="1"/>
          <p:nvPr/>
        </p:nvSpPr>
        <p:spPr>
          <a:xfrm>
            <a:off x="548640" y="2514600"/>
            <a:ext cx="7132320" cy="1005840"/>
          </a:xfrm>
          <a:prstGeom prst="rect">
            <a:avLst/>
          </a:prstGeom>
          <a:noFill/>
          <a:ln/>
        </p:spPr>
        <p:txBody>
          <a:bodyPr wrap="square" lIns="0" tIns="0" rIns="0" bIns="0" rtlCol="0" anchor="t"/>
          <a:lstStyle/>
          <a:p>
            <a:pPr indent="0" marL="0">
              <a:buNone/>
            </a:pPr>
            <a:r>
              <a:rPr lang="en-US" sz="1900" dirty="0">
                <a:solidFill>
                  <a:srgbClr val="D7DDEA"/>
                </a:solidFill>
                <a:latin typeface="Calibri" pitchFamily="34" charset="0"/>
                <a:ea typeface="Calibri" pitchFamily="34" charset="-122"/>
                <a:cs typeface="Calibri" pitchFamily="34" charset="-120"/>
              </a:rPr>
              <a:t>Notes §1.1–1.7 · Duda Chapter 1</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130"/>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274320"/>
          </a:xfrm>
          <a:prstGeom prst="rect">
            <a:avLst/>
          </a:prstGeom>
          <a:noFill/>
          <a:ln/>
        </p:spPr>
        <p:txBody>
          <a:bodyPr wrap="square" lIns="0" tIns="0" rIns="0" bIns="0" rtlCol="0" anchor="ctr"/>
          <a:lstStyle/>
          <a:p>
            <a:pPr indent="0" marL="0">
              <a:buNone/>
            </a:pPr>
            <a:r>
              <a:rPr lang="en-US" sz="1200" spc="200" kern="0" dirty="0">
                <a:solidFill>
                  <a:srgbClr val="9FB7EE"/>
                </a:solidFill>
                <a:latin typeface="Calibri" pitchFamily="34" charset="0"/>
                <a:ea typeface="Calibri" pitchFamily="34" charset="-122"/>
                <a:cs typeface="Calibri" pitchFamily="34" charset="-120"/>
              </a:rPr>
              <a:t>VIDEO 1.1</a:t>
            </a:r>
            <a:endParaRPr lang="en-US" sz="1200" dirty="0"/>
          </a:p>
        </p:txBody>
      </p:sp>
      <p:sp>
        <p:nvSpPr>
          <p:cNvPr id="3" name="Text 1"/>
          <p:cNvSpPr txBox="1"/>
          <p:nvPr/>
        </p:nvSpPr>
        <p:spPr>
          <a:xfrm>
            <a:off x="548640" y="1005840"/>
            <a:ext cx="8046720" cy="13258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What is pattern recognition?</a:t>
            </a:r>
            <a:endParaRPr lang="en-US" sz="4000" dirty="0"/>
          </a:p>
        </p:txBody>
      </p:sp>
      <p:sp>
        <p:nvSpPr>
          <p:cNvPr id="4" name="Text 2"/>
          <p:cNvSpPr txBox="1"/>
          <p:nvPr/>
        </p:nvSpPr>
        <p:spPr>
          <a:xfrm>
            <a:off x="548640" y="2514600"/>
            <a:ext cx="7132320" cy="1005840"/>
          </a:xfrm>
          <a:prstGeom prst="rect">
            <a:avLst/>
          </a:prstGeom>
          <a:noFill/>
          <a:ln/>
        </p:spPr>
        <p:txBody>
          <a:bodyPr wrap="square" lIns="0" tIns="0" rIns="0" bIns="0" rtlCol="0" anchor="t"/>
          <a:lstStyle/>
          <a:p>
            <a:pPr indent="0" marL="0">
              <a:buNone/>
            </a:pPr>
            <a:r>
              <a:rPr lang="en-US" sz="1900" dirty="0">
                <a:solidFill>
                  <a:srgbClr val="D7DDEA"/>
                </a:solidFill>
                <a:latin typeface="Calibri" pitchFamily="34" charset="0"/>
                <a:ea typeface="Calibri" pitchFamily="34" charset="-122"/>
                <a:cs typeface="Calibri" pitchFamily="34" charset="-120"/>
              </a:rPr>
              <a:t>After this video you can define pattern recognition and give examples with their raw data and classes.</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A definition</a:t>
            </a:r>
            <a:endParaRPr lang="en-US" sz="3000" dirty="0"/>
          </a:p>
        </p:txBody>
      </p:sp>
      <p:sp>
        <p:nvSpPr>
          <p:cNvPr id="3" name="Shape 1"/>
          <p:cNvSpPr/>
          <p:nvPr/>
        </p:nvSpPr>
        <p:spPr>
          <a:xfrm>
            <a:off x="457200" y="914400"/>
            <a:ext cx="8229600" cy="777240"/>
          </a:xfrm>
          <a:prstGeom prst="roundRect">
            <a:avLst>
              <a:gd name="adj" fmla="val 9412"/>
            </a:avLst>
          </a:prstGeom>
          <a:solidFill>
            <a:srgbClr val="EEF2FB"/>
          </a:solidFill>
          <a:ln w="12700">
            <a:solidFill>
              <a:srgbClr val="EEF2FB"/>
            </a:solidFill>
            <a:prstDash val="solid"/>
          </a:ln>
        </p:spPr>
      </p:sp>
      <p:sp>
        <p:nvSpPr>
          <p:cNvPr id="4" name="Text 2"/>
          <p:cNvSpPr txBox="1"/>
          <p:nvPr/>
        </p:nvSpPr>
        <p:spPr>
          <a:xfrm>
            <a:off x="640080" y="914400"/>
            <a:ext cx="7863840" cy="777240"/>
          </a:xfrm>
          <a:prstGeom prst="rect">
            <a:avLst/>
          </a:prstGeom>
          <a:noFill/>
          <a:ln/>
        </p:spPr>
        <p:txBody>
          <a:bodyPr wrap="square" lIns="0" tIns="0" rIns="0" bIns="0" rtlCol="0" anchor="ctr"/>
          <a:lstStyle/>
          <a:p>
            <a:pPr indent="0" marL="0">
              <a:buNone/>
            </a:pPr>
            <a:r>
              <a:rPr lang="en-US" sz="1800" i="1" dirty="0">
                <a:solidFill>
                  <a:srgbClr val="1B2130"/>
                </a:solidFill>
                <a:latin typeface="Cambria" pitchFamily="34" charset="0"/>
                <a:ea typeface="Cambria" pitchFamily="34" charset="-122"/>
                <a:cs typeface="Cambria" pitchFamily="34" charset="-120"/>
              </a:rPr>
              <a:t>“the act of taking in raw data and taking an action based on the ‘category’ of the pattern.”  </a:t>
            </a:r>
            <a:pPr indent="0" marL="0">
              <a:buNone/>
            </a:pPr>
            <a:r>
              <a:rPr lang="en-US" sz="1100" dirty="0">
                <a:solidFill>
                  <a:srgbClr val="5C6577"/>
                </a:solidFill>
                <a:latin typeface="Calibri" pitchFamily="34" charset="0"/>
                <a:ea typeface="Calibri" pitchFamily="34" charset="-122"/>
                <a:cs typeface="Calibri" pitchFamily="34" charset="-120"/>
              </a:rPr>
              <a:t>Duda, Hart &amp; Stork, p. 1</a:t>
            </a:r>
            <a:endParaRPr lang="en-US" sz="1800" dirty="0"/>
          </a:p>
        </p:txBody>
      </p:sp>
      <p:sp>
        <p:nvSpPr>
          <p:cNvPr id="5" name="Shape 3"/>
          <p:cNvSpPr/>
          <p:nvPr/>
        </p:nvSpPr>
        <p:spPr>
          <a:xfrm>
            <a:off x="457200" y="1920240"/>
            <a:ext cx="2560320" cy="1691640"/>
          </a:xfrm>
          <a:prstGeom prst="roundRect">
            <a:avLst>
              <a:gd name="adj" fmla="val 3243"/>
            </a:avLst>
          </a:prstGeom>
          <a:solidFill>
            <a:srgbClr val="F7F8FA"/>
          </a:solidFill>
          <a:ln w="9525">
            <a:solidFill>
              <a:srgbClr val="DFE3EA"/>
            </a:solidFill>
            <a:prstDash val="solid"/>
          </a:ln>
        </p:spPr>
      </p:sp>
      <p:sp>
        <p:nvSpPr>
          <p:cNvPr id="6" name="Shape 4"/>
          <p:cNvSpPr/>
          <p:nvPr/>
        </p:nvSpPr>
        <p:spPr>
          <a:xfrm>
            <a:off x="3291840" y="1920240"/>
            <a:ext cx="2560320" cy="1691640"/>
          </a:xfrm>
          <a:prstGeom prst="roundRect">
            <a:avLst>
              <a:gd name="adj" fmla="val 3243"/>
            </a:avLst>
          </a:prstGeom>
          <a:solidFill>
            <a:srgbClr val="F7F8FA"/>
          </a:solidFill>
          <a:ln w="9525">
            <a:solidFill>
              <a:srgbClr val="DFE3EA"/>
            </a:solidFill>
            <a:prstDash val="solid"/>
          </a:ln>
        </p:spPr>
      </p:sp>
      <p:sp>
        <p:nvSpPr>
          <p:cNvPr id="7" name="Shape 5"/>
          <p:cNvSpPr/>
          <p:nvPr/>
        </p:nvSpPr>
        <p:spPr>
          <a:xfrm>
            <a:off x="6126480" y="1920240"/>
            <a:ext cx="2560320" cy="1691640"/>
          </a:xfrm>
          <a:prstGeom prst="roundRect">
            <a:avLst>
              <a:gd name="adj" fmla="val 3243"/>
            </a:avLst>
          </a:prstGeom>
          <a:solidFill>
            <a:srgbClr val="E8F5EE"/>
          </a:solidFill>
          <a:ln w="9525">
            <a:solidFill>
              <a:srgbClr val="DFE3EA"/>
            </a:solidFill>
            <a:prstDash val="solid"/>
          </a:ln>
        </p:spPr>
      </p:sp>
      <p:sp>
        <p:nvSpPr>
          <p:cNvPr id="8" name="Shape 6"/>
          <p:cNvSpPr/>
          <p:nvPr/>
        </p:nvSpPr>
        <p:spPr>
          <a:xfrm>
            <a:off x="3063240" y="2647188"/>
            <a:ext cx="182880" cy="237744"/>
          </a:xfrm>
          <a:prstGeom prst="rightArrow">
            <a:avLst/>
          </a:prstGeom>
          <a:solidFill>
            <a:srgbClr val="5C6577"/>
          </a:solidFill>
          <a:ln w="12700">
            <a:solidFill>
              <a:srgbClr val="5C6577"/>
            </a:solidFill>
            <a:prstDash val="solid"/>
          </a:ln>
        </p:spPr>
      </p:sp>
      <p:sp>
        <p:nvSpPr>
          <p:cNvPr id="9" name="Shape 7"/>
          <p:cNvSpPr/>
          <p:nvPr/>
        </p:nvSpPr>
        <p:spPr>
          <a:xfrm>
            <a:off x="5897880" y="2647188"/>
            <a:ext cx="182880" cy="237744"/>
          </a:xfrm>
          <a:prstGeom prst="rightArrow">
            <a:avLst/>
          </a:prstGeom>
          <a:solidFill>
            <a:srgbClr val="5C6577"/>
          </a:solidFill>
          <a:ln w="12700">
            <a:solidFill>
              <a:srgbClr val="5C6577"/>
            </a:solidFill>
            <a:prstDash val="solid"/>
          </a:ln>
        </p:spPr>
      </p:sp>
      <p:pic>
        <p:nvPicPr>
          <p:cNvPr id="10" name="Image 0" descr="raw_pixels.png">    </p:cNvPr>
          <p:cNvPicPr>
            <a:picLocks noChangeAspect="1"/>
          </p:cNvPicPr>
          <p:nvPr/>
        </p:nvPicPr>
        <p:blipFill>
          <a:blip r:embed="rId1"/>
          <a:stretch>
            <a:fillRect/>
          </a:stretch>
        </p:blipFill>
        <p:spPr>
          <a:xfrm>
            <a:off x="502920" y="1947672"/>
            <a:ext cx="2468880" cy="1645920"/>
          </a:xfrm>
          <a:prstGeom prst="rect">
            <a:avLst/>
          </a:prstGeom>
        </p:spPr>
      </p:pic>
      <p:sp>
        <p:nvSpPr>
          <p:cNvPr id="11" name="Text 8"/>
          <p:cNvSpPr txBox="1"/>
          <p:nvPr/>
        </p:nvSpPr>
        <p:spPr>
          <a:xfrm>
            <a:off x="3474720" y="1975104"/>
            <a:ext cx="2194560" cy="228600"/>
          </a:xfrm>
          <a:prstGeom prst="rect">
            <a:avLst/>
          </a:prstGeom>
          <a:noFill/>
          <a:ln/>
        </p:spPr>
        <p:txBody>
          <a:bodyPr wrap="square" lIns="0" tIns="0" rIns="0" bIns="0" rtlCol="0" anchor="ctr"/>
          <a:lstStyle/>
          <a:p>
            <a:pPr indent="0" marL="0">
              <a:buNone/>
            </a:pPr>
            <a:r>
              <a:rPr lang="en-US" sz="1100" dirty="0">
                <a:solidFill>
                  <a:srgbClr val="5C6577"/>
                </a:solidFill>
                <a:latin typeface="Calibri" pitchFamily="34" charset="0"/>
                <a:ea typeface="Calibri" pitchFamily="34" charset="-122"/>
                <a:cs typeface="Calibri" pitchFamily="34" charset="-120"/>
              </a:rPr>
              <a:t>Possible answers:</a:t>
            </a:r>
            <a:endParaRPr lang="en-US" sz="1100" dirty="0"/>
          </a:p>
        </p:txBody>
      </p:sp>
      <p:sp>
        <p:nvSpPr>
          <p:cNvPr id="12" name="Shape 9"/>
          <p:cNvSpPr/>
          <p:nvPr/>
        </p:nvSpPr>
        <p:spPr>
          <a:xfrm>
            <a:off x="3474720" y="2221992"/>
            <a:ext cx="2194560" cy="621792"/>
          </a:xfrm>
          <a:prstGeom prst="roundRect">
            <a:avLst>
              <a:gd name="adj" fmla="val 8824"/>
            </a:avLst>
          </a:prstGeom>
          <a:solidFill>
            <a:srgbClr val="FFFFFF"/>
          </a:solidFill>
          <a:ln w="19050">
            <a:solidFill>
              <a:srgbClr val="2D5BC4"/>
            </a:solidFill>
            <a:prstDash val="solid"/>
          </a:ln>
        </p:spPr>
      </p:sp>
      <p:pic>
        <p:nvPicPr>
          <p:cNvPr id="13" name="Image 1" descr="seabass.jpg">    </p:cNvPr>
          <p:cNvPicPr>
            <a:picLocks noChangeAspect="1"/>
          </p:cNvPicPr>
          <p:nvPr/>
        </p:nvPicPr>
        <p:blipFill>
          <a:blip r:embed="rId2"/>
          <a:srcRect l="0" r="0" t="0" b="0"/>
          <a:stretch/>
        </p:blipFill>
        <p:spPr>
          <a:xfrm>
            <a:off x="3566160" y="2286000"/>
            <a:ext cx="914400" cy="493776"/>
          </a:xfrm>
          <a:prstGeom prst="rect">
            <a:avLst/>
          </a:prstGeom>
        </p:spPr>
      </p:pic>
      <p:sp>
        <p:nvSpPr>
          <p:cNvPr id="14" name="Text 10"/>
          <p:cNvSpPr txBox="1"/>
          <p:nvPr/>
        </p:nvSpPr>
        <p:spPr>
          <a:xfrm>
            <a:off x="4553712" y="2221992"/>
            <a:ext cx="1051560" cy="621792"/>
          </a:xfrm>
          <a:prstGeom prst="rect">
            <a:avLst/>
          </a:prstGeom>
          <a:noFill/>
          <a:ln/>
        </p:spPr>
        <p:txBody>
          <a:bodyPr wrap="square" lIns="0" tIns="0" rIns="0" bIns="0" rtlCol="0" anchor="ctr"/>
          <a:lstStyle/>
          <a:p>
            <a:pPr indent="0" marL="0">
              <a:buNone/>
            </a:pPr>
            <a:r>
              <a:rPr lang="en-US" sz="1500" b="1" dirty="0">
                <a:solidFill>
                  <a:srgbClr val="2D5BC4"/>
                </a:solidFill>
                <a:latin typeface="Calibri" pitchFamily="34" charset="0"/>
                <a:ea typeface="Calibri" pitchFamily="34" charset="-122"/>
                <a:cs typeface="Calibri" pitchFamily="34" charset="-120"/>
              </a:rPr>
              <a:t>sea bass</a:t>
            </a:r>
            <a:endParaRPr lang="en-US" sz="1500" dirty="0"/>
          </a:p>
        </p:txBody>
      </p:sp>
      <p:sp>
        <p:nvSpPr>
          <p:cNvPr id="15" name="Shape 11"/>
          <p:cNvSpPr/>
          <p:nvPr/>
        </p:nvSpPr>
        <p:spPr>
          <a:xfrm>
            <a:off x="3474720" y="2926080"/>
            <a:ext cx="2194560" cy="621792"/>
          </a:xfrm>
          <a:prstGeom prst="roundRect">
            <a:avLst>
              <a:gd name="adj" fmla="val 8824"/>
            </a:avLst>
          </a:prstGeom>
          <a:solidFill>
            <a:srgbClr val="FFFFFF"/>
          </a:solidFill>
          <a:ln w="19050">
            <a:solidFill>
              <a:srgbClr val="D9822B"/>
            </a:solidFill>
            <a:prstDash val="solid"/>
          </a:ln>
        </p:spPr>
      </p:sp>
      <p:pic>
        <p:nvPicPr>
          <p:cNvPr id="16" name="Image 2" descr="salmon.jpg">    </p:cNvPr>
          <p:cNvPicPr>
            <a:picLocks noChangeAspect="1"/>
          </p:cNvPicPr>
          <p:nvPr/>
        </p:nvPicPr>
        <p:blipFill>
          <a:blip r:embed="rId3"/>
          <a:srcRect l="0" r="0" t="0" b="0"/>
          <a:stretch/>
        </p:blipFill>
        <p:spPr>
          <a:xfrm>
            <a:off x="3566160" y="2990088"/>
            <a:ext cx="914400" cy="493776"/>
          </a:xfrm>
          <a:prstGeom prst="rect">
            <a:avLst/>
          </a:prstGeom>
        </p:spPr>
      </p:pic>
      <p:sp>
        <p:nvSpPr>
          <p:cNvPr id="17" name="Text 12"/>
          <p:cNvSpPr txBox="1"/>
          <p:nvPr/>
        </p:nvSpPr>
        <p:spPr>
          <a:xfrm>
            <a:off x="4553712" y="2926080"/>
            <a:ext cx="1051560" cy="621792"/>
          </a:xfrm>
          <a:prstGeom prst="rect">
            <a:avLst/>
          </a:prstGeom>
          <a:noFill/>
          <a:ln/>
        </p:spPr>
        <p:txBody>
          <a:bodyPr wrap="square" lIns="0" tIns="0" rIns="0" bIns="0" rtlCol="0" anchor="ctr"/>
          <a:lstStyle/>
          <a:p>
            <a:pPr indent="0" marL="0">
              <a:buNone/>
            </a:pPr>
            <a:r>
              <a:rPr lang="en-US" sz="1500" b="1" dirty="0">
                <a:solidFill>
                  <a:srgbClr val="D9822B"/>
                </a:solidFill>
                <a:latin typeface="Calibri" pitchFamily="34" charset="0"/>
                <a:ea typeface="Calibri" pitchFamily="34" charset="-122"/>
                <a:cs typeface="Calibri" pitchFamily="34" charset="-120"/>
              </a:rPr>
              <a:t>salmon</a:t>
            </a:r>
            <a:endParaRPr lang="en-US" sz="1500" dirty="0"/>
          </a:p>
        </p:txBody>
      </p:sp>
      <p:sp>
        <p:nvSpPr>
          <p:cNvPr id="18" name="Shape 13"/>
          <p:cNvSpPr/>
          <p:nvPr/>
        </p:nvSpPr>
        <p:spPr>
          <a:xfrm>
            <a:off x="6263640" y="2606040"/>
            <a:ext cx="1097280" cy="292608"/>
          </a:xfrm>
          <a:prstGeom prst="rect">
            <a:avLst/>
          </a:prstGeom>
          <a:solidFill>
            <a:srgbClr val="C9CED8"/>
          </a:solidFill>
          <a:ln w="12700">
            <a:solidFill>
              <a:srgbClr val="C9CED8"/>
            </a:solidFill>
            <a:prstDash val="solid"/>
          </a:ln>
        </p:spPr>
      </p:sp>
      <p:sp>
        <p:nvSpPr>
          <p:cNvPr id="19" name="Shape 14"/>
          <p:cNvSpPr/>
          <p:nvPr/>
        </p:nvSpPr>
        <p:spPr>
          <a:xfrm>
            <a:off x="6309360" y="2898648"/>
            <a:ext cx="109728" cy="109728"/>
          </a:xfrm>
          <a:prstGeom prst="ellipse">
            <a:avLst/>
          </a:prstGeom>
          <a:solidFill>
            <a:srgbClr val="9AA1AE"/>
          </a:solidFill>
          <a:ln w="12700">
            <a:solidFill>
              <a:srgbClr val="9AA1AE"/>
            </a:solidFill>
            <a:prstDash val="solid"/>
          </a:ln>
        </p:spPr>
      </p:sp>
      <p:sp>
        <p:nvSpPr>
          <p:cNvPr id="20" name="Shape 15"/>
          <p:cNvSpPr/>
          <p:nvPr/>
        </p:nvSpPr>
        <p:spPr>
          <a:xfrm>
            <a:off x="6583680" y="2898648"/>
            <a:ext cx="109728" cy="109728"/>
          </a:xfrm>
          <a:prstGeom prst="ellipse">
            <a:avLst/>
          </a:prstGeom>
          <a:solidFill>
            <a:srgbClr val="9AA1AE"/>
          </a:solidFill>
          <a:ln w="12700">
            <a:solidFill>
              <a:srgbClr val="9AA1AE"/>
            </a:solidFill>
            <a:prstDash val="solid"/>
          </a:ln>
        </p:spPr>
      </p:sp>
      <p:sp>
        <p:nvSpPr>
          <p:cNvPr id="21" name="Shape 16"/>
          <p:cNvSpPr/>
          <p:nvPr/>
        </p:nvSpPr>
        <p:spPr>
          <a:xfrm>
            <a:off x="6858000" y="2898648"/>
            <a:ext cx="109728" cy="109728"/>
          </a:xfrm>
          <a:prstGeom prst="ellipse">
            <a:avLst/>
          </a:prstGeom>
          <a:solidFill>
            <a:srgbClr val="9AA1AE"/>
          </a:solidFill>
          <a:ln w="12700">
            <a:solidFill>
              <a:srgbClr val="9AA1AE"/>
            </a:solidFill>
            <a:prstDash val="solid"/>
          </a:ln>
        </p:spPr>
      </p:sp>
      <p:sp>
        <p:nvSpPr>
          <p:cNvPr id="22" name="Shape 17"/>
          <p:cNvSpPr/>
          <p:nvPr/>
        </p:nvSpPr>
        <p:spPr>
          <a:xfrm>
            <a:off x="7132320" y="2898648"/>
            <a:ext cx="109728" cy="109728"/>
          </a:xfrm>
          <a:prstGeom prst="ellipse">
            <a:avLst/>
          </a:prstGeom>
          <a:solidFill>
            <a:srgbClr val="9AA1AE"/>
          </a:solidFill>
          <a:ln w="12700">
            <a:solidFill>
              <a:srgbClr val="9AA1AE"/>
            </a:solidFill>
            <a:prstDash val="solid"/>
          </a:ln>
        </p:spPr>
      </p:sp>
      <p:sp>
        <p:nvSpPr>
          <p:cNvPr id="23" name="Text 18"/>
          <p:cNvSpPr txBox="1"/>
          <p:nvPr/>
        </p:nvSpPr>
        <p:spPr>
          <a:xfrm>
            <a:off x="6263640" y="2606040"/>
            <a:ext cx="1097280" cy="292608"/>
          </a:xfrm>
          <a:prstGeom prst="rect">
            <a:avLst/>
          </a:prstGeom>
          <a:noFill/>
          <a:ln/>
        </p:spPr>
        <p:txBody>
          <a:bodyPr wrap="square" lIns="0" tIns="0" rIns="0" bIns="0" rtlCol="0" anchor="ctr"/>
          <a:lstStyle/>
          <a:p>
            <a:pPr algn="ctr" indent="0" marL="0">
              <a:buNone/>
            </a:pPr>
            <a:r>
              <a:rPr lang="en-US" sz="1100" dirty="0">
                <a:solidFill>
                  <a:srgbClr val="1B2130"/>
                </a:solidFill>
                <a:latin typeface="Calibri" pitchFamily="34" charset="0"/>
                <a:ea typeface="Calibri" pitchFamily="34" charset="-122"/>
                <a:cs typeface="Calibri" pitchFamily="34" charset="-120"/>
              </a:rPr>
              <a:t>belt</a:t>
            </a:r>
            <a:endParaRPr lang="en-US" sz="1100" dirty="0"/>
          </a:p>
        </p:txBody>
      </p:sp>
      <p:sp>
        <p:nvSpPr>
          <p:cNvPr id="24" name="Shape 19"/>
          <p:cNvSpPr/>
          <p:nvPr/>
        </p:nvSpPr>
        <p:spPr>
          <a:xfrm flipV="1">
            <a:off x="7360920" y="2340864"/>
            <a:ext cx="502920" cy="411480"/>
          </a:xfrm>
          <a:prstGeom prst="line">
            <a:avLst/>
          </a:prstGeom>
          <a:noFill/>
          <a:ln w="25400">
            <a:solidFill>
              <a:srgbClr val="2D5BC4"/>
            </a:solidFill>
            <a:prstDash val="solid"/>
            <a:tailEnd type="triangle"/>
          </a:ln>
        </p:spPr>
      </p:sp>
      <p:sp>
        <p:nvSpPr>
          <p:cNvPr id="25" name="Shape 20"/>
          <p:cNvSpPr/>
          <p:nvPr/>
        </p:nvSpPr>
        <p:spPr>
          <a:xfrm>
            <a:off x="7360920" y="2752344"/>
            <a:ext cx="502920" cy="411480"/>
          </a:xfrm>
          <a:prstGeom prst="line">
            <a:avLst/>
          </a:prstGeom>
          <a:noFill/>
          <a:ln w="25400">
            <a:solidFill>
              <a:srgbClr val="D9822B"/>
            </a:solidFill>
            <a:prstDash val="solid"/>
            <a:tailEnd type="triangle"/>
          </a:ln>
        </p:spPr>
      </p:sp>
      <p:sp>
        <p:nvSpPr>
          <p:cNvPr id="26" name="Shape 21"/>
          <p:cNvSpPr/>
          <p:nvPr/>
        </p:nvSpPr>
        <p:spPr>
          <a:xfrm>
            <a:off x="7909560" y="2084832"/>
            <a:ext cx="658368" cy="457200"/>
          </a:xfrm>
          <a:prstGeom prst="rect">
            <a:avLst/>
          </a:prstGeom>
          <a:solidFill>
            <a:srgbClr val="EEF2FB"/>
          </a:solidFill>
          <a:ln w="19050">
            <a:solidFill>
              <a:srgbClr val="2D5BC4"/>
            </a:solidFill>
            <a:prstDash val="solid"/>
          </a:ln>
        </p:spPr>
      </p:sp>
      <p:sp>
        <p:nvSpPr>
          <p:cNvPr id="27" name="Text 22"/>
          <p:cNvSpPr txBox="1"/>
          <p:nvPr/>
        </p:nvSpPr>
        <p:spPr>
          <a:xfrm>
            <a:off x="7909560" y="2084832"/>
            <a:ext cx="658368" cy="457200"/>
          </a:xfrm>
          <a:prstGeom prst="rect">
            <a:avLst/>
          </a:prstGeom>
          <a:noFill/>
          <a:ln/>
        </p:spPr>
        <p:txBody>
          <a:bodyPr wrap="square" lIns="0" tIns="0" rIns="0" bIns="0" rtlCol="0" anchor="ctr"/>
          <a:lstStyle/>
          <a:p>
            <a:pPr algn="ctr" indent="0" marL="0">
              <a:buNone/>
            </a:pPr>
            <a:r>
              <a:rPr lang="en-US" sz="1000" b="1" dirty="0">
                <a:solidFill>
                  <a:srgbClr val="2D5BC4"/>
                </a:solidFill>
                <a:latin typeface="Calibri" pitchFamily="34" charset="0"/>
                <a:ea typeface="Calibri" pitchFamily="34" charset="-122"/>
                <a:cs typeface="Calibri" pitchFamily="34" charset="-120"/>
              </a:rPr>
              <a:t>box A</a:t>
            </a:r>
            <a:endParaRPr lang="en-US" sz="1000" dirty="0"/>
          </a:p>
          <a:p>
            <a:pPr algn="ctr" indent="0" marL="0">
              <a:buNone/>
            </a:pPr>
            <a:r>
              <a:rPr lang="en-US" sz="1000" b="1" dirty="0">
                <a:solidFill>
                  <a:srgbClr val="2D5BC4"/>
                </a:solidFill>
                <a:latin typeface="Calibri" pitchFamily="34" charset="0"/>
                <a:ea typeface="Calibri" pitchFamily="34" charset="-122"/>
                <a:cs typeface="Calibri" pitchFamily="34" charset="-120"/>
              </a:rPr>
              <a:t>sea bass</a:t>
            </a:r>
            <a:endParaRPr lang="en-US" sz="1000" dirty="0"/>
          </a:p>
        </p:txBody>
      </p:sp>
      <p:sp>
        <p:nvSpPr>
          <p:cNvPr id="28" name="Shape 23"/>
          <p:cNvSpPr/>
          <p:nvPr/>
        </p:nvSpPr>
        <p:spPr>
          <a:xfrm>
            <a:off x="7909560" y="2971800"/>
            <a:ext cx="658368" cy="457200"/>
          </a:xfrm>
          <a:prstGeom prst="rect">
            <a:avLst/>
          </a:prstGeom>
          <a:solidFill>
            <a:srgbClr val="FBEFDF"/>
          </a:solidFill>
          <a:ln w="19050">
            <a:solidFill>
              <a:srgbClr val="D9822B"/>
            </a:solidFill>
            <a:prstDash val="solid"/>
          </a:ln>
        </p:spPr>
      </p:sp>
      <p:sp>
        <p:nvSpPr>
          <p:cNvPr id="29" name="Text 24"/>
          <p:cNvSpPr txBox="1"/>
          <p:nvPr/>
        </p:nvSpPr>
        <p:spPr>
          <a:xfrm>
            <a:off x="7909560" y="2971800"/>
            <a:ext cx="658368" cy="457200"/>
          </a:xfrm>
          <a:prstGeom prst="rect">
            <a:avLst/>
          </a:prstGeom>
          <a:noFill/>
          <a:ln/>
        </p:spPr>
        <p:txBody>
          <a:bodyPr wrap="square" lIns="0" tIns="0" rIns="0" bIns="0" rtlCol="0" anchor="ctr"/>
          <a:lstStyle/>
          <a:p>
            <a:pPr algn="ctr" indent="0" marL="0">
              <a:buNone/>
            </a:pPr>
            <a:r>
              <a:rPr lang="en-US" sz="1000" b="1" dirty="0">
                <a:solidFill>
                  <a:srgbClr val="D9822B"/>
                </a:solidFill>
                <a:latin typeface="Calibri" pitchFamily="34" charset="0"/>
                <a:ea typeface="Calibri" pitchFamily="34" charset="-122"/>
                <a:cs typeface="Calibri" pitchFamily="34" charset="-120"/>
              </a:rPr>
              <a:t>box B</a:t>
            </a:r>
            <a:endParaRPr lang="en-US" sz="1000" dirty="0"/>
          </a:p>
          <a:p>
            <a:pPr algn="ctr" indent="0" marL="0">
              <a:buNone/>
            </a:pPr>
            <a:r>
              <a:rPr lang="en-US" sz="1000" b="1" dirty="0">
                <a:solidFill>
                  <a:srgbClr val="D9822B"/>
                </a:solidFill>
                <a:latin typeface="Calibri" pitchFamily="34" charset="0"/>
                <a:ea typeface="Calibri" pitchFamily="34" charset="-122"/>
                <a:cs typeface="Calibri" pitchFamily="34" charset="-120"/>
              </a:rPr>
              <a:t>salmon</a:t>
            </a:r>
            <a:endParaRPr lang="en-US" sz="1000" dirty="0"/>
          </a:p>
        </p:txBody>
      </p:sp>
      <p:sp>
        <p:nvSpPr>
          <p:cNvPr id="30" name="Text 25"/>
          <p:cNvSpPr txBox="1"/>
          <p:nvPr/>
        </p:nvSpPr>
        <p:spPr>
          <a:xfrm>
            <a:off x="7178040" y="3063240"/>
            <a:ext cx="548640" cy="228600"/>
          </a:xfrm>
          <a:prstGeom prst="rect">
            <a:avLst/>
          </a:prstGeom>
          <a:noFill/>
          <a:ln/>
        </p:spPr>
        <p:txBody>
          <a:bodyPr wrap="square" lIns="0" tIns="0" rIns="0" bIns="0" rtlCol="0" anchor="ctr"/>
          <a:lstStyle/>
          <a:p>
            <a:pPr algn="ctr" indent="0" marL="0">
              <a:buNone/>
            </a:pPr>
            <a:r>
              <a:rPr lang="en-US" sz="1000" dirty="0">
                <a:solidFill>
                  <a:srgbClr val="5C6577"/>
                </a:solidFill>
                <a:latin typeface="Calibri" pitchFamily="34" charset="0"/>
                <a:ea typeface="Calibri" pitchFamily="34" charset="-122"/>
                <a:cs typeface="Calibri" pitchFamily="34" charset="-120"/>
              </a:rPr>
              <a:t>gate</a:t>
            </a:r>
            <a:endParaRPr lang="en-US" sz="1000" dirty="0"/>
          </a:p>
        </p:txBody>
      </p:sp>
      <p:sp>
        <p:nvSpPr>
          <p:cNvPr id="31" name="Text 26"/>
          <p:cNvSpPr txBox="1"/>
          <p:nvPr/>
        </p:nvSpPr>
        <p:spPr>
          <a:xfrm>
            <a:off x="457200" y="3703320"/>
            <a:ext cx="2560320" cy="868680"/>
          </a:xfrm>
          <a:prstGeom prst="rect">
            <a:avLst/>
          </a:prstGeom>
          <a:noFill/>
          <a:ln/>
        </p:spPr>
        <p:txBody>
          <a:bodyPr wrap="square" lIns="0" tIns="0" rIns="0" bIns="0" rtlCol="0" anchor="t"/>
          <a:lstStyle/>
          <a:p>
            <a:pPr algn="ctr" indent="0" marL="0">
              <a:buNone/>
            </a:pPr>
            <a:r>
              <a:rPr lang="en-US" sz="1600" b="1" dirty="0">
                <a:solidFill>
                  <a:srgbClr val="2D5BC4"/>
                </a:solidFill>
                <a:latin typeface="Calibri" pitchFamily="34" charset="0"/>
                <a:ea typeface="Calibri" pitchFamily="34" charset="-122"/>
                <a:cs typeface="Calibri" pitchFamily="34" charset="-120"/>
              </a:rPr>
              <a:t>raw data</a:t>
            </a:r>
            <a:endParaRPr lang="en-US" sz="1600" dirty="0"/>
          </a:p>
          <a:p>
            <a:pPr algn="ctr" indent="0" marL="0">
              <a:buNone/>
            </a:pPr>
            <a:r>
              <a:rPr lang="en-US" sz="1300" dirty="0">
                <a:solidFill>
                  <a:srgbClr val="5C6577"/>
                </a:solidFill>
                <a:latin typeface="Calibri" pitchFamily="34" charset="0"/>
                <a:ea typeface="Calibri" pitchFamily="34" charset="-122"/>
                <a:cs typeface="Calibri" pitchFamily="34" charset="-120"/>
              </a:rPr>
              <a:t>what the sensor gives</a:t>
            </a:r>
            <a:endParaRPr lang="en-US" sz="1600" dirty="0"/>
          </a:p>
          <a:p>
            <a:pPr algn="ctr" indent="0" marL="0">
              <a:buNone/>
            </a:pPr>
            <a:r>
              <a:rPr lang="en-US" sz="1200" i="1" dirty="0">
                <a:solidFill>
                  <a:srgbClr val="1B2130"/>
                </a:solidFill>
                <a:latin typeface="Calibri" pitchFamily="34" charset="0"/>
                <a:ea typeface="Calibri" pitchFamily="34" charset="-122"/>
                <a:cs typeface="Calibri" pitchFamily="34" charset="-120"/>
              </a:rPr>
              <a:t>A photo is a grid of numbers: 0 = black, 255 = white.</a:t>
            </a:r>
            <a:endParaRPr lang="en-US" sz="1600" dirty="0"/>
          </a:p>
        </p:txBody>
      </p:sp>
      <p:sp>
        <p:nvSpPr>
          <p:cNvPr id="32" name="Text 27"/>
          <p:cNvSpPr txBox="1"/>
          <p:nvPr/>
        </p:nvSpPr>
        <p:spPr>
          <a:xfrm>
            <a:off x="3291840" y="3703320"/>
            <a:ext cx="2560320" cy="868680"/>
          </a:xfrm>
          <a:prstGeom prst="rect">
            <a:avLst/>
          </a:prstGeom>
          <a:noFill/>
          <a:ln/>
        </p:spPr>
        <p:txBody>
          <a:bodyPr wrap="square" lIns="0" tIns="0" rIns="0" bIns="0" rtlCol="0" anchor="t"/>
          <a:lstStyle/>
          <a:p>
            <a:pPr algn="ctr" indent="0" marL="0">
              <a:buNone/>
            </a:pPr>
            <a:r>
              <a:rPr lang="en-US" sz="1600" b="1" dirty="0">
                <a:solidFill>
                  <a:srgbClr val="2D5BC4"/>
                </a:solidFill>
                <a:latin typeface="Calibri" pitchFamily="34" charset="0"/>
                <a:ea typeface="Calibri" pitchFamily="34" charset="-122"/>
                <a:cs typeface="Calibri" pitchFamily="34" charset="-120"/>
              </a:rPr>
              <a:t>category = class</a:t>
            </a:r>
            <a:endParaRPr lang="en-US" sz="1600" dirty="0"/>
          </a:p>
          <a:p>
            <a:pPr algn="ctr" indent="0" marL="0">
              <a:buNone/>
            </a:pPr>
            <a:r>
              <a:rPr lang="en-US" sz="1300" dirty="0">
                <a:solidFill>
                  <a:srgbClr val="5C6577"/>
                </a:solidFill>
                <a:latin typeface="Calibri" pitchFamily="34" charset="0"/>
                <a:ea typeface="Calibri" pitchFamily="34" charset="-122"/>
                <a:cs typeface="Calibri" pitchFamily="34" charset="-120"/>
              </a:rPr>
              <a:t>the possible answers</a:t>
            </a:r>
            <a:endParaRPr lang="en-US" sz="1600" dirty="0"/>
          </a:p>
          <a:p>
            <a:pPr algn="ctr" indent="0" marL="0">
              <a:buNone/>
            </a:pPr>
            <a:r>
              <a:rPr lang="en-US" sz="1200" i="1" dirty="0">
                <a:solidFill>
                  <a:srgbClr val="1B2130"/>
                </a:solidFill>
                <a:latin typeface="Calibri" pitchFamily="34" charset="0"/>
                <a:ea typeface="Calibri" pitchFamily="34" charset="-122"/>
                <a:cs typeface="Calibri" pitchFamily="34" charset="-120"/>
              </a:rPr>
              <a:t>A fixed list, decided before we start.</a:t>
            </a:r>
            <a:endParaRPr lang="en-US" sz="1600" dirty="0"/>
          </a:p>
        </p:txBody>
      </p:sp>
      <p:sp>
        <p:nvSpPr>
          <p:cNvPr id="33" name="Text 28"/>
          <p:cNvSpPr txBox="1"/>
          <p:nvPr/>
        </p:nvSpPr>
        <p:spPr>
          <a:xfrm>
            <a:off x="6126480" y="3703320"/>
            <a:ext cx="2560320" cy="868680"/>
          </a:xfrm>
          <a:prstGeom prst="rect">
            <a:avLst/>
          </a:prstGeom>
          <a:noFill/>
          <a:ln/>
        </p:spPr>
        <p:txBody>
          <a:bodyPr wrap="square" lIns="0" tIns="0" rIns="0" bIns="0" rtlCol="0" anchor="t"/>
          <a:lstStyle/>
          <a:p>
            <a:pPr algn="ctr" indent="0" marL="0">
              <a:buNone/>
            </a:pPr>
            <a:r>
              <a:rPr lang="en-US" sz="1600" b="1" dirty="0">
                <a:solidFill>
                  <a:srgbClr val="2D5BC4"/>
                </a:solidFill>
                <a:latin typeface="Calibri" pitchFamily="34" charset="0"/>
                <a:ea typeface="Calibri" pitchFamily="34" charset="-122"/>
                <a:cs typeface="Calibri" pitchFamily="34" charset="-120"/>
              </a:rPr>
              <a:t>action</a:t>
            </a:r>
            <a:endParaRPr lang="en-US" sz="1600" dirty="0"/>
          </a:p>
          <a:p>
            <a:pPr algn="ctr" indent="0" marL="0">
              <a:buNone/>
            </a:pPr>
            <a:r>
              <a:rPr lang="en-US" sz="1300" dirty="0">
                <a:solidFill>
                  <a:srgbClr val="5C6577"/>
                </a:solidFill>
                <a:latin typeface="Calibri" pitchFamily="34" charset="0"/>
                <a:ea typeface="Calibri" pitchFamily="34" charset="-122"/>
                <a:cs typeface="Calibri" pitchFamily="34" charset="-120"/>
              </a:rPr>
              <a:t>what we do with the answer</a:t>
            </a:r>
            <a:endParaRPr lang="en-US" sz="1600" dirty="0"/>
          </a:p>
          <a:p>
            <a:pPr algn="ctr" indent="0" marL="0">
              <a:buNone/>
            </a:pPr>
            <a:r>
              <a:rPr lang="en-US" sz="1200" i="1" dirty="0">
                <a:solidFill>
                  <a:srgbClr val="1B2130"/>
                </a:solidFill>
                <a:latin typeface="Calibri" pitchFamily="34" charset="0"/>
                <a:ea typeface="Calibri" pitchFamily="34" charset="-122"/>
                <a:cs typeface="Calibri" pitchFamily="34" charset="-120"/>
              </a:rPr>
              <a:t>A gate pushes each fish into its box.</a:t>
            </a:r>
            <a:endParaRPr lang="en-US" sz="1600" dirty="0"/>
          </a:p>
        </p:txBody>
      </p:sp>
      <p:sp>
        <p:nvSpPr>
          <p:cNvPr id="34" name="Text 29"/>
          <p:cNvSpPr txBox="1"/>
          <p:nvPr/>
        </p:nvSpPr>
        <p:spPr>
          <a:xfrm>
            <a:off x="457200" y="4754880"/>
            <a:ext cx="5486400" cy="182880"/>
          </a:xfrm>
          <a:prstGeom prst="rect">
            <a:avLst/>
          </a:prstGeom>
          <a:noFill/>
          <a:ln/>
        </p:spPr>
        <p:txBody>
          <a:bodyPr wrap="square" lIns="0" tIns="0" rIns="0" bIns="0" rtlCol="0" anchor="ctr"/>
          <a:lstStyle/>
          <a:p>
            <a:pPr indent="0" marL="0">
              <a:buNone/>
            </a:pPr>
            <a:r>
              <a:rPr lang="en-US" sz="700" dirty="0">
                <a:solidFill>
                  <a:srgbClr val="8A93A3"/>
                </a:solidFill>
                <a:latin typeface="Calibri" pitchFamily="34" charset="0"/>
                <a:ea typeface="Calibri" pitchFamily="34" charset="-122"/>
                <a:cs typeface="Calibri" pitchFamily="34" charset="-120"/>
              </a:rPr>
              <a:t>Photos: sea bass, Hans Hillewaert, CC BY-SA 4.0 · salmon, T. Knepp, USFWS, public domain · Wikimedia Commons</a:t>
            </a:r>
            <a:endParaRPr lang="en-US" sz="700" dirty="0"/>
          </a:p>
        </p:txBody>
      </p:sp>
      <p:sp>
        <p:nvSpPr>
          <p:cNvPr id="35" name="Text 30"/>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1 · Video 1.1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Raw data and classes</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Notes §1.1, table</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685800"/>
                <a:gridCol w="2514600"/>
                <a:gridCol w="2514600"/>
                <a:gridCol w="2514600"/>
              </a:tblGrid>
              <a:tr h="411480">
                <a:tc>
                  <a:txBody>
                    <a:bodyPr/>
                    <a:lstStyle/>
                    <a:p>
                      <a:pPr indent="0" marL="0">
                        <a:buNone/>
                      </a:pP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600" b="1" dirty="0">
                          <a:solidFill>
                            <a:srgbClr val="5C6577"/>
                          </a:solidFill>
                          <a:latin typeface="Calibri" pitchFamily="34" charset="0"/>
                          <a:ea typeface="Calibri" pitchFamily="34" charset="-122"/>
                          <a:cs typeface="Calibri" pitchFamily="34" charset="-120"/>
                        </a:rPr>
                        <a:t>Application</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600" b="1" dirty="0">
                          <a:solidFill>
                            <a:srgbClr val="5C6577"/>
                          </a:solidFill>
                          <a:latin typeface="Calibri" pitchFamily="34" charset="0"/>
                          <a:ea typeface="Calibri" pitchFamily="34" charset="-122"/>
                          <a:cs typeface="Calibri" pitchFamily="34" charset="-120"/>
                        </a:rPr>
                        <a:t>Raw data</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600" b="1" dirty="0">
                          <a:solidFill>
                            <a:srgbClr val="5C6577"/>
                          </a:solidFill>
                          <a:latin typeface="Calibri" pitchFamily="34" charset="0"/>
                          <a:ea typeface="Calibri" pitchFamily="34" charset="-122"/>
                          <a:cs typeface="Calibri" pitchFamily="34" charset="-120"/>
                        </a:rPr>
                        <a:t>Classes</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r>
              <a:tr h="548640">
                <a:tc>
                  <a:txBody>
                    <a:bodyPr/>
                    <a:lstStyle/>
                    <a:p>
                      <a:pPr indent="0" marL="0">
                        <a:buNone/>
                      </a:pP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600" dirty="0">
                          <a:solidFill>
                            <a:srgbClr val="1B2130"/>
                          </a:solidFill>
                          <a:latin typeface="Calibri" pitchFamily="34" charset="0"/>
                          <a:ea typeface="Calibri" pitchFamily="34" charset="-122"/>
                          <a:cs typeface="Calibri" pitchFamily="34" charset="-120"/>
                        </a:rPr>
                        <a:t>Face unlock</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600" dirty="0">
                          <a:solidFill>
                            <a:srgbClr val="1B2130"/>
                          </a:solidFill>
                          <a:latin typeface="Calibri" pitchFamily="34" charset="0"/>
                          <a:ea typeface="Calibri" pitchFamily="34" charset="-122"/>
                          <a:cs typeface="Calibri" pitchFamily="34" charset="-120"/>
                        </a:rPr>
                        <a:t>camera image</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600" dirty="0">
                          <a:solidFill>
                            <a:srgbClr val="1B2130"/>
                          </a:solidFill>
                          <a:latin typeface="Calibri" pitchFamily="34" charset="0"/>
                          <a:ea typeface="Calibri" pitchFamily="34" charset="-122"/>
                          <a:cs typeface="Calibri" pitchFamily="34" charset="-120"/>
                        </a:rPr>
                        <a:t>owner / not the owner</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r>
              <a:tr h="548640">
                <a:tc>
                  <a:txBody>
                    <a:bodyPr/>
                    <a:lstStyle/>
                    <a:p>
                      <a:pPr indent="0" marL="0">
                        <a:buNone/>
                      </a:pP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600" dirty="0">
                          <a:solidFill>
                            <a:srgbClr val="1B2130"/>
                          </a:solidFill>
                          <a:latin typeface="Calibri" pitchFamily="34" charset="0"/>
                          <a:ea typeface="Calibri" pitchFamily="34" charset="-122"/>
                          <a:cs typeface="Calibri" pitchFamily="34" charset="-120"/>
                        </a:rPr>
                        <a:t>Spam filter</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600" dirty="0">
                          <a:solidFill>
                            <a:srgbClr val="1B2130"/>
                          </a:solidFill>
                          <a:latin typeface="Calibri" pitchFamily="34" charset="0"/>
                          <a:ea typeface="Calibri" pitchFamily="34" charset="-122"/>
                          <a:cs typeface="Calibri" pitchFamily="34" charset="-120"/>
                        </a:rPr>
                        <a:t>e-mail text</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600" dirty="0">
                          <a:solidFill>
                            <a:srgbClr val="1B2130"/>
                          </a:solidFill>
                          <a:latin typeface="Calibri" pitchFamily="34" charset="0"/>
                          <a:ea typeface="Calibri" pitchFamily="34" charset="-122"/>
                          <a:cs typeface="Calibri" pitchFamily="34" charset="-120"/>
                        </a:rPr>
                        <a:t>spam / not spam</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r>
              <a:tr h="548640">
                <a:tc>
                  <a:txBody>
                    <a:bodyPr/>
                    <a:lstStyle/>
                    <a:p>
                      <a:pPr indent="0" marL="0">
                        <a:buNone/>
                      </a:pP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600" dirty="0">
                          <a:solidFill>
                            <a:srgbClr val="1B2130"/>
                          </a:solidFill>
                          <a:latin typeface="Calibri" pitchFamily="34" charset="0"/>
                          <a:ea typeface="Calibri" pitchFamily="34" charset="-122"/>
                          <a:cs typeface="Calibri" pitchFamily="34" charset="-120"/>
                        </a:rPr>
                        <a:t>Number-plate reading</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600" dirty="0">
                          <a:solidFill>
                            <a:srgbClr val="1B2130"/>
                          </a:solidFill>
                          <a:latin typeface="Calibri" pitchFamily="34" charset="0"/>
                          <a:ea typeface="Calibri" pitchFamily="34" charset="-122"/>
                          <a:cs typeface="Calibri" pitchFamily="34" charset="-120"/>
                        </a:rPr>
                        <a:t>image of a car</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600" dirty="0">
                          <a:solidFill>
                            <a:srgbClr val="1B2130"/>
                          </a:solidFill>
                          <a:latin typeface="Calibri" pitchFamily="34" charset="0"/>
                          <a:ea typeface="Calibri" pitchFamily="34" charset="-122"/>
                          <a:cs typeface="Calibri" pitchFamily="34" charset="-120"/>
                        </a:rPr>
                        <a:t>0–9, A–Z</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r>
              <a:tr h="548640">
                <a:tc>
                  <a:txBody>
                    <a:bodyPr/>
                    <a:lstStyle/>
                    <a:p>
                      <a:pPr indent="0" marL="0">
                        <a:buNone/>
                      </a:pP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600" dirty="0">
                          <a:solidFill>
                            <a:srgbClr val="1B2130"/>
                          </a:solidFill>
                          <a:latin typeface="Calibri" pitchFamily="34" charset="0"/>
                          <a:ea typeface="Calibri" pitchFamily="34" charset="-122"/>
                          <a:cs typeface="Calibri" pitchFamily="34" charset="-120"/>
                        </a:rPr>
                        <a:t>Voice commands</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600" dirty="0">
                          <a:solidFill>
                            <a:srgbClr val="1B2130"/>
                          </a:solidFill>
                          <a:latin typeface="Calibri" pitchFamily="34" charset="0"/>
                          <a:ea typeface="Calibri" pitchFamily="34" charset="-122"/>
                          <a:cs typeface="Calibri" pitchFamily="34" charset="-120"/>
                        </a:rPr>
                        <a:t>sound</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600" dirty="0">
                          <a:solidFill>
                            <a:srgbClr val="1B2130"/>
                          </a:solidFill>
                          <a:latin typeface="Calibri" pitchFamily="34" charset="0"/>
                          <a:ea typeface="Calibri" pitchFamily="34" charset="-122"/>
                          <a:cs typeface="Calibri" pitchFamily="34" charset="-120"/>
                        </a:rPr>
                        <a:t>“call”, “stop”, …</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r>
              <a:tr h="548640">
                <a:tc>
                  <a:txBody>
                    <a:bodyPr/>
                    <a:lstStyle/>
                    <a:p>
                      <a:pPr indent="0" marL="0">
                        <a:buNone/>
                      </a:pP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600" dirty="0">
                          <a:solidFill>
                            <a:srgbClr val="1B2130"/>
                          </a:solidFill>
                          <a:latin typeface="Calibri" pitchFamily="34" charset="0"/>
                          <a:ea typeface="Calibri" pitchFamily="34" charset="-122"/>
                          <a:cs typeface="Calibri" pitchFamily="34" charset="-120"/>
                        </a:rPr>
                        <a:t>Machine monitoring</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600" dirty="0">
                          <a:solidFill>
                            <a:srgbClr val="1B2130"/>
                          </a:solidFill>
                          <a:latin typeface="Calibri" pitchFamily="34" charset="0"/>
                          <a:ea typeface="Calibri" pitchFamily="34" charset="-122"/>
                          <a:cs typeface="Calibri" pitchFamily="34" charset="-120"/>
                        </a:rPr>
                        <a:t>temperature, vibration</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r>
                        <a:rPr lang="en-US" sz="1600" dirty="0">
                          <a:solidFill>
                            <a:srgbClr val="1B2130"/>
                          </a:solidFill>
                          <a:latin typeface="Calibri" pitchFamily="34" charset="0"/>
                          <a:ea typeface="Calibri" pitchFamily="34" charset="-122"/>
                          <a:cs typeface="Calibri" pitchFamily="34" charset="-120"/>
                        </a:rPr>
                        <a:t>normal / faulty</a:t>
                      </a:r>
                      <a:endParaRPr lang="en-US" sz="16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r>
            </a:tbl>
          </a:graphicData>
        </a:graphic>
      </p:graphicFrame>
      <p:sp>
        <p:nvSpPr>
          <p:cNvPr id="5" name="Text 2"/>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1 · Video 1.1</a:t>
            </a:r>
            <a:endParaRPr lang="en-US" sz="1000" dirty="0"/>
          </a:p>
        </p:txBody>
      </p:sp>
      <p:pic>
        <p:nvPicPr>
          <p:cNvPr id="6" name="Image 0" descr="face_login.jpg">    </p:cNvPr>
          <p:cNvPicPr>
            <a:picLocks noChangeAspect="1"/>
          </p:cNvPicPr>
          <p:nvPr/>
        </p:nvPicPr>
        <p:blipFill>
          <a:blip r:embed="rId1"/>
          <a:srcRect l="0" r="0" t="0" b="0"/>
          <a:stretch/>
        </p:blipFill>
        <p:spPr>
          <a:xfrm>
            <a:off x="530352" y="1746504"/>
            <a:ext cx="548640" cy="438912"/>
          </a:xfrm>
          <a:prstGeom prst="rect">
            <a:avLst/>
          </a:prstGeom>
        </p:spPr>
      </p:pic>
      <p:pic>
        <p:nvPicPr>
          <p:cNvPr id="7" name="Image 1" descr="ic_mail.png">    </p:cNvPr>
          <p:cNvPicPr>
            <a:picLocks noChangeAspect="1"/>
          </p:cNvPicPr>
          <p:nvPr/>
        </p:nvPicPr>
        <p:blipFill>
          <a:blip r:embed="rId2"/>
          <a:stretch>
            <a:fillRect/>
          </a:stretch>
        </p:blipFill>
        <p:spPr>
          <a:xfrm>
            <a:off x="640080" y="2359152"/>
            <a:ext cx="310896" cy="310896"/>
          </a:xfrm>
          <a:prstGeom prst="rect">
            <a:avLst/>
          </a:prstGeom>
        </p:spPr>
      </p:pic>
      <p:pic>
        <p:nvPicPr>
          <p:cNvPr id="8" name="Image 2" descr="anpr.jpg">    </p:cNvPr>
          <p:cNvPicPr>
            <a:picLocks noChangeAspect="1"/>
          </p:cNvPicPr>
          <p:nvPr/>
        </p:nvPicPr>
        <p:blipFill>
          <a:blip r:embed="rId3"/>
          <a:srcRect l="0" r="0" t="0" b="0"/>
          <a:stretch/>
        </p:blipFill>
        <p:spPr>
          <a:xfrm>
            <a:off x="530352" y="2843784"/>
            <a:ext cx="548640" cy="438912"/>
          </a:xfrm>
          <a:prstGeom prst="rect">
            <a:avLst/>
          </a:prstGeom>
        </p:spPr>
      </p:pic>
      <p:pic>
        <p:nvPicPr>
          <p:cNvPr id="9" name="Image 3" descr="microphone.jpg">    </p:cNvPr>
          <p:cNvPicPr>
            <a:picLocks noChangeAspect="1"/>
          </p:cNvPicPr>
          <p:nvPr/>
        </p:nvPicPr>
        <p:blipFill>
          <a:blip r:embed="rId4"/>
          <a:srcRect l="0" r="0" t="0" b="0"/>
          <a:stretch/>
        </p:blipFill>
        <p:spPr>
          <a:xfrm>
            <a:off x="530352" y="3392424"/>
            <a:ext cx="548640" cy="438912"/>
          </a:xfrm>
          <a:prstGeom prst="rect">
            <a:avLst/>
          </a:prstGeom>
        </p:spPr>
      </p:pic>
      <p:pic>
        <p:nvPicPr>
          <p:cNvPr id="10" name="Image 4" descr="ic_gear.png">    </p:cNvPr>
          <p:cNvPicPr>
            <a:picLocks noChangeAspect="1"/>
          </p:cNvPicPr>
          <p:nvPr/>
        </p:nvPicPr>
        <p:blipFill>
          <a:blip r:embed="rId5"/>
          <a:stretch>
            <a:fillRect/>
          </a:stretch>
        </p:blipFill>
        <p:spPr>
          <a:xfrm>
            <a:off x="640080" y="4005072"/>
            <a:ext cx="310896" cy="3108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130"/>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274320"/>
          </a:xfrm>
          <a:prstGeom prst="rect">
            <a:avLst/>
          </a:prstGeom>
          <a:noFill/>
          <a:ln/>
        </p:spPr>
        <p:txBody>
          <a:bodyPr wrap="square" lIns="0" tIns="0" rIns="0" bIns="0" rtlCol="0" anchor="ctr"/>
          <a:lstStyle/>
          <a:p>
            <a:pPr indent="0" marL="0">
              <a:buNone/>
            </a:pPr>
            <a:r>
              <a:rPr lang="en-US" sz="1200" spc="200" kern="0" dirty="0">
                <a:solidFill>
                  <a:srgbClr val="9FB7EE"/>
                </a:solidFill>
                <a:latin typeface="Calibri" pitchFamily="34" charset="0"/>
                <a:ea typeface="Calibri" pitchFamily="34" charset="-122"/>
                <a:cs typeface="Calibri" pitchFamily="34" charset="-120"/>
              </a:rPr>
              <a:t>VIDEO 1.2</a:t>
            </a:r>
            <a:endParaRPr lang="en-US" sz="1200" dirty="0"/>
          </a:p>
        </p:txBody>
      </p:sp>
      <p:sp>
        <p:nvSpPr>
          <p:cNvPr id="3" name="Text 1"/>
          <p:cNvSpPr txBox="1"/>
          <p:nvPr/>
        </p:nvSpPr>
        <p:spPr>
          <a:xfrm>
            <a:off x="548640" y="1005840"/>
            <a:ext cx="8046720" cy="13258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Sorting fish: choosing a feature</a:t>
            </a:r>
            <a:endParaRPr lang="en-US" sz="4000" dirty="0"/>
          </a:p>
        </p:txBody>
      </p:sp>
      <p:sp>
        <p:nvSpPr>
          <p:cNvPr id="4" name="Text 2"/>
          <p:cNvSpPr txBox="1"/>
          <p:nvPr/>
        </p:nvSpPr>
        <p:spPr>
          <a:xfrm>
            <a:off x="548640" y="2514600"/>
            <a:ext cx="7132320" cy="1005840"/>
          </a:xfrm>
          <a:prstGeom prst="rect">
            <a:avLst/>
          </a:prstGeom>
          <a:noFill/>
          <a:ln/>
        </p:spPr>
        <p:txBody>
          <a:bodyPr wrap="square" lIns="0" tIns="0" rIns="0" bIns="0" rtlCol="0" anchor="t"/>
          <a:lstStyle/>
          <a:p>
            <a:pPr indent="0" marL="0">
              <a:buNone/>
            </a:pPr>
            <a:r>
              <a:rPr lang="en-US" sz="1900" dirty="0">
                <a:solidFill>
                  <a:srgbClr val="D7DDEA"/>
                </a:solidFill>
                <a:latin typeface="Calibri" pitchFamily="34" charset="0"/>
                <a:ea typeface="Calibri" pitchFamily="34" charset="-122"/>
                <a:cs typeface="Calibri" pitchFamily="34" charset="-120"/>
              </a:rPr>
              <a:t>After this video you can read a feature histogram and count the errors of a threshold rule.</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The problem: a fish-packing plant</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Fish arrive on a belt and must go to the right box</a:t>
            </a:r>
            <a:endParaRPr lang="en-US" sz="1500" dirty="0"/>
          </a:p>
        </p:txBody>
      </p:sp>
      <p:pic>
        <p:nvPicPr>
          <p:cNvPr id="4" name="Image 0" descr="conveyor.jpg">    </p:cNvPr>
          <p:cNvPicPr>
            <a:picLocks noChangeAspect="1"/>
          </p:cNvPicPr>
          <p:nvPr/>
        </p:nvPicPr>
        <p:blipFill>
          <a:blip r:embed="rId1"/>
          <a:srcRect l="0" r="0" t="0" b="0"/>
          <a:stretch/>
        </p:blipFill>
        <p:spPr>
          <a:xfrm>
            <a:off x="457200" y="1234440"/>
            <a:ext cx="4023360" cy="2670048"/>
          </a:xfrm>
          <a:prstGeom prst="rect">
            <a:avLst/>
          </a:prstGeom>
        </p:spPr>
      </p:pic>
      <p:sp>
        <p:nvSpPr>
          <p:cNvPr id="5" name="Text 2"/>
          <p:cNvSpPr txBox="1"/>
          <p:nvPr/>
        </p:nvSpPr>
        <p:spPr>
          <a:xfrm>
            <a:off x="457200" y="3922776"/>
            <a:ext cx="4023360" cy="164592"/>
          </a:xfrm>
          <a:prstGeom prst="rect">
            <a:avLst/>
          </a:prstGeom>
          <a:noFill/>
          <a:ln/>
        </p:spPr>
        <p:txBody>
          <a:bodyPr wrap="square" lIns="0" tIns="0" rIns="0" bIns="0" rtlCol="0" anchor="ctr"/>
          <a:lstStyle/>
          <a:p>
            <a:pPr algn="l" indent="0" marL="0">
              <a:buNone/>
            </a:pPr>
            <a:r>
              <a:rPr lang="en-US" sz="700" dirty="0">
                <a:solidFill>
                  <a:srgbClr val="8A93A3"/>
                </a:solidFill>
                <a:latin typeface="Calibri" pitchFamily="34" charset="0"/>
                <a:ea typeface="Calibri" pitchFamily="34" charset="-122"/>
                <a:cs typeface="Calibri" pitchFamily="34" charset="-120"/>
              </a:rPr>
              <a:t>Photo: Jabbi · CC BY-SA 3.0 · Wikimedia Commons</a:t>
            </a:r>
            <a:endParaRPr lang="en-US" sz="700" dirty="0"/>
          </a:p>
        </p:txBody>
      </p:sp>
      <p:pic>
        <p:nvPicPr>
          <p:cNvPr id="6" name="Image 1" descr="sorting_hands.jpg">    </p:cNvPr>
          <p:cNvPicPr>
            <a:picLocks noChangeAspect="1"/>
          </p:cNvPicPr>
          <p:nvPr/>
        </p:nvPicPr>
        <p:blipFill>
          <a:blip r:embed="rId2"/>
          <a:srcRect l="0" r="0" t="0" b="0"/>
          <a:stretch/>
        </p:blipFill>
        <p:spPr>
          <a:xfrm>
            <a:off x="4663440" y="1234440"/>
            <a:ext cx="4023360" cy="2670048"/>
          </a:xfrm>
          <a:prstGeom prst="rect">
            <a:avLst/>
          </a:prstGeom>
        </p:spPr>
      </p:pic>
      <p:sp>
        <p:nvSpPr>
          <p:cNvPr id="7" name="Text 3"/>
          <p:cNvSpPr txBox="1"/>
          <p:nvPr/>
        </p:nvSpPr>
        <p:spPr>
          <a:xfrm>
            <a:off x="4663440" y="3922776"/>
            <a:ext cx="4023360" cy="164592"/>
          </a:xfrm>
          <a:prstGeom prst="rect">
            <a:avLst/>
          </a:prstGeom>
          <a:noFill/>
          <a:ln/>
        </p:spPr>
        <p:txBody>
          <a:bodyPr wrap="square" lIns="0" tIns="0" rIns="0" bIns="0" rtlCol="0" anchor="ctr"/>
          <a:lstStyle/>
          <a:p>
            <a:pPr algn="l" indent="0" marL="0">
              <a:buNone/>
            </a:pPr>
            <a:r>
              <a:rPr lang="en-US" sz="700" dirty="0">
                <a:solidFill>
                  <a:srgbClr val="8A93A3"/>
                </a:solidFill>
                <a:latin typeface="Calibri" pitchFamily="34" charset="0"/>
                <a:ea typeface="Calibri" pitchFamily="34" charset="-122"/>
                <a:cs typeface="Calibri" pitchFamily="34" charset="-120"/>
              </a:rPr>
              <a:t>Photo: Olivier Dugornay / IFREMER · CC BY 4.0 · Wikimedia Commons</a:t>
            </a:r>
            <a:endParaRPr lang="en-US" sz="700" dirty="0"/>
          </a:p>
        </p:txBody>
      </p:sp>
      <p:sp>
        <p:nvSpPr>
          <p:cNvPr id="8" name="Text 4"/>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600" dirty="0">
                <a:solidFill>
                  <a:srgbClr val="1B2130"/>
                </a:solidFill>
                <a:latin typeface="Calibri" pitchFamily="34" charset="0"/>
                <a:ea typeface="Calibri" pitchFamily="34" charset="-122"/>
                <a:cs typeface="Calibri" pitchFamily="34" charset="-120"/>
              </a:rPr>
              <a:t>Today people sort by eye. Can a camera above the belt do it automatically?</a:t>
            </a:r>
            <a:endParaRPr lang="en-US" sz="1600" dirty="0"/>
          </a:p>
        </p:txBody>
      </p:sp>
      <p:sp>
        <p:nvSpPr>
          <p:cNvPr id="9" name="Text 5"/>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1 · Video 1.2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Two species to separate</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What could a camera measure to tell them apart?</a:t>
            </a:r>
            <a:endParaRPr lang="en-US" sz="1500" dirty="0"/>
          </a:p>
        </p:txBody>
      </p:sp>
      <p:pic>
        <p:nvPicPr>
          <p:cNvPr id="4" name="Image 0" descr="seabass.jpg">    </p:cNvPr>
          <p:cNvPicPr>
            <a:picLocks noChangeAspect="1"/>
          </p:cNvPicPr>
          <p:nvPr/>
        </p:nvPicPr>
        <p:blipFill>
          <a:blip r:embed="rId1"/>
          <a:srcRect l="0" r="0" t="0" b="0"/>
          <a:stretch/>
        </p:blipFill>
        <p:spPr>
          <a:xfrm>
            <a:off x="457200" y="1234440"/>
            <a:ext cx="4023360" cy="2377440"/>
          </a:xfrm>
          <a:prstGeom prst="rect">
            <a:avLst/>
          </a:prstGeom>
        </p:spPr>
      </p:pic>
      <p:sp>
        <p:nvSpPr>
          <p:cNvPr id="5" name="Text 2"/>
          <p:cNvSpPr txBox="1"/>
          <p:nvPr/>
        </p:nvSpPr>
        <p:spPr>
          <a:xfrm>
            <a:off x="457200" y="3630168"/>
            <a:ext cx="4023360" cy="164592"/>
          </a:xfrm>
          <a:prstGeom prst="rect">
            <a:avLst/>
          </a:prstGeom>
          <a:noFill/>
          <a:ln/>
        </p:spPr>
        <p:txBody>
          <a:bodyPr wrap="square" lIns="0" tIns="0" rIns="0" bIns="0" rtlCol="0" anchor="ctr"/>
          <a:lstStyle/>
          <a:p>
            <a:pPr algn="l" indent="0" marL="0">
              <a:buNone/>
            </a:pPr>
            <a:r>
              <a:rPr lang="en-US" sz="700" dirty="0">
                <a:solidFill>
                  <a:srgbClr val="8A93A3"/>
                </a:solidFill>
                <a:latin typeface="Calibri" pitchFamily="34" charset="0"/>
                <a:ea typeface="Calibri" pitchFamily="34" charset="-122"/>
                <a:cs typeface="Calibri" pitchFamily="34" charset="-120"/>
              </a:rPr>
              <a:t>Photo: Hans Hillewaert · CC BY-SA 4.0 · Wikimedia Commons</a:t>
            </a:r>
            <a:endParaRPr lang="en-US" sz="700" dirty="0"/>
          </a:p>
        </p:txBody>
      </p:sp>
      <p:pic>
        <p:nvPicPr>
          <p:cNvPr id="6" name="Image 1" descr="salmon.jpg">    </p:cNvPr>
          <p:cNvPicPr>
            <a:picLocks noChangeAspect="1"/>
          </p:cNvPicPr>
          <p:nvPr/>
        </p:nvPicPr>
        <p:blipFill>
          <a:blip r:embed="rId2"/>
          <a:srcRect l="0" r="0" t="0" b="0"/>
          <a:stretch/>
        </p:blipFill>
        <p:spPr>
          <a:xfrm>
            <a:off x="4663440" y="1234440"/>
            <a:ext cx="4023360" cy="2377440"/>
          </a:xfrm>
          <a:prstGeom prst="rect">
            <a:avLst/>
          </a:prstGeom>
        </p:spPr>
      </p:pic>
      <p:sp>
        <p:nvSpPr>
          <p:cNvPr id="7" name="Text 3"/>
          <p:cNvSpPr txBox="1"/>
          <p:nvPr/>
        </p:nvSpPr>
        <p:spPr>
          <a:xfrm>
            <a:off x="4663440" y="3630168"/>
            <a:ext cx="4023360" cy="164592"/>
          </a:xfrm>
          <a:prstGeom prst="rect">
            <a:avLst/>
          </a:prstGeom>
          <a:noFill/>
          <a:ln/>
        </p:spPr>
        <p:txBody>
          <a:bodyPr wrap="square" lIns="0" tIns="0" rIns="0" bIns="0" rtlCol="0" anchor="ctr"/>
          <a:lstStyle/>
          <a:p>
            <a:pPr algn="l" indent="0" marL="0">
              <a:buNone/>
            </a:pPr>
            <a:r>
              <a:rPr lang="en-US" sz="700" dirty="0">
                <a:solidFill>
                  <a:srgbClr val="8A93A3"/>
                </a:solidFill>
                <a:latin typeface="Calibri" pitchFamily="34" charset="0"/>
                <a:ea typeface="Calibri" pitchFamily="34" charset="-122"/>
                <a:cs typeface="Calibri" pitchFamily="34" charset="-120"/>
              </a:rPr>
              <a:t>Photo: Timothy Knepp, U.S. Fish and Wildlife Service · Public domain · Wikimedia Commons</a:t>
            </a:r>
            <a:endParaRPr lang="en-US" sz="700" dirty="0"/>
          </a:p>
        </p:txBody>
      </p:sp>
      <p:sp>
        <p:nvSpPr>
          <p:cNvPr id="8" name="Text 4"/>
          <p:cNvSpPr txBox="1"/>
          <p:nvPr/>
        </p:nvSpPr>
        <p:spPr>
          <a:xfrm>
            <a:off x="457200" y="3840480"/>
            <a:ext cx="4023360" cy="365760"/>
          </a:xfrm>
          <a:prstGeom prst="rect">
            <a:avLst/>
          </a:prstGeom>
          <a:noFill/>
          <a:ln/>
        </p:spPr>
        <p:txBody>
          <a:bodyPr wrap="square" lIns="0" tIns="0" rIns="0" bIns="0" rtlCol="0" anchor="ctr"/>
          <a:lstStyle/>
          <a:p>
            <a:pPr indent="0" marL="0">
              <a:buNone/>
            </a:pPr>
            <a:r>
              <a:rPr lang="en-US" sz="2000" b="1" dirty="0">
                <a:solidFill>
                  <a:srgbClr val="2D5BC4"/>
                </a:solidFill>
                <a:latin typeface="Cambria" pitchFamily="34" charset="0"/>
                <a:ea typeface="Cambria" pitchFamily="34" charset="-122"/>
                <a:cs typeface="Cambria" pitchFamily="34" charset="-120"/>
              </a:rPr>
              <a:t>Sea bass</a:t>
            </a:r>
            <a:endParaRPr lang="en-US" sz="2000" dirty="0"/>
          </a:p>
        </p:txBody>
      </p:sp>
      <p:sp>
        <p:nvSpPr>
          <p:cNvPr id="9" name="Text 5"/>
          <p:cNvSpPr txBox="1"/>
          <p:nvPr/>
        </p:nvSpPr>
        <p:spPr>
          <a:xfrm>
            <a:off x="4663440" y="3840480"/>
            <a:ext cx="4023360" cy="365760"/>
          </a:xfrm>
          <a:prstGeom prst="rect">
            <a:avLst/>
          </a:prstGeom>
          <a:noFill/>
          <a:ln/>
        </p:spPr>
        <p:txBody>
          <a:bodyPr wrap="square" lIns="0" tIns="0" rIns="0" bIns="0" rtlCol="0" anchor="ctr"/>
          <a:lstStyle/>
          <a:p>
            <a:pPr indent="0" marL="0">
              <a:buNone/>
            </a:pPr>
            <a:r>
              <a:rPr lang="en-US" sz="2000" b="1" dirty="0">
                <a:solidFill>
                  <a:srgbClr val="D9822B"/>
                </a:solidFill>
                <a:latin typeface="Cambria" pitchFamily="34" charset="0"/>
                <a:ea typeface="Cambria" pitchFamily="34" charset="-122"/>
                <a:cs typeface="Cambria" pitchFamily="34" charset="-120"/>
              </a:rPr>
              <a:t>Salmon</a:t>
            </a:r>
            <a:endParaRPr lang="en-US" sz="2000" dirty="0"/>
          </a:p>
        </p:txBody>
      </p:sp>
      <p:sp>
        <p:nvSpPr>
          <p:cNvPr id="10" name="Text 6"/>
          <p:cNvSpPr txBox="1"/>
          <p:nvPr/>
        </p:nvSpPr>
        <p:spPr>
          <a:xfrm>
            <a:off x="457200" y="4297680"/>
            <a:ext cx="8229600" cy="320040"/>
          </a:xfrm>
          <a:prstGeom prst="rect">
            <a:avLst/>
          </a:prstGeom>
          <a:noFill/>
          <a:ln/>
        </p:spPr>
        <p:txBody>
          <a:bodyPr wrap="square" lIns="0" tIns="0" rIns="0" bIns="0" rtlCol="0" anchor="ctr"/>
          <a:lstStyle/>
          <a:p>
            <a:pPr indent="0" marL="0">
              <a:buNone/>
            </a:pPr>
            <a:r>
              <a:rPr lang="en-US" sz="1400" dirty="0">
                <a:solidFill>
                  <a:srgbClr val="5C6577"/>
                </a:solidFill>
                <a:latin typeface="Calibri" pitchFamily="34" charset="0"/>
                <a:ea typeface="Calibri" pitchFamily="34" charset="-122"/>
                <a:cs typeface="Calibri" pitchFamily="34" charset="-120"/>
              </a:rPr>
              <a:t>Candidates: length, width, lightness, shape of the fins, position of the mouth, spots…</a:t>
            </a:r>
            <a:endParaRPr lang="en-US" sz="1400" dirty="0"/>
          </a:p>
        </p:txBody>
      </p:sp>
      <p:sp>
        <p:nvSpPr>
          <p:cNvPr id="11" name="Text 7"/>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1 · Video 1.2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Feature 1: length</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Sea bass are longer… on average</a:t>
            </a:r>
            <a:endParaRPr lang="en-US" sz="1500" dirty="0"/>
          </a:p>
        </p:txBody>
      </p:sp>
      <p:pic>
        <p:nvPicPr>
          <p:cNvPr id="4" name="Image 0" descr="fig1_length.png">    </p:cNvPr>
          <p:cNvPicPr>
            <a:picLocks noChangeAspect="1"/>
          </p:cNvPicPr>
          <p:nvPr/>
        </p:nvPicPr>
        <p:blipFill>
          <a:blip r:embed="rId1"/>
          <a:stretch>
            <a:fillRect/>
          </a:stretch>
        </p:blipFill>
        <p:spPr>
          <a:xfrm>
            <a:off x="457200" y="1234440"/>
            <a:ext cx="5394960" cy="2313432"/>
          </a:xfrm>
          <a:prstGeom prst="rect">
            <a:avLst/>
          </a:prstGeom>
        </p:spPr>
      </p:pic>
      <p:sp>
        <p:nvSpPr>
          <p:cNvPr id="5" name="Shape 2"/>
          <p:cNvSpPr/>
          <p:nvPr/>
        </p:nvSpPr>
        <p:spPr>
          <a:xfrm>
            <a:off x="6126480" y="1234440"/>
            <a:ext cx="2560320" cy="960120"/>
          </a:xfrm>
          <a:prstGeom prst="roundRect">
            <a:avLst>
              <a:gd name="adj" fmla="val 7619"/>
            </a:avLst>
          </a:prstGeom>
          <a:solidFill>
            <a:srgbClr val="FBEFDF"/>
          </a:solidFill>
          <a:ln w="12700">
            <a:solidFill>
              <a:srgbClr val="FBEFDF"/>
            </a:solidFill>
            <a:prstDash val="solid"/>
          </a:ln>
        </p:spPr>
      </p:sp>
      <p:pic>
        <p:nvPicPr>
          <p:cNvPr id="6" name="Image 1" descr="inset_length.png">    </p:cNvPr>
          <p:cNvPicPr>
            <a:picLocks noChangeAspect="1"/>
          </p:cNvPicPr>
          <p:nvPr/>
        </p:nvPicPr>
        <p:blipFill>
          <a:blip r:embed="rId2"/>
          <a:stretch>
            <a:fillRect/>
          </a:stretch>
        </p:blipFill>
        <p:spPr>
          <a:xfrm>
            <a:off x="6126480" y="2331720"/>
            <a:ext cx="2560320" cy="1188720"/>
          </a:xfrm>
          <a:prstGeom prst="rect">
            <a:avLst/>
          </a:prstGeom>
        </p:spPr>
      </p:pic>
      <p:sp>
        <p:nvSpPr>
          <p:cNvPr id="7" name="Text 3"/>
          <p:cNvSpPr txBox="1"/>
          <p:nvPr/>
        </p:nvSpPr>
        <p:spPr>
          <a:xfrm>
            <a:off x="6126480" y="3538728"/>
            <a:ext cx="2560320" cy="137160"/>
          </a:xfrm>
          <a:prstGeom prst="rect">
            <a:avLst/>
          </a:prstGeom>
          <a:noFill/>
          <a:ln/>
        </p:spPr>
        <p:txBody>
          <a:bodyPr wrap="square" lIns="0" tIns="0" rIns="0" bIns="0" rtlCol="0" anchor="ctr"/>
          <a:lstStyle/>
          <a:p>
            <a:pPr indent="0" marL="0">
              <a:buNone/>
            </a:pPr>
            <a:r>
              <a:rPr lang="en-US" sz="600" dirty="0">
                <a:solidFill>
                  <a:srgbClr val="8A93A3"/>
                </a:solidFill>
                <a:latin typeface="Calibri" pitchFamily="34" charset="0"/>
                <a:ea typeface="Calibri" pitchFamily="34" charset="-122"/>
                <a:cs typeface="Calibri" pitchFamily="34" charset="-120"/>
              </a:rPr>
              <a:t>Photo: Hans Hillewaert · CC BY-SA 4.0 · Wikimedia Commons</a:t>
            </a:r>
            <a:endParaRPr lang="en-US" sz="600" dirty="0"/>
          </a:p>
        </p:txBody>
      </p:sp>
      <p:sp>
        <p:nvSpPr>
          <p:cNvPr id="8" name="Text 4"/>
          <p:cNvSpPr txBox="1"/>
          <p:nvPr/>
        </p:nvSpPr>
        <p:spPr>
          <a:xfrm>
            <a:off x="6263640" y="1261872"/>
            <a:ext cx="2286000" cy="914400"/>
          </a:xfrm>
          <a:prstGeom prst="rect">
            <a:avLst/>
          </a:prstGeom>
          <a:noFill/>
          <a:ln/>
        </p:spPr>
        <p:txBody>
          <a:bodyPr wrap="square" lIns="0" tIns="0" rIns="0" bIns="0" rtlCol="0" anchor="ctr"/>
          <a:lstStyle/>
          <a:p>
            <a:pPr algn="ctr" indent="0" marL="0">
              <a:buNone/>
            </a:pPr>
            <a:r>
              <a:rPr lang="en-US" sz="3000" b="1" dirty="0">
                <a:solidFill>
                  <a:srgbClr val="D9822B"/>
                </a:solidFill>
                <a:latin typeface="Cambria" pitchFamily="34" charset="0"/>
                <a:ea typeface="Cambria" pitchFamily="34" charset="-122"/>
                <a:cs typeface="Cambria" pitchFamily="34" charset="-120"/>
              </a:rPr>
              <a:t>≈ 26%</a:t>
            </a:r>
            <a:endParaRPr lang="en-US" sz="3000" dirty="0"/>
          </a:p>
          <a:p>
            <a:pPr algn="ctr" indent="0" marL="0">
              <a:buNone/>
            </a:pPr>
            <a:r>
              <a:rPr lang="en-US" sz="1400" dirty="0">
                <a:solidFill>
                  <a:srgbClr val="1B2130"/>
                </a:solidFill>
                <a:latin typeface="Calibri" pitchFamily="34" charset="0"/>
                <a:ea typeface="Calibri" pitchFamily="34" charset="-122"/>
                <a:cs typeface="Calibri" pitchFamily="34" charset="-120"/>
              </a:rPr>
              <a:t>errors, even with the best threshold</a:t>
            </a:r>
            <a:endParaRPr lang="en-US" sz="3000" dirty="0"/>
          </a:p>
        </p:txBody>
      </p:sp>
      <p:sp>
        <p:nvSpPr>
          <p:cNvPr id="9" name="Text 5"/>
          <p:cNvSpPr txBox="1"/>
          <p:nvPr/>
        </p:nvSpPr>
        <p:spPr>
          <a:xfrm>
            <a:off x="457200" y="3931920"/>
            <a:ext cx="8229600" cy="365760"/>
          </a:xfrm>
          <a:prstGeom prst="rect">
            <a:avLst/>
          </a:prstGeom>
          <a:noFill/>
          <a:ln/>
        </p:spPr>
        <p:txBody>
          <a:bodyPr wrap="square" lIns="0" tIns="0" rIns="0" bIns="0" rtlCol="0" anchor="ctr"/>
          <a:lstStyle/>
          <a:p>
            <a:pPr indent="0" marL="0">
              <a:buNone/>
            </a:pPr>
            <a:r>
              <a:rPr lang="en-US" sz="1600" dirty="0">
                <a:solidFill>
                  <a:srgbClr val="1B2130"/>
                </a:solidFill>
                <a:latin typeface="Calibri" pitchFamily="34" charset="0"/>
                <a:ea typeface="Calibri" pitchFamily="34" charset="-122"/>
                <a:cs typeface="Calibri" pitchFamily="34" charset="-120"/>
              </a:rPr>
              <a:t>The two groups overlap too much. Length is a poor feature for this task.</a:t>
            </a:r>
            <a:endParaRPr lang="en-US" sz="1600" dirty="0"/>
          </a:p>
        </p:txBody>
      </p:sp>
      <p:sp>
        <p:nvSpPr>
          <p:cNvPr id="10" name="Text 6"/>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1 · Video 1.2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Feature 2: lightness</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Salmon are darker</a:t>
            </a:r>
            <a:endParaRPr lang="en-US" sz="1500" dirty="0"/>
          </a:p>
        </p:txBody>
      </p:sp>
      <p:pic>
        <p:nvPicPr>
          <p:cNvPr id="4" name="Image 0" descr="fig2_lightness.png">    </p:cNvPr>
          <p:cNvPicPr>
            <a:picLocks noChangeAspect="1"/>
          </p:cNvPicPr>
          <p:nvPr/>
        </p:nvPicPr>
        <p:blipFill>
          <a:blip r:embed="rId1"/>
          <a:stretch>
            <a:fillRect/>
          </a:stretch>
        </p:blipFill>
        <p:spPr>
          <a:xfrm>
            <a:off x="457200" y="1234440"/>
            <a:ext cx="5394960" cy="2313432"/>
          </a:xfrm>
          <a:prstGeom prst="rect">
            <a:avLst/>
          </a:prstGeom>
        </p:spPr>
      </p:pic>
      <p:sp>
        <p:nvSpPr>
          <p:cNvPr id="5" name="Shape 2"/>
          <p:cNvSpPr/>
          <p:nvPr/>
        </p:nvSpPr>
        <p:spPr>
          <a:xfrm>
            <a:off x="6126480" y="1234440"/>
            <a:ext cx="2560320" cy="960120"/>
          </a:xfrm>
          <a:prstGeom prst="roundRect">
            <a:avLst>
              <a:gd name="adj" fmla="val 7619"/>
            </a:avLst>
          </a:prstGeom>
          <a:solidFill>
            <a:srgbClr val="E8F5EE"/>
          </a:solidFill>
          <a:ln w="12700">
            <a:solidFill>
              <a:srgbClr val="E8F5EE"/>
            </a:solidFill>
            <a:prstDash val="solid"/>
          </a:ln>
        </p:spPr>
      </p:sp>
      <p:pic>
        <p:nvPicPr>
          <p:cNvPr id="6" name="Image 1" descr="inset_lightness.png">    </p:cNvPr>
          <p:cNvPicPr>
            <a:picLocks noChangeAspect="1"/>
          </p:cNvPicPr>
          <p:nvPr/>
        </p:nvPicPr>
        <p:blipFill>
          <a:blip r:embed="rId2"/>
          <a:stretch>
            <a:fillRect/>
          </a:stretch>
        </p:blipFill>
        <p:spPr>
          <a:xfrm>
            <a:off x="6126480" y="2331720"/>
            <a:ext cx="2560320" cy="1188720"/>
          </a:xfrm>
          <a:prstGeom prst="rect">
            <a:avLst/>
          </a:prstGeom>
        </p:spPr>
      </p:pic>
      <p:sp>
        <p:nvSpPr>
          <p:cNvPr id="7" name="Text 3"/>
          <p:cNvSpPr txBox="1"/>
          <p:nvPr/>
        </p:nvSpPr>
        <p:spPr>
          <a:xfrm>
            <a:off x="6126480" y="3538728"/>
            <a:ext cx="2560320" cy="137160"/>
          </a:xfrm>
          <a:prstGeom prst="rect">
            <a:avLst/>
          </a:prstGeom>
          <a:noFill/>
          <a:ln/>
        </p:spPr>
        <p:txBody>
          <a:bodyPr wrap="square" lIns="0" tIns="0" rIns="0" bIns="0" rtlCol="0" anchor="ctr"/>
          <a:lstStyle/>
          <a:p>
            <a:pPr indent="0" marL="0">
              <a:buNone/>
            </a:pPr>
            <a:r>
              <a:rPr lang="en-US" sz="600" dirty="0">
                <a:solidFill>
                  <a:srgbClr val="8A93A3"/>
                </a:solidFill>
                <a:latin typeface="Calibri" pitchFamily="34" charset="0"/>
                <a:ea typeface="Calibri" pitchFamily="34" charset="-122"/>
                <a:cs typeface="Calibri" pitchFamily="34" charset="-120"/>
              </a:rPr>
              <a:t>Photo: Hans Hillewaert · CC BY-SA 4.0 · Wikimedia Commons</a:t>
            </a:r>
            <a:endParaRPr lang="en-US" sz="600" dirty="0"/>
          </a:p>
        </p:txBody>
      </p:sp>
      <p:sp>
        <p:nvSpPr>
          <p:cNvPr id="8" name="Text 4"/>
          <p:cNvSpPr txBox="1"/>
          <p:nvPr/>
        </p:nvSpPr>
        <p:spPr>
          <a:xfrm>
            <a:off x="6263640" y="1261872"/>
            <a:ext cx="2286000" cy="914400"/>
          </a:xfrm>
          <a:prstGeom prst="rect">
            <a:avLst/>
          </a:prstGeom>
          <a:noFill/>
          <a:ln/>
        </p:spPr>
        <p:txBody>
          <a:bodyPr wrap="square" lIns="0" tIns="0" rIns="0" bIns="0" rtlCol="0" anchor="ctr"/>
          <a:lstStyle/>
          <a:p>
            <a:pPr algn="ctr" indent="0" marL="0">
              <a:buNone/>
            </a:pPr>
            <a:r>
              <a:rPr lang="en-US" sz="3000" b="1" dirty="0">
                <a:solidFill>
                  <a:srgbClr val="1F7A4D"/>
                </a:solidFill>
                <a:latin typeface="Cambria" pitchFamily="34" charset="0"/>
                <a:ea typeface="Cambria" pitchFamily="34" charset="-122"/>
                <a:cs typeface="Cambria" pitchFamily="34" charset="-120"/>
              </a:rPr>
              <a:t>≈ 10%</a:t>
            </a:r>
            <a:endParaRPr lang="en-US" sz="3000" dirty="0"/>
          </a:p>
          <a:p>
            <a:pPr algn="ctr" indent="0" marL="0">
              <a:buNone/>
            </a:pPr>
            <a:r>
              <a:rPr lang="en-US" sz="1400" dirty="0">
                <a:solidFill>
                  <a:srgbClr val="1B2130"/>
                </a:solidFill>
                <a:latin typeface="Calibri" pitchFamily="34" charset="0"/>
                <a:ea typeface="Calibri" pitchFamily="34" charset="-122"/>
                <a:cs typeface="Calibri" pitchFamily="34" charset="-120"/>
              </a:rPr>
              <a:t>errors with the best threshold</a:t>
            </a:r>
            <a:endParaRPr lang="en-US" sz="3000" dirty="0"/>
          </a:p>
        </p:txBody>
      </p:sp>
      <p:sp>
        <p:nvSpPr>
          <p:cNvPr id="9" name="Text 5"/>
          <p:cNvSpPr txBox="1"/>
          <p:nvPr/>
        </p:nvSpPr>
        <p:spPr>
          <a:xfrm>
            <a:off x="457200" y="3931920"/>
            <a:ext cx="8229600" cy="365760"/>
          </a:xfrm>
          <a:prstGeom prst="rect">
            <a:avLst/>
          </a:prstGeom>
          <a:noFill/>
          <a:ln/>
        </p:spPr>
        <p:txBody>
          <a:bodyPr wrap="square" lIns="0" tIns="0" rIns="0" bIns="0" rtlCol="0" anchor="ctr"/>
          <a:lstStyle/>
          <a:p>
            <a:pPr indent="0" marL="0">
              <a:buNone/>
            </a:pPr>
            <a:r>
              <a:rPr lang="en-US" sz="1600" b="1" dirty="0">
                <a:solidFill>
                  <a:srgbClr val="1B2130"/>
                </a:solidFill>
                <a:latin typeface="Calibri" pitchFamily="34" charset="0"/>
                <a:ea typeface="Calibri" pitchFamily="34" charset="-122"/>
                <a:cs typeface="Calibri" pitchFamily="34" charset="-120"/>
              </a:rPr>
              <a:t>A good feature: similar values within a class, different values between classes.</a:t>
            </a:r>
            <a:endParaRPr lang="en-US" sz="1600" dirty="0"/>
          </a:p>
        </p:txBody>
      </p:sp>
      <p:sp>
        <p:nvSpPr>
          <p:cNvPr id="10" name="Text 6"/>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1 · Video 1.2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A second data set: Iris flowers</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150 flowers, 3 species, 4 measurements (cm) · used in the Explorer and in Lab 1</a:t>
            </a:r>
            <a:endParaRPr lang="en-US" sz="1500" dirty="0"/>
          </a:p>
        </p:txBody>
      </p:sp>
      <p:pic>
        <p:nvPicPr>
          <p:cNvPr id="4" name="Image 0" descr="iris_setosa.jpg">    </p:cNvPr>
          <p:cNvPicPr>
            <a:picLocks noChangeAspect="1"/>
          </p:cNvPicPr>
          <p:nvPr/>
        </p:nvPicPr>
        <p:blipFill>
          <a:blip r:embed="rId1"/>
          <a:srcRect l="0" r="0" t="0" b="0"/>
          <a:stretch/>
        </p:blipFill>
        <p:spPr>
          <a:xfrm>
            <a:off x="457200" y="1325880"/>
            <a:ext cx="1874520" cy="2057400"/>
          </a:xfrm>
          <a:prstGeom prst="rect">
            <a:avLst/>
          </a:prstGeom>
        </p:spPr>
      </p:pic>
      <p:sp>
        <p:nvSpPr>
          <p:cNvPr id="5" name="Text 2"/>
          <p:cNvSpPr txBox="1"/>
          <p:nvPr/>
        </p:nvSpPr>
        <p:spPr>
          <a:xfrm>
            <a:off x="457200" y="3429000"/>
            <a:ext cx="1874520" cy="320040"/>
          </a:xfrm>
          <a:prstGeom prst="rect">
            <a:avLst/>
          </a:prstGeom>
          <a:noFill/>
          <a:ln/>
        </p:spPr>
        <p:txBody>
          <a:bodyPr wrap="square" lIns="0" tIns="0" rIns="0" bIns="0" rtlCol="0" anchor="ctr"/>
          <a:lstStyle/>
          <a:p>
            <a:pPr algn="ctr" indent="0" marL="0">
              <a:buNone/>
            </a:pPr>
            <a:r>
              <a:rPr lang="en-US" sz="1500" b="1" i="1" dirty="0">
                <a:solidFill>
                  <a:srgbClr val="1B2130"/>
                </a:solidFill>
                <a:latin typeface="Cambria" pitchFamily="34" charset="0"/>
                <a:ea typeface="Cambria" pitchFamily="34" charset="-122"/>
                <a:cs typeface="Cambria" pitchFamily="34" charset="-120"/>
              </a:rPr>
              <a:t>Iris setosa</a:t>
            </a:r>
            <a:endParaRPr lang="en-US" sz="1500" dirty="0"/>
          </a:p>
        </p:txBody>
      </p:sp>
      <p:pic>
        <p:nvPicPr>
          <p:cNvPr id="6" name="Image 1" descr="iris_versicolor.jpg">    </p:cNvPr>
          <p:cNvPicPr>
            <a:picLocks noChangeAspect="1"/>
          </p:cNvPicPr>
          <p:nvPr/>
        </p:nvPicPr>
        <p:blipFill>
          <a:blip r:embed="rId2"/>
          <a:srcRect l="0" r="0" t="0" b="0"/>
          <a:stretch/>
        </p:blipFill>
        <p:spPr>
          <a:xfrm>
            <a:off x="2468880" y="1325880"/>
            <a:ext cx="1874520" cy="2057400"/>
          </a:xfrm>
          <a:prstGeom prst="rect">
            <a:avLst/>
          </a:prstGeom>
        </p:spPr>
      </p:pic>
      <p:sp>
        <p:nvSpPr>
          <p:cNvPr id="7" name="Text 3"/>
          <p:cNvSpPr txBox="1"/>
          <p:nvPr/>
        </p:nvSpPr>
        <p:spPr>
          <a:xfrm>
            <a:off x="2468880" y="3429000"/>
            <a:ext cx="1874520" cy="320040"/>
          </a:xfrm>
          <a:prstGeom prst="rect">
            <a:avLst/>
          </a:prstGeom>
          <a:noFill/>
          <a:ln/>
        </p:spPr>
        <p:txBody>
          <a:bodyPr wrap="square" lIns="0" tIns="0" rIns="0" bIns="0" rtlCol="0" anchor="ctr"/>
          <a:lstStyle/>
          <a:p>
            <a:pPr algn="ctr" indent="0" marL="0">
              <a:buNone/>
            </a:pPr>
            <a:r>
              <a:rPr lang="en-US" sz="1500" b="1" i="1" dirty="0">
                <a:solidFill>
                  <a:srgbClr val="1B2130"/>
                </a:solidFill>
                <a:latin typeface="Cambria" pitchFamily="34" charset="0"/>
                <a:ea typeface="Cambria" pitchFamily="34" charset="-122"/>
                <a:cs typeface="Cambria" pitchFamily="34" charset="-120"/>
              </a:rPr>
              <a:t>Iris versicolor</a:t>
            </a:r>
            <a:endParaRPr lang="en-US" sz="1500" dirty="0"/>
          </a:p>
        </p:txBody>
      </p:sp>
      <p:pic>
        <p:nvPicPr>
          <p:cNvPr id="8" name="Image 2" descr="iris_virginica.jpg">    </p:cNvPr>
          <p:cNvPicPr>
            <a:picLocks noChangeAspect="1"/>
          </p:cNvPicPr>
          <p:nvPr/>
        </p:nvPicPr>
        <p:blipFill>
          <a:blip r:embed="rId3"/>
          <a:srcRect l="0" r="0" t="0" b="0"/>
          <a:stretch/>
        </p:blipFill>
        <p:spPr>
          <a:xfrm>
            <a:off x="4480560" y="1325880"/>
            <a:ext cx="1874520" cy="2057400"/>
          </a:xfrm>
          <a:prstGeom prst="rect">
            <a:avLst/>
          </a:prstGeom>
        </p:spPr>
      </p:pic>
      <p:sp>
        <p:nvSpPr>
          <p:cNvPr id="9" name="Text 4"/>
          <p:cNvSpPr txBox="1"/>
          <p:nvPr/>
        </p:nvSpPr>
        <p:spPr>
          <a:xfrm>
            <a:off x="4480560" y="3429000"/>
            <a:ext cx="1874520" cy="320040"/>
          </a:xfrm>
          <a:prstGeom prst="rect">
            <a:avLst/>
          </a:prstGeom>
          <a:noFill/>
          <a:ln/>
        </p:spPr>
        <p:txBody>
          <a:bodyPr wrap="square" lIns="0" tIns="0" rIns="0" bIns="0" rtlCol="0" anchor="ctr"/>
          <a:lstStyle/>
          <a:p>
            <a:pPr algn="ctr" indent="0" marL="0">
              <a:buNone/>
            </a:pPr>
            <a:r>
              <a:rPr lang="en-US" sz="1500" b="1" i="1" dirty="0">
                <a:solidFill>
                  <a:srgbClr val="1B2130"/>
                </a:solidFill>
                <a:latin typeface="Cambria" pitchFamily="34" charset="0"/>
                <a:ea typeface="Cambria" pitchFamily="34" charset="-122"/>
                <a:cs typeface="Cambria" pitchFamily="34" charset="-120"/>
              </a:rPr>
              <a:t>Iris virginica</a:t>
            </a:r>
            <a:endParaRPr lang="en-US" sz="1500" dirty="0"/>
          </a:p>
        </p:txBody>
      </p:sp>
      <p:pic>
        <p:nvPicPr>
          <p:cNvPr id="10" name="Image 3" descr="iris_parts.jpg">    </p:cNvPr>
          <p:cNvPicPr>
            <a:picLocks noChangeAspect="1"/>
          </p:cNvPicPr>
          <p:nvPr/>
        </p:nvPicPr>
        <p:blipFill>
          <a:blip r:embed="rId4"/>
          <a:srcRect l="0" r="0" t="0" b="0"/>
          <a:stretch/>
        </p:blipFill>
        <p:spPr>
          <a:xfrm>
            <a:off x="6537960" y="1325880"/>
            <a:ext cx="2148840" cy="2057400"/>
          </a:xfrm>
          <a:prstGeom prst="rect">
            <a:avLst/>
          </a:prstGeom>
        </p:spPr>
      </p:pic>
      <p:sp>
        <p:nvSpPr>
          <p:cNvPr id="11" name="Text 5"/>
          <p:cNvSpPr txBox="1"/>
          <p:nvPr/>
        </p:nvSpPr>
        <p:spPr>
          <a:xfrm>
            <a:off x="6537960" y="3429000"/>
            <a:ext cx="2148840" cy="320040"/>
          </a:xfrm>
          <a:prstGeom prst="rect">
            <a:avLst/>
          </a:prstGeom>
          <a:noFill/>
          <a:ln/>
        </p:spPr>
        <p:txBody>
          <a:bodyPr wrap="square" lIns="0" tIns="0" rIns="0" bIns="0" rtlCol="0" anchor="ctr"/>
          <a:lstStyle/>
          <a:p>
            <a:pPr algn="ctr" indent="0" marL="0">
              <a:buNone/>
            </a:pPr>
            <a:r>
              <a:rPr lang="en-US" sz="1200" dirty="0">
                <a:solidFill>
                  <a:srgbClr val="5C6577"/>
                </a:solidFill>
                <a:latin typeface="Calibri" pitchFamily="34" charset="0"/>
                <a:ea typeface="Calibri" pitchFamily="34" charset="-122"/>
                <a:cs typeface="Calibri" pitchFamily="34" charset="-120"/>
              </a:rPr>
              <a:t>sepal &amp; petal: length and width</a:t>
            </a:r>
            <a:endParaRPr lang="en-US" sz="1200" dirty="0"/>
          </a:p>
        </p:txBody>
      </p:sp>
      <p:sp>
        <p:nvSpPr>
          <p:cNvPr id="12" name="Text 6"/>
          <p:cNvSpPr txBox="1"/>
          <p:nvPr/>
        </p:nvSpPr>
        <p:spPr>
          <a:xfrm>
            <a:off x="457200" y="4023360"/>
            <a:ext cx="8229600" cy="457200"/>
          </a:xfrm>
          <a:prstGeom prst="rect">
            <a:avLst/>
          </a:prstGeom>
          <a:noFill/>
          <a:ln/>
        </p:spPr>
        <p:txBody>
          <a:bodyPr wrap="square" lIns="0" tIns="0" rIns="0" bIns="0" rtlCol="0" anchor="ctr"/>
          <a:lstStyle/>
          <a:p>
            <a:pPr indent="0" marL="0">
              <a:buNone/>
            </a:pPr>
            <a:r>
              <a:rPr lang="en-US" sz="1500" dirty="0">
                <a:solidFill>
                  <a:srgbClr val="1B2130"/>
                </a:solidFill>
                <a:latin typeface="Calibri" pitchFamily="34" charset="0"/>
                <a:ea typeface="Calibri" pitchFamily="34" charset="-122"/>
                <a:cs typeface="Calibri" pitchFamily="34" charset="-120"/>
              </a:rPr>
              <a:t>Setosa is easy to spot. Versicolor and virginica look alike: which measurement separates them?</a:t>
            </a:r>
            <a:endParaRPr lang="en-US" sz="1500" dirty="0"/>
          </a:p>
        </p:txBody>
      </p:sp>
      <p:sp>
        <p:nvSpPr>
          <p:cNvPr id="13" name="Text 7"/>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1 · Video 1.2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Ten fish, one rule</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Worked example 1.1 · rule: sea bass if lightness &gt; 5.0</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828800"/>
                <a:gridCol w="1280160"/>
                <a:gridCol w="1280160"/>
                <a:gridCol w="1280160"/>
                <a:gridCol w="1280160"/>
                <a:gridCol w="1280160"/>
              </a:tblGrid>
              <a:tr h="457200">
                <a:tc>
                  <a:txBody>
                    <a:bodyPr/>
                    <a:lstStyle/>
                    <a:p>
                      <a:pPr indent="0" marL="0">
                        <a:buNone/>
                      </a:pPr>
                      <a:r>
                        <a:rPr lang="en-US" sz="1800" dirty="0">
                          <a:solidFill>
                            <a:srgbClr val="5C6577"/>
                          </a:solidFill>
                          <a:latin typeface="Calibri" pitchFamily="34" charset="0"/>
                          <a:ea typeface="Calibri" pitchFamily="34" charset="-122"/>
                          <a:cs typeface="Calibri" pitchFamily="34" charset="-120"/>
                        </a:rPr>
                        <a:t>lightness</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r>
              <a:tr h="457200">
                <a:tc>
                  <a:txBody>
                    <a:bodyPr/>
                    <a:lstStyle/>
                    <a:p>
                      <a:pPr indent="0" marL="0">
                        <a:buNone/>
                      </a:pPr>
                      <a:r>
                        <a:rPr lang="en-US" sz="1800" b="1" dirty="0">
                          <a:solidFill>
                            <a:srgbClr val="D9822B"/>
                          </a:solidFill>
                          <a:latin typeface="Calibri" pitchFamily="34" charset="0"/>
                          <a:ea typeface="Calibri" pitchFamily="34" charset="-122"/>
                          <a:cs typeface="Calibri" pitchFamily="34" charset="-120"/>
                        </a:rPr>
                        <a:t>Salmon</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algn="ctr" indent="0" marL="0">
                        <a:buNone/>
                      </a:pPr>
                      <a:r>
                        <a:rPr lang="en-US" sz="1800" dirty="0">
                          <a:solidFill>
                            <a:srgbClr val="1B2130"/>
                          </a:solidFill>
                          <a:latin typeface="Calibri" pitchFamily="34" charset="0"/>
                          <a:ea typeface="Calibri" pitchFamily="34" charset="-122"/>
                          <a:cs typeface="Calibri" pitchFamily="34" charset="-120"/>
                        </a:rPr>
                        <a:t>2.5</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2130"/>
                          </a:solidFill>
                          <a:latin typeface="Calibri" pitchFamily="34" charset="0"/>
                          <a:ea typeface="Calibri" pitchFamily="34" charset="-122"/>
                          <a:cs typeface="Calibri" pitchFamily="34" charset="-120"/>
                        </a:rPr>
                        <a:t>3.0</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2130"/>
                          </a:solidFill>
                          <a:latin typeface="Calibri" pitchFamily="34" charset="0"/>
                          <a:ea typeface="Calibri" pitchFamily="34" charset="-122"/>
                          <a:cs typeface="Calibri" pitchFamily="34" charset="-120"/>
                        </a:rPr>
                        <a:t>3.8</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2130"/>
                          </a:solidFill>
                          <a:latin typeface="Calibri" pitchFamily="34" charset="0"/>
                          <a:ea typeface="Calibri" pitchFamily="34" charset="-122"/>
                          <a:cs typeface="Calibri" pitchFamily="34" charset="-120"/>
                        </a:rPr>
                        <a:t>4.5</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2130"/>
                          </a:solidFill>
                          <a:latin typeface="Calibri" pitchFamily="34" charset="0"/>
                          <a:ea typeface="Calibri" pitchFamily="34" charset="-122"/>
                          <a:cs typeface="Calibri" pitchFamily="34" charset="-120"/>
                        </a:rPr>
                        <a:t>5.6</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r h="457200">
                <a:tc>
                  <a:txBody>
                    <a:bodyPr/>
                    <a:lstStyle/>
                    <a:p>
                      <a:pPr indent="0" marL="0">
                        <a:buNone/>
                      </a:pPr>
                      <a:r>
                        <a:rPr lang="en-US" sz="1800" b="1" dirty="0">
                          <a:solidFill>
                            <a:srgbClr val="2D5BC4"/>
                          </a:solidFill>
                          <a:latin typeface="Calibri" pitchFamily="34" charset="0"/>
                          <a:ea typeface="Calibri" pitchFamily="34" charset="-122"/>
                          <a:cs typeface="Calibri" pitchFamily="34" charset="-120"/>
                        </a:rPr>
                        <a:t>Sea bass</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algn="ctr" indent="0" marL="0">
                        <a:buNone/>
                      </a:pPr>
                      <a:r>
                        <a:rPr lang="en-US" sz="1800" dirty="0">
                          <a:solidFill>
                            <a:srgbClr val="1B2130"/>
                          </a:solidFill>
                          <a:latin typeface="Calibri" pitchFamily="34" charset="0"/>
                          <a:ea typeface="Calibri" pitchFamily="34" charset="-122"/>
                          <a:cs typeface="Calibri" pitchFamily="34" charset="-120"/>
                        </a:rPr>
                        <a:t>4.2</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2130"/>
                          </a:solidFill>
                          <a:latin typeface="Calibri" pitchFamily="34" charset="0"/>
                          <a:ea typeface="Calibri" pitchFamily="34" charset="-122"/>
                          <a:cs typeface="Calibri" pitchFamily="34" charset="-120"/>
                        </a:rPr>
                        <a:t>5.2</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2130"/>
                          </a:solidFill>
                          <a:latin typeface="Calibri" pitchFamily="34" charset="0"/>
                          <a:ea typeface="Calibri" pitchFamily="34" charset="-122"/>
                          <a:cs typeface="Calibri" pitchFamily="34" charset="-120"/>
                        </a:rPr>
                        <a:t>6.0</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2130"/>
                          </a:solidFill>
                          <a:latin typeface="Calibri" pitchFamily="34" charset="0"/>
                          <a:ea typeface="Calibri" pitchFamily="34" charset="-122"/>
                          <a:cs typeface="Calibri" pitchFamily="34" charset="-120"/>
                        </a:rPr>
                        <a:t>6.8</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2130"/>
                          </a:solidFill>
                          <a:latin typeface="Calibri" pitchFamily="34" charset="0"/>
                          <a:ea typeface="Calibri" pitchFamily="34" charset="-122"/>
                          <a:cs typeface="Calibri" pitchFamily="34" charset="-120"/>
                        </a:rPr>
                        <a:t>7.5</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bl>
          </a:graphicData>
        </a:graphic>
      </p:graphicFrame>
      <p:pic>
        <p:nvPicPr>
          <p:cNvPr id="5" name="Image 0" descr="numline_0.png">    </p:cNvPr>
          <p:cNvPicPr>
            <a:picLocks noChangeAspect="1"/>
          </p:cNvPicPr>
          <p:nvPr/>
        </p:nvPicPr>
        <p:blipFill>
          <a:blip r:embed="rId1"/>
          <a:stretch>
            <a:fillRect/>
          </a:stretch>
        </p:blipFill>
        <p:spPr>
          <a:xfrm>
            <a:off x="457200" y="2880360"/>
            <a:ext cx="8229600" cy="868680"/>
          </a:xfrm>
          <a:prstGeom prst="rect">
            <a:avLst/>
          </a:prstGeom>
        </p:spPr>
      </p:pic>
      <p:sp>
        <p:nvSpPr>
          <p:cNvPr id="6" name="Text 2"/>
          <p:cNvSpPr txBox="1"/>
          <p:nvPr/>
        </p:nvSpPr>
        <p:spPr>
          <a:xfrm>
            <a:off x="457200" y="3977640"/>
            <a:ext cx="8229600" cy="365760"/>
          </a:xfrm>
          <a:prstGeom prst="rect">
            <a:avLst/>
          </a:prstGeom>
          <a:noFill/>
          <a:ln/>
        </p:spPr>
        <p:txBody>
          <a:bodyPr wrap="square" lIns="0" tIns="0" rIns="0" bIns="0" rtlCol="0" anchor="ctr"/>
          <a:lstStyle/>
          <a:p>
            <a:pPr indent="0" marL="0">
              <a:buNone/>
            </a:pPr>
            <a:r>
              <a:rPr lang="en-US" sz="1600" i="1" dirty="0">
                <a:solidFill>
                  <a:srgbClr val="5C6577"/>
                </a:solidFill>
                <a:latin typeface="Calibri" pitchFamily="34" charset="0"/>
                <a:ea typeface="Calibri" pitchFamily="34" charset="-122"/>
                <a:cs typeface="Calibri" pitchFamily="34" charset="-120"/>
              </a:rPr>
              <a:t>Pause the video: where would you put the threshold? Which fish does “lightness &gt; 5.0” get wrong?</a:t>
            </a:r>
            <a:endParaRPr lang="en-US" sz="1600" dirty="0"/>
          </a:p>
        </p:txBody>
      </p:sp>
      <p:sp>
        <p:nvSpPr>
          <p:cNvPr id="7" name="Text 3"/>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1 · Video 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Ten fish, one rule</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Worked example 1.1 · rule: sea bass if lightness &gt; 5.0</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828800"/>
                <a:gridCol w="1280160"/>
                <a:gridCol w="1280160"/>
                <a:gridCol w="1280160"/>
                <a:gridCol w="1280160"/>
                <a:gridCol w="1280160"/>
              </a:tblGrid>
              <a:tr h="457200">
                <a:tc>
                  <a:txBody>
                    <a:bodyPr/>
                    <a:lstStyle/>
                    <a:p>
                      <a:pPr indent="0" marL="0">
                        <a:buNone/>
                      </a:pPr>
                      <a:r>
                        <a:rPr lang="en-US" sz="1800" dirty="0">
                          <a:solidFill>
                            <a:srgbClr val="5C6577"/>
                          </a:solidFill>
                          <a:latin typeface="Calibri" pitchFamily="34" charset="0"/>
                          <a:ea typeface="Calibri" pitchFamily="34" charset="-122"/>
                          <a:cs typeface="Calibri" pitchFamily="34" charset="-120"/>
                        </a:rPr>
                        <a:t>lightness</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indent="0" marL="0">
                        <a:buNone/>
                      </a:pP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r>
              <a:tr h="457200">
                <a:tc>
                  <a:txBody>
                    <a:bodyPr/>
                    <a:lstStyle/>
                    <a:p>
                      <a:pPr indent="0" marL="0">
                        <a:buNone/>
                      </a:pPr>
                      <a:r>
                        <a:rPr lang="en-US" sz="1800" b="1" dirty="0">
                          <a:solidFill>
                            <a:srgbClr val="D9822B"/>
                          </a:solidFill>
                          <a:latin typeface="Calibri" pitchFamily="34" charset="0"/>
                          <a:ea typeface="Calibri" pitchFamily="34" charset="-122"/>
                          <a:cs typeface="Calibri" pitchFamily="34" charset="-120"/>
                        </a:rPr>
                        <a:t>Salmon</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algn="ctr" indent="0" marL="0">
                        <a:buNone/>
                      </a:pPr>
                      <a:r>
                        <a:rPr lang="en-US" sz="1800" dirty="0">
                          <a:solidFill>
                            <a:srgbClr val="1B2130"/>
                          </a:solidFill>
                          <a:latin typeface="Calibri" pitchFamily="34" charset="0"/>
                          <a:ea typeface="Calibri" pitchFamily="34" charset="-122"/>
                          <a:cs typeface="Calibri" pitchFamily="34" charset="-120"/>
                        </a:rPr>
                        <a:t>2.5</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2130"/>
                          </a:solidFill>
                          <a:latin typeface="Calibri" pitchFamily="34" charset="0"/>
                          <a:ea typeface="Calibri" pitchFamily="34" charset="-122"/>
                          <a:cs typeface="Calibri" pitchFamily="34" charset="-120"/>
                        </a:rPr>
                        <a:t>3.0</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2130"/>
                          </a:solidFill>
                          <a:latin typeface="Calibri" pitchFamily="34" charset="0"/>
                          <a:ea typeface="Calibri" pitchFamily="34" charset="-122"/>
                          <a:cs typeface="Calibri" pitchFamily="34" charset="-120"/>
                        </a:rPr>
                        <a:t>3.8</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2130"/>
                          </a:solidFill>
                          <a:latin typeface="Calibri" pitchFamily="34" charset="0"/>
                          <a:ea typeface="Calibri" pitchFamily="34" charset="-122"/>
                          <a:cs typeface="Calibri" pitchFamily="34" charset="-120"/>
                        </a:rPr>
                        <a:t>4.5</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1B2130"/>
                          </a:solidFill>
                          <a:latin typeface="Calibri" pitchFamily="34" charset="0"/>
                          <a:ea typeface="Calibri" pitchFamily="34" charset="-122"/>
                          <a:cs typeface="Calibri" pitchFamily="34" charset="-120"/>
                        </a:rPr>
                        <a:t>5.6</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4C8"/>
                    </a:solidFill>
                  </a:tcPr>
                </a:tc>
              </a:tr>
              <a:tr h="457200">
                <a:tc>
                  <a:txBody>
                    <a:bodyPr/>
                    <a:lstStyle/>
                    <a:p>
                      <a:pPr indent="0" marL="0">
                        <a:buNone/>
                      </a:pPr>
                      <a:r>
                        <a:rPr lang="en-US" sz="1800" b="1" dirty="0">
                          <a:solidFill>
                            <a:srgbClr val="2D5BC4"/>
                          </a:solidFill>
                          <a:latin typeface="Calibri" pitchFamily="34" charset="0"/>
                          <a:ea typeface="Calibri" pitchFamily="34" charset="-122"/>
                          <a:cs typeface="Calibri" pitchFamily="34" charset="-120"/>
                        </a:rPr>
                        <a:t>Sea bass</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tcPr>
                </a:tc>
                <a:tc>
                  <a:txBody>
                    <a:bodyPr/>
                    <a:lstStyle/>
                    <a:p>
                      <a:pPr algn="ctr" indent="0" marL="0">
                        <a:buNone/>
                      </a:pPr>
                      <a:r>
                        <a:rPr lang="en-US" sz="1800" b="1" dirty="0">
                          <a:solidFill>
                            <a:srgbClr val="1B2130"/>
                          </a:solidFill>
                          <a:latin typeface="Calibri" pitchFamily="34" charset="0"/>
                          <a:ea typeface="Calibri" pitchFamily="34" charset="-122"/>
                          <a:cs typeface="Calibri" pitchFamily="34" charset="-120"/>
                        </a:rPr>
                        <a:t>4.2</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4C8"/>
                    </a:solidFill>
                  </a:tcPr>
                </a:tc>
                <a:tc>
                  <a:txBody>
                    <a:bodyPr/>
                    <a:lstStyle/>
                    <a:p>
                      <a:pPr algn="ctr" indent="0" marL="0">
                        <a:buNone/>
                      </a:pPr>
                      <a:r>
                        <a:rPr lang="en-US" sz="1800" dirty="0">
                          <a:solidFill>
                            <a:srgbClr val="1B2130"/>
                          </a:solidFill>
                          <a:latin typeface="Calibri" pitchFamily="34" charset="0"/>
                          <a:ea typeface="Calibri" pitchFamily="34" charset="-122"/>
                          <a:cs typeface="Calibri" pitchFamily="34" charset="-120"/>
                        </a:rPr>
                        <a:t>5.2</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2130"/>
                          </a:solidFill>
                          <a:latin typeface="Calibri" pitchFamily="34" charset="0"/>
                          <a:ea typeface="Calibri" pitchFamily="34" charset="-122"/>
                          <a:cs typeface="Calibri" pitchFamily="34" charset="-120"/>
                        </a:rPr>
                        <a:t>6.0</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2130"/>
                          </a:solidFill>
                          <a:latin typeface="Calibri" pitchFamily="34" charset="0"/>
                          <a:ea typeface="Calibri" pitchFamily="34" charset="-122"/>
                          <a:cs typeface="Calibri" pitchFamily="34" charset="-120"/>
                        </a:rPr>
                        <a:t>6.8</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2130"/>
                          </a:solidFill>
                          <a:latin typeface="Calibri" pitchFamily="34" charset="0"/>
                          <a:ea typeface="Calibri" pitchFamily="34" charset="-122"/>
                          <a:cs typeface="Calibri" pitchFamily="34" charset="-120"/>
                        </a:rPr>
                        <a:t>7.5</a:t>
                      </a:r>
                      <a:endParaRPr lang="en-US" sz="1800" dirty="0">
                        <a:latin typeface="Calibri" charset="0"/>
                        <a:ea typeface="Calibri" charset="0"/>
                        <a:cs typeface="Calibri" charset="0"/>
                      </a:endParaRPr>
                    </a:p>
                  </a:txBody>
                  <a:tcPr marL="109728" marR="109728" marT="36576" marB="36576"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bl>
          </a:graphicData>
        </a:graphic>
      </p:graphicFrame>
      <p:pic>
        <p:nvPicPr>
          <p:cNvPr id="5" name="Image 0" descr="numline_1.png">    </p:cNvPr>
          <p:cNvPicPr>
            <a:picLocks noChangeAspect="1"/>
          </p:cNvPicPr>
          <p:nvPr/>
        </p:nvPicPr>
        <p:blipFill>
          <a:blip r:embed="rId1"/>
          <a:stretch>
            <a:fillRect/>
          </a:stretch>
        </p:blipFill>
        <p:spPr>
          <a:xfrm>
            <a:off x="457200" y="2880360"/>
            <a:ext cx="8229600" cy="868680"/>
          </a:xfrm>
          <a:prstGeom prst="rect">
            <a:avLst/>
          </a:prstGeom>
        </p:spPr>
      </p:pic>
      <p:sp>
        <p:nvSpPr>
          <p:cNvPr id="6" name="Shape 2"/>
          <p:cNvSpPr/>
          <p:nvPr/>
        </p:nvSpPr>
        <p:spPr>
          <a:xfrm>
            <a:off x="457200" y="3886200"/>
            <a:ext cx="8229600" cy="731520"/>
          </a:xfrm>
          <a:prstGeom prst="roundRect">
            <a:avLst>
              <a:gd name="adj" fmla="val 10000"/>
            </a:avLst>
          </a:prstGeom>
          <a:solidFill>
            <a:srgbClr val="FBEFDF"/>
          </a:solidFill>
          <a:ln w="12700">
            <a:solidFill>
              <a:srgbClr val="FBEFDF"/>
            </a:solidFill>
            <a:prstDash val="solid"/>
          </a:ln>
        </p:spPr>
      </p:sp>
      <p:sp>
        <p:nvSpPr>
          <p:cNvPr id="7" name="Text 3"/>
          <p:cNvSpPr txBox="1"/>
          <p:nvPr/>
        </p:nvSpPr>
        <p:spPr>
          <a:xfrm>
            <a:off x="640080" y="3886200"/>
            <a:ext cx="7863840" cy="731520"/>
          </a:xfrm>
          <a:prstGeom prst="rect">
            <a:avLst/>
          </a:prstGeom>
          <a:noFill/>
          <a:ln/>
        </p:spPr>
        <p:txBody>
          <a:bodyPr wrap="square" lIns="0" tIns="0" rIns="0" bIns="0" rtlCol="0" anchor="ctr"/>
          <a:lstStyle/>
          <a:p>
            <a:pPr indent="0" marL="0">
              <a:buNone/>
            </a:pPr>
            <a:r>
              <a:rPr lang="en-US" sz="1800" b="1" dirty="0">
                <a:solidFill>
                  <a:srgbClr val="1B2130"/>
                </a:solidFill>
                <a:latin typeface="Calibri" pitchFamily="34" charset="0"/>
                <a:ea typeface="Calibri" pitchFamily="34" charset="-122"/>
                <a:cs typeface="Calibri" pitchFamily="34" charset="-120"/>
              </a:rPr>
              <a:t>2 errors out of 10 = 20%. </a:t>
            </a:r>
            <a:pPr indent="0" marL="0">
              <a:buNone/>
            </a:pPr>
            <a:r>
              <a:rPr lang="en-US" sz="1800" dirty="0">
                <a:solidFill>
                  <a:srgbClr val="1B2130"/>
                </a:solidFill>
                <a:latin typeface="Calibri" pitchFamily="34" charset="0"/>
                <a:ea typeface="Calibri" pitchFamily="34" charset="-122"/>
                <a:cs typeface="Calibri" pitchFamily="34" charset="-120"/>
              </a:rPr>
              <a:t>No threshold on lightness does better on these ten fish.</a:t>
            </a:r>
            <a:endParaRPr lang="en-US" sz="1800" dirty="0"/>
          </a:p>
        </p:txBody>
      </p:sp>
      <p:sp>
        <p:nvSpPr>
          <p:cNvPr id="8" name="Text 4"/>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1 · Video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130"/>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274320"/>
          </a:xfrm>
          <a:prstGeom prst="rect">
            <a:avLst/>
          </a:prstGeom>
          <a:noFill/>
          <a:ln/>
        </p:spPr>
        <p:txBody>
          <a:bodyPr wrap="square" lIns="0" tIns="0" rIns="0" bIns="0" rtlCol="0" anchor="ctr"/>
          <a:lstStyle/>
          <a:p>
            <a:pPr indent="0" marL="0">
              <a:buNone/>
            </a:pPr>
            <a:r>
              <a:rPr lang="en-US" sz="1200" spc="200" kern="0" dirty="0">
                <a:solidFill>
                  <a:srgbClr val="9FB7EE"/>
                </a:solidFill>
                <a:latin typeface="Calibri" pitchFamily="34" charset="0"/>
                <a:ea typeface="Calibri" pitchFamily="34" charset="-122"/>
                <a:cs typeface="Calibri" pitchFamily="34" charset="-120"/>
              </a:rPr>
              <a:t>VIDEO 1.3</a:t>
            </a:r>
            <a:endParaRPr lang="en-US" sz="1200" dirty="0"/>
          </a:p>
        </p:txBody>
      </p:sp>
      <p:sp>
        <p:nvSpPr>
          <p:cNvPr id="3" name="Text 1"/>
          <p:cNvSpPr txBox="1"/>
          <p:nvPr/>
        </p:nvSpPr>
        <p:spPr>
          <a:xfrm>
            <a:off x="548640" y="1005840"/>
            <a:ext cx="8046720" cy="13258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Feature space and generalization</a:t>
            </a:r>
            <a:endParaRPr lang="en-US" sz="4000" dirty="0"/>
          </a:p>
        </p:txBody>
      </p:sp>
      <p:sp>
        <p:nvSpPr>
          <p:cNvPr id="4" name="Text 2"/>
          <p:cNvSpPr txBox="1"/>
          <p:nvPr/>
        </p:nvSpPr>
        <p:spPr>
          <a:xfrm>
            <a:off x="548640" y="2514600"/>
            <a:ext cx="7132320" cy="1005840"/>
          </a:xfrm>
          <a:prstGeom prst="rect">
            <a:avLst/>
          </a:prstGeom>
          <a:noFill/>
          <a:ln/>
        </p:spPr>
        <p:txBody>
          <a:bodyPr wrap="square" lIns="0" tIns="0" rIns="0" bIns="0" rtlCol="0" anchor="t"/>
          <a:lstStyle/>
          <a:p>
            <a:pPr indent="0" marL="0">
              <a:buNone/>
            </a:pPr>
            <a:r>
              <a:rPr lang="en-US" sz="1900" dirty="0">
                <a:solidFill>
                  <a:srgbClr val="D7DDEA"/>
                </a:solidFill>
                <a:latin typeface="Calibri" pitchFamily="34" charset="0"/>
                <a:ea typeface="Calibri" pitchFamily="34" charset="-122"/>
                <a:cs typeface="Calibri" pitchFamily="34" charset="-120"/>
              </a:rPr>
              <a:t>After this video you can place objects in feature space, use a line as a decision boundary, and explain why simpler boundaries often work better.</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Two features: each fish is a point</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x = (lightness, width) is the feature vector</a:t>
            </a:r>
            <a:endParaRPr lang="en-US" sz="1500" dirty="0"/>
          </a:p>
        </p:txBody>
      </p:sp>
      <p:pic>
        <p:nvPicPr>
          <p:cNvPr id="4" name="Image 0" descr="fig3_two_features.png">    </p:cNvPr>
          <p:cNvPicPr>
            <a:picLocks noChangeAspect="1"/>
          </p:cNvPicPr>
          <p:nvPr/>
        </p:nvPicPr>
        <p:blipFill>
          <a:blip r:embed="rId1"/>
          <a:stretch>
            <a:fillRect/>
          </a:stretch>
        </p:blipFill>
        <p:spPr>
          <a:xfrm>
            <a:off x="365760" y="1280160"/>
            <a:ext cx="4846320" cy="2670048"/>
          </a:xfrm>
          <a:prstGeom prst="rect">
            <a:avLst/>
          </a:prstGeom>
        </p:spPr>
      </p:pic>
      <p:sp>
        <p:nvSpPr>
          <p:cNvPr id="5" name="Shape 2"/>
          <p:cNvSpPr/>
          <p:nvPr/>
        </p:nvSpPr>
        <p:spPr>
          <a:xfrm>
            <a:off x="5394960" y="1280160"/>
            <a:ext cx="3291840" cy="2651760"/>
          </a:xfrm>
          <a:prstGeom prst="roundRect">
            <a:avLst>
              <a:gd name="adj" fmla="val 2759"/>
            </a:avLst>
          </a:prstGeom>
          <a:solidFill>
            <a:srgbClr val="EEF2FB"/>
          </a:solidFill>
          <a:ln w="12700">
            <a:solidFill>
              <a:srgbClr val="EEF2FB"/>
            </a:solidFill>
            <a:prstDash val="solid"/>
          </a:ln>
        </p:spPr>
      </p:sp>
      <p:sp>
        <p:nvSpPr>
          <p:cNvPr id="6" name="Text 3"/>
          <p:cNvSpPr txBox="1"/>
          <p:nvPr/>
        </p:nvSpPr>
        <p:spPr>
          <a:xfrm>
            <a:off x="5577840" y="1371600"/>
            <a:ext cx="2926080" cy="2468880"/>
          </a:xfrm>
          <a:prstGeom prst="rect">
            <a:avLst/>
          </a:prstGeom>
          <a:noFill/>
          <a:ln/>
        </p:spPr>
        <p:txBody>
          <a:bodyPr wrap="square" lIns="0" tIns="0" rIns="0" bIns="0" rtlCol="0" anchor="t"/>
          <a:lstStyle/>
          <a:p>
            <a:pPr indent="0" marL="0">
              <a:buNone/>
            </a:pPr>
            <a:r>
              <a:rPr lang="en-US" sz="1300" dirty="0">
                <a:solidFill>
                  <a:srgbClr val="5C6577"/>
                </a:solidFill>
                <a:latin typeface="Calibri" pitchFamily="34" charset="0"/>
                <a:ea typeface="Calibri" pitchFamily="34" charset="-122"/>
                <a:cs typeface="Calibri" pitchFamily="34" charset="-120"/>
              </a:rPr>
              <a:t>Rule</a:t>
            </a:r>
            <a:endParaRPr lang="en-US" sz="1300" dirty="0"/>
          </a:p>
          <a:p>
            <a:pPr indent="0" marL="0">
              <a:buNone/>
            </a:pPr>
            <a:r>
              <a:rPr lang="en-US" sz="1900" b="1" dirty="0">
                <a:solidFill>
                  <a:srgbClr val="1B2130"/>
                </a:solidFill>
                <a:latin typeface="Cambria" pitchFamily="34" charset="0"/>
                <a:ea typeface="Cambria" pitchFamily="34" charset="-122"/>
                <a:cs typeface="Cambria" pitchFamily="34" charset="-120"/>
              </a:rPr>
              <a:t>sea bass if width + lightness &gt; 23</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500" dirty="0">
                <a:solidFill>
                  <a:srgbClr val="1B2130"/>
                </a:solidFill>
                <a:latin typeface="Calibri" pitchFamily="34" charset="0"/>
                <a:ea typeface="Calibri" pitchFamily="34" charset="-122"/>
                <a:cs typeface="Calibri" pitchFamily="34" charset="-120"/>
              </a:rPr>
              <a:t>0 errors on the ten fish. Lightness alone: 2 errors. Width alone: at least 1.</a:t>
            </a:r>
            <a:endParaRPr lang="en-US" sz="1300" dirty="0"/>
          </a:p>
        </p:txBody>
      </p:sp>
      <p:sp>
        <p:nvSpPr>
          <p:cNvPr id="7" name="Text 4"/>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1 · Video 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Zero training errors is not the goal</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What matters is new fish: generalization</a:t>
            </a:r>
            <a:endParaRPr lang="en-US" sz="1500" dirty="0"/>
          </a:p>
        </p:txBody>
      </p:sp>
      <p:pic>
        <p:nvPicPr>
          <p:cNvPr id="4" name="Image 0" descr="fig4_generalization.png">    </p:cNvPr>
          <p:cNvPicPr>
            <a:picLocks noChangeAspect="1"/>
          </p:cNvPicPr>
          <p:nvPr/>
        </p:nvPicPr>
        <p:blipFill>
          <a:blip r:embed="rId1"/>
          <a:stretch>
            <a:fillRect/>
          </a:stretch>
        </p:blipFill>
        <p:spPr>
          <a:xfrm>
            <a:off x="457200" y="1188720"/>
            <a:ext cx="5669280" cy="2359152"/>
          </a:xfrm>
          <a:prstGeom prst="rect">
            <a:avLst/>
          </a:prstGeom>
        </p:spPr>
      </p:pic>
      <p:sp>
        <p:nvSpPr>
          <p:cNvPr id="5" name="Text 2"/>
          <p:cNvSpPr txBox="1"/>
          <p:nvPr/>
        </p:nvSpPr>
        <p:spPr>
          <a:xfrm>
            <a:off x="6400800" y="1463040"/>
            <a:ext cx="2377440" cy="1280160"/>
          </a:xfrm>
          <a:prstGeom prst="rect">
            <a:avLst/>
          </a:prstGeom>
          <a:noFill/>
          <a:ln/>
        </p:spPr>
        <p:txBody>
          <a:bodyPr wrap="square" lIns="0" tIns="0" rIns="0" bIns="0" rtlCol="0" anchor="t"/>
          <a:lstStyle/>
          <a:p>
            <a:pPr indent="0" marL="0">
              <a:buNone/>
            </a:pPr>
            <a:r>
              <a:rPr lang="en-US" sz="1500" b="1" dirty="0">
                <a:solidFill>
                  <a:srgbClr val="1B2130"/>
                </a:solidFill>
                <a:latin typeface="Calibri" pitchFamily="34" charset="0"/>
                <a:ea typeface="Calibri" pitchFamily="34" charset="-122"/>
                <a:cs typeface="Calibri" pitchFamily="34" charset="-120"/>
              </a:rPr>
              <a:t>Complex: </a:t>
            </a:r>
            <a:pPr indent="0" marL="0">
              <a:buNone/>
            </a:pPr>
            <a:r>
              <a:rPr lang="en-US" sz="1500" dirty="0">
                <a:solidFill>
                  <a:srgbClr val="1B2130"/>
                </a:solidFill>
                <a:latin typeface="Calibri" pitchFamily="34" charset="0"/>
                <a:ea typeface="Calibri" pitchFamily="34" charset="-122"/>
                <a:cs typeface="Calibri" pitchFamily="34" charset="-120"/>
              </a:rPr>
              <a:t>0% training, 5.6% new</a:t>
            </a:r>
            <a:endParaRPr lang="en-US" sz="1500" dirty="0"/>
          </a:p>
          <a:p>
            <a:pPr indent="0" marL="0">
              <a:buNone/>
            </a:pPr>
            <a:r>
              <a:rPr lang="en-US" sz="1500" b="1" dirty="0">
                <a:solidFill>
                  <a:srgbClr val="1B2130"/>
                </a:solidFill>
                <a:latin typeface="Calibri" pitchFamily="34" charset="0"/>
                <a:ea typeface="Calibri" pitchFamily="34" charset="-122"/>
                <a:cs typeface="Calibri" pitchFamily="34" charset="-120"/>
              </a:rPr>
              <a:t>Simpler: </a:t>
            </a:r>
            <a:pPr indent="0" marL="0">
              <a:buNone/>
            </a:pPr>
            <a:r>
              <a:rPr lang="en-US" sz="1500" dirty="0">
                <a:solidFill>
                  <a:srgbClr val="1B2130"/>
                </a:solidFill>
                <a:latin typeface="Calibri" pitchFamily="34" charset="0"/>
                <a:ea typeface="Calibri" pitchFamily="34" charset="-122"/>
                <a:cs typeface="Calibri" pitchFamily="34" charset="-120"/>
              </a:rPr>
              <a:t>1.2% training, 3.8% new</a:t>
            </a:r>
            <a:endParaRPr lang="en-US" sz="1500" dirty="0"/>
          </a:p>
        </p:txBody>
      </p:sp>
      <p:sp>
        <p:nvSpPr>
          <p:cNvPr id="6" name="Shape 3"/>
          <p:cNvSpPr/>
          <p:nvPr/>
        </p:nvSpPr>
        <p:spPr>
          <a:xfrm>
            <a:off x="457200" y="3840480"/>
            <a:ext cx="8229600" cy="640080"/>
          </a:xfrm>
          <a:prstGeom prst="roundRect">
            <a:avLst>
              <a:gd name="adj" fmla="val 11429"/>
            </a:avLst>
          </a:prstGeom>
          <a:solidFill>
            <a:srgbClr val="FBEFDF"/>
          </a:solidFill>
          <a:ln w="12700">
            <a:solidFill>
              <a:srgbClr val="FBEFDF"/>
            </a:solidFill>
            <a:prstDash val="solid"/>
          </a:ln>
        </p:spPr>
      </p:sp>
      <p:sp>
        <p:nvSpPr>
          <p:cNvPr id="7" name="Text 4"/>
          <p:cNvSpPr txBox="1"/>
          <p:nvPr/>
        </p:nvSpPr>
        <p:spPr>
          <a:xfrm>
            <a:off x="640080" y="3840480"/>
            <a:ext cx="7863840" cy="640080"/>
          </a:xfrm>
          <a:prstGeom prst="rect">
            <a:avLst/>
          </a:prstGeom>
          <a:noFill/>
          <a:ln/>
        </p:spPr>
        <p:txBody>
          <a:bodyPr wrap="square" lIns="0" tIns="0" rIns="0" bIns="0" rtlCol="0" anchor="ctr"/>
          <a:lstStyle/>
          <a:p>
            <a:pPr indent="0" marL="0">
              <a:buNone/>
            </a:pPr>
            <a:r>
              <a:rPr lang="en-US" sz="1500" dirty="0">
                <a:solidFill>
                  <a:srgbClr val="1B2130"/>
                </a:solidFill>
                <a:latin typeface="Calibri" pitchFamily="34" charset="0"/>
                <a:ea typeface="Calibri" pitchFamily="34" charset="-122"/>
                <a:cs typeface="Calibri" pitchFamily="34" charset="-120"/>
              </a:rPr>
              <a:t>Always judge a classifier on data it has not seen (Week 6). Prefer the simpler boundary unless the complex one is clearly needed.</a:t>
            </a:r>
            <a:endParaRPr lang="en-US" sz="1500" dirty="0"/>
          </a:p>
        </p:txBody>
      </p:sp>
      <p:sp>
        <p:nvSpPr>
          <p:cNvPr id="8" name="Text 5"/>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1 · Video 1.3</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130"/>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274320"/>
          </a:xfrm>
          <a:prstGeom prst="rect">
            <a:avLst/>
          </a:prstGeom>
          <a:noFill/>
          <a:ln/>
        </p:spPr>
        <p:txBody>
          <a:bodyPr wrap="square" lIns="0" tIns="0" rIns="0" bIns="0" rtlCol="0" anchor="ctr"/>
          <a:lstStyle/>
          <a:p>
            <a:pPr indent="0" marL="0">
              <a:buNone/>
            </a:pPr>
            <a:r>
              <a:rPr lang="en-US" sz="1200" spc="200" kern="0" dirty="0">
                <a:solidFill>
                  <a:srgbClr val="9FB7EE"/>
                </a:solidFill>
                <a:latin typeface="Calibri" pitchFamily="34" charset="0"/>
                <a:ea typeface="Calibri" pitchFamily="34" charset="-122"/>
                <a:cs typeface="Calibri" pitchFamily="34" charset="-120"/>
              </a:rPr>
              <a:t>VIDEO 1.4</a:t>
            </a:r>
            <a:endParaRPr lang="en-US" sz="1200" dirty="0"/>
          </a:p>
        </p:txBody>
      </p:sp>
      <p:sp>
        <p:nvSpPr>
          <p:cNvPr id="3" name="Text 1"/>
          <p:cNvSpPr txBox="1"/>
          <p:nvPr/>
        </p:nvSpPr>
        <p:spPr>
          <a:xfrm>
            <a:off x="548640" y="1005840"/>
            <a:ext cx="8046720" cy="13258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Systems, design and learning</a:t>
            </a:r>
            <a:endParaRPr lang="en-US" sz="4000" dirty="0"/>
          </a:p>
        </p:txBody>
      </p:sp>
      <p:sp>
        <p:nvSpPr>
          <p:cNvPr id="4" name="Text 2"/>
          <p:cNvSpPr txBox="1"/>
          <p:nvPr/>
        </p:nvSpPr>
        <p:spPr>
          <a:xfrm>
            <a:off x="548640" y="2514600"/>
            <a:ext cx="7132320" cy="1005840"/>
          </a:xfrm>
          <a:prstGeom prst="rect">
            <a:avLst/>
          </a:prstGeom>
          <a:noFill/>
          <a:ln/>
        </p:spPr>
        <p:txBody>
          <a:bodyPr wrap="square" lIns="0" tIns="0" rIns="0" bIns="0" rtlCol="0" anchor="t"/>
          <a:lstStyle/>
          <a:p>
            <a:pPr indent="0" marL="0">
              <a:buNone/>
            </a:pPr>
            <a:r>
              <a:rPr lang="en-US" sz="1900" dirty="0">
                <a:solidFill>
                  <a:srgbClr val="D7DDEA"/>
                </a:solidFill>
                <a:latin typeface="Calibri" pitchFamily="34" charset="0"/>
                <a:ea typeface="Calibri" pitchFamily="34" charset="-122"/>
                <a:cs typeface="Calibri" pitchFamily="34" charset="-120"/>
              </a:rPr>
              <a:t>After this video you can name the stages of a pattern recognition system, describe the design cycle, and tell the three kinds of learning apart.</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The stages of a system</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Notes §1.5 · Duda Figure 1.1</a:t>
            </a:r>
            <a:endParaRPr lang="en-US" sz="1500" dirty="0"/>
          </a:p>
        </p:txBody>
      </p:sp>
      <p:pic>
        <p:nvPicPr>
          <p:cNvPr id="4" name="Image 0" descr="conveyor.jpg">    </p:cNvPr>
          <p:cNvPicPr>
            <a:picLocks noChangeAspect="1"/>
          </p:cNvPicPr>
          <p:nvPr/>
        </p:nvPicPr>
        <p:blipFill>
          <a:blip r:embed="rId1"/>
          <a:srcRect l="0" r="0" t="0" b="0"/>
          <a:stretch/>
        </p:blipFill>
        <p:spPr>
          <a:xfrm>
            <a:off x="457200" y="1234440"/>
            <a:ext cx="3840480" cy="2551176"/>
          </a:xfrm>
          <a:prstGeom prst="rect">
            <a:avLst/>
          </a:prstGeom>
        </p:spPr>
      </p:pic>
      <p:sp>
        <p:nvSpPr>
          <p:cNvPr id="5" name="Text 2"/>
          <p:cNvSpPr txBox="1"/>
          <p:nvPr/>
        </p:nvSpPr>
        <p:spPr>
          <a:xfrm>
            <a:off x="457200" y="3803904"/>
            <a:ext cx="3840480" cy="164592"/>
          </a:xfrm>
          <a:prstGeom prst="rect">
            <a:avLst/>
          </a:prstGeom>
          <a:noFill/>
          <a:ln/>
        </p:spPr>
        <p:txBody>
          <a:bodyPr wrap="square" lIns="0" tIns="0" rIns="0" bIns="0" rtlCol="0" anchor="ctr"/>
          <a:lstStyle/>
          <a:p>
            <a:pPr algn="l" indent="0" marL="0">
              <a:buNone/>
            </a:pPr>
            <a:r>
              <a:rPr lang="en-US" sz="700" dirty="0">
                <a:solidFill>
                  <a:srgbClr val="8A93A3"/>
                </a:solidFill>
                <a:latin typeface="Calibri" pitchFamily="34" charset="0"/>
                <a:ea typeface="Calibri" pitchFamily="34" charset="-122"/>
                <a:cs typeface="Calibri" pitchFamily="34" charset="-120"/>
              </a:rPr>
              <a:t>Photo: Jabbi · CC BY-SA 3.0 · Wikimedia Commons</a:t>
            </a:r>
            <a:endParaRPr lang="en-US" sz="700" dirty="0"/>
          </a:p>
        </p:txBody>
      </p:sp>
      <p:sp>
        <p:nvSpPr>
          <p:cNvPr id="6" name="Shape 3"/>
          <p:cNvSpPr/>
          <p:nvPr/>
        </p:nvSpPr>
        <p:spPr>
          <a:xfrm>
            <a:off x="4572000" y="1234440"/>
            <a:ext cx="4114800" cy="457200"/>
          </a:xfrm>
          <a:prstGeom prst="roundRect">
            <a:avLst>
              <a:gd name="adj" fmla="val 12000"/>
            </a:avLst>
          </a:prstGeom>
          <a:solidFill>
            <a:srgbClr val="EEF2FB"/>
          </a:solidFill>
          <a:ln w="12700">
            <a:solidFill>
              <a:srgbClr val="EEF2FB"/>
            </a:solidFill>
            <a:prstDash val="solid"/>
          </a:ln>
        </p:spPr>
      </p:sp>
      <p:sp>
        <p:nvSpPr>
          <p:cNvPr id="7" name="Text 4"/>
          <p:cNvSpPr txBox="1"/>
          <p:nvPr/>
        </p:nvSpPr>
        <p:spPr>
          <a:xfrm>
            <a:off x="4681728" y="1234440"/>
            <a:ext cx="3931920" cy="457200"/>
          </a:xfrm>
          <a:prstGeom prst="rect">
            <a:avLst/>
          </a:prstGeom>
          <a:noFill/>
          <a:ln/>
        </p:spPr>
        <p:txBody>
          <a:bodyPr wrap="square" lIns="0" tIns="0" rIns="0" bIns="0" rtlCol="0" anchor="ctr"/>
          <a:lstStyle/>
          <a:p>
            <a:pPr indent="0" marL="0">
              <a:buNone/>
            </a:pPr>
            <a:r>
              <a:rPr lang="en-US" sz="1200" b="1" dirty="0">
                <a:solidFill>
                  <a:srgbClr val="1B2130"/>
                </a:solidFill>
                <a:latin typeface="Calibri" pitchFamily="34" charset="0"/>
                <a:ea typeface="Calibri" pitchFamily="34" charset="-122"/>
                <a:cs typeface="Calibri" pitchFamily="34" charset="-120"/>
              </a:rPr>
              <a:t>1  Sensing  </a:t>
            </a:r>
            <a:pPr indent="0" marL="0">
              <a:buNone/>
            </a:pPr>
            <a:r>
              <a:rPr lang="en-US" sz="1200" dirty="0">
                <a:solidFill>
                  <a:srgbClr val="5C6577"/>
                </a:solidFill>
                <a:latin typeface="Calibri" pitchFamily="34" charset="0"/>
                <a:ea typeface="Calibri" pitchFamily="34" charset="-122"/>
                <a:cs typeface="Calibri" pitchFamily="34" charset="-120"/>
              </a:rPr>
              <a:t>a camera above the belt</a:t>
            </a:r>
            <a:endParaRPr lang="en-US" sz="1200" dirty="0"/>
          </a:p>
        </p:txBody>
      </p:sp>
      <p:sp>
        <p:nvSpPr>
          <p:cNvPr id="8" name="Shape 5"/>
          <p:cNvSpPr/>
          <p:nvPr/>
        </p:nvSpPr>
        <p:spPr>
          <a:xfrm>
            <a:off x="4572000" y="1764792"/>
            <a:ext cx="4114800" cy="457200"/>
          </a:xfrm>
          <a:prstGeom prst="roundRect">
            <a:avLst>
              <a:gd name="adj" fmla="val 12000"/>
            </a:avLst>
          </a:prstGeom>
          <a:solidFill>
            <a:srgbClr val="EEF2FB"/>
          </a:solidFill>
          <a:ln w="12700">
            <a:solidFill>
              <a:srgbClr val="EEF2FB"/>
            </a:solidFill>
            <a:prstDash val="solid"/>
          </a:ln>
        </p:spPr>
      </p:sp>
      <p:sp>
        <p:nvSpPr>
          <p:cNvPr id="9" name="Text 6"/>
          <p:cNvSpPr txBox="1"/>
          <p:nvPr/>
        </p:nvSpPr>
        <p:spPr>
          <a:xfrm>
            <a:off x="4681728" y="1764792"/>
            <a:ext cx="3931920" cy="457200"/>
          </a:xfrm>
          <a:prstGeom prst="rect">
            <a:avLst/>
          </a:prstGeom>
          <a:noFill/>
          <a:ln/>
        </p:spPr>
        <p:txBody>
          <a:bodyPr wrap="square" lIns="0" tIns="0" rIns="0" bIns="0" rtlCol="0" anchor="ctr"/>
          <a:lstStyle/>
          <a:p>
            <a:pPr indent="0" marL="0">
              <a:buNone/>
            </a:pPr>
            <a:r>
              <a:rPr lang="en-US" sz="1200" b="1" dirty="0">
                <a:solidFill>
                  <a:srgbClr val="1B2130"/>
                </a:solidFill>
                <a:latin typeface="Calibri" pitchFamily="34" charset="0"/>
                <a:ea typeface="Calibri" pitchFamily="34" charset="-122"/>
                <a:cs typeface="Calibri" pitchFamily="34" charset="-120"/>
              </a:rPr>
              <a:t>2  Pre-processing &amp; segmentation  </a:t>
            </a:r>
            <a:pPr indent="0" marL="0">
              <a:buNone/>
            </a:pPr>
            <a:r>
              <a:rPr lang="en-US" sz="1200" dirty="0">
                <a:solidFill>
                  <a:srgbClr val="5C6577"/>
                </a:solidFill>
                <a:latin typeface="Calibri" pitchFamily="34" charset="0"/>
                <a:ea typeface="Calibri" pitchFamily="34" charset="-122"/>
                <a:cs typeface="Calibri" pitchFamily="34" charset="-120"/>
              </a:rPr>
              <a:t>remove background, separate each fish</a:t>
            </a:r>
            <a:endParaRPr lang="en-US" sz="1200" dirty="0"/>
          </a:p>
        </p:txBody>
      </p:sp>
      <p:sp>
        <p:nvSpPr>
          <p:cNvPr id="10" name="Shape 7"/>
          <p:cNvSpPr/>
          <p:nvPr/>
        </p:nvSpPr>
        <p:spPr>
          <a:xfrm>
            <a:off x="4572000" y="2295144"/>
            <a:ext cx="4114800" cy="457200"/>
          </a:xfrm>
          <a:prstGeom prst="roundRect">
            <a:avLst>
              <a:gd name="adj" fmla="val 12000"/>
            </a:avLst>
          </a:prstGeom>
          <a:solidFill>
            <a:srgbClr val="EEF2FB"/>
          </a:solidFill>
          <a:ln w="12700">
            <a:solidFill>
              <a:srgbClr val="EEF2FB"/>
            </a:solidFill>
            <a:prstDash val="solid"/>
          </a:ln>
        </p:spPr>
      </p:sp>
      <p:sp>
        <p:nvSpPr>
          <p:cNvPr id="11" name="Text 8"/>
          <p:cNvSpPr txBox="1"/>
          <p:nvPr/>
        </p:nvSpPr>
        <p:spPr>
          <a:xfrm>
            <a:off x="4681728" y="2295144"/>
            <a:ext cx="3931920" cy="457200"/>
          </a:xfrm>
          <a:prstGeom prst="rect">
            <a:avLst/>
          </a:prstGeom>
          <a:noFill/>
          <a:ln/>
        </p:spPr>
        <p:txBody>
          <a:bodyPr wrap="square" lIns="0" tIns="0" rIns="0" bIns="0" rtlCol="0" anchor="ctr"/>
          <a:lstStyle/>
          <a:p>
            <a:pPr indent="0" marL="0">
              <a:buNone/>
            </a:pPr>
            <a:r>
              <a:rPr lang="en-US" sz="1200" b="1" dirty="0">
                <a:solidFill>
                  <a:srgbClr val="1B2130"/>
                </a:solidFill>
                <a:latin typeface="Calibri" pitchFamily="34" charset="0"/>
                <a:ea typeface="Calibri" pitchFamily="34" charset="-122"/>
                <a:cs typeface="Calibri" pitchFamily="34" charset="-120"/>
              </a:rPr>
              <a:t>3  Feature extraction  </a:t>
            </a:r>
            <a:pPr indent="0" marL="0">
              <a:buNone/>
            </a:pPr>
            <a:r>
              <a:rPr lang="en-US" sz="1200" dirty="0">
                <a:solidFill>
                  <a:srgbClr val="5C6577"/>
                </a:solidFill>
                <a:latin typeface="Calibri" pitchFamily="34" charset="0"/>
                <a:ea typeface="Calibri" pitchFamily="34" charset="-122"/>
                <a:cs typeface="Calibri" pitchFamily="34" charset="-120"/>
              </a:rPr>
              <a:t>lightness, width</a:t>
            </a:r>
            <a:endParaRPr lang="en-US" sz="1200" dirty="0"/>
          </a:p>
        </p:txBody>
      </p:sp>
      <p:sp>
        <p:nvSpPr>
          <p:cNvPr id="12" name="Shape 9"/>
          <p:cNvSpPr/>
          <p:nvPr/>
        </p:nvSpPr>
        <p:spPr>
          <a:xfrm>
            <a:off x="4572000" y="2825496"/>
            <a:ext cx="4114800" cy="457200"/>
          </a:xfrm>
          <a:prstGeom prst="roundRect">
            <a:avLst>
              <a:gd name="adj" fmla="val 12000"/>
            </a:avLst>
          </a:prstGeom>
          <a:solidFill>
            <a:srgbClr val="E8F5EE"/>
          </a:solidFill>
          <a:ln w="12700">
            <a:solidFill>
              <a:srgbClr val="E8F5EE"/>
            </a:solidFill>
            <a:prstDash val="solid"/>
          </a:ln>
        </p:spPr>
      </p:sp>
      <p:sp>
        <p:nvSpPr>
          <p:cNvPr id="13" name="Text 10"/>
          <p:cNvSpPr txBox="1"/>
          <p:nvPr/>
        </p:nvSpPr>
        <p:spPr>
          <a:xfrm>
            <a:off x="4681728" y="2825496"/>
            <a:ext cx="3931920" cy="457200"/>
          </a:xfrm>
          <a:prstGeom prst="rect">
            <a:avLst/>
          </a:prstGeom>
          <a:noFill/>
          <a:ln/>
        </p:spPr>
        <p:txBody>
          <a:bodyPr wrap="square" lIns="0" tIns="0" rIns="0" bIns="0" rtlCol="0" anchor="ctr"/>
          <a:lstStyle/>
          <a:p>
            <a:pPr indent="0" marL="0">
              <a:buNone/>
            </a:pPr>
            <a:r>
              <a:rPr lang="en-US" sz="1200" b="1" dirty="0">
                <a:solidFill>
                  <a:srgbClr val="1B2130"/>
                </a:solidFill>
                <a:latin typeface="Calibri" pitchFamily="34" charset="0"/>
                <a:ea typeface="Calibri" pitchFamily="34" charset="-122"/>
                <a:cs typeface="Calibri" pitchFamily="34" charset="-120"/>
              </a:rPr>
              <a:t>4  Classification  </a:t>
            </a:r>
            <a:pPr indent="0" marL="0">
              <a:buNone/>
            </a:pPr>
            <a:r>
              <a:rPr lang="en-US" sz="1200" dirty="0">
                <a:solidFill>
                  <a:srgbClr val="5C6577"/>
                </a:solidFill>
                <a:latin typeface="Calibri" pitchFamily="34" charset="0"/>
                <a:ea typeface="Calibri" pitchFamily="34" charset="-122"/>
                <a:cs typeface="Calibri" pitchFamily="34" charset="-120"/>
              </a:rPr>
              <a:t>sea bass or salmon?</a:t>
            </a:r>
            <a:endParaRPr lang="en-US" sz="1200" dirty="0"/>
          </a:p>
        </p:txBody>
      </p:sp>
      <p:sp>
        <p:nvSpPr>
          <p:cNvPr id="14" name="Shape 11"/>
          <p:cNvSpPr/>
          <p:nvPr/>
        </p:nvSpPr>
        <p:spPr>
          <a:xfrm>
            <a:off x="4572000" y="3355848"/>
            <a:ext cx="4114800" cy="457200"/>
          </a:xfrm>
          <a:prstGeom prst="roundRect">
            <a:avLst>
              <a:gd name="adj" fmla="val 12000"/>
            </a:avLst>
          </a:prstGeom>
          <a:solidFill>
            <a:srgbClr val="EEF2FB"/>
          </a:solidFill>
          <a:ln w="12700">
            <a:solidFill>
              <a:srgbClr val="EEF2FB"/>
            </a:solidFill>
            <a:prstDash val="solid"/>
          </a:ln>
        </p:spPr>
      </p:sp>
      <p:sp>
        <p:nvSpPr>
          <p:cNvPr id="15" name="Text 12"/>
          <p:cNvSpPr txBox="1"/>
          <p:nvPr/>
        </p:nvSpPr>
        <p:spPr>
          <a:xfrm>
            <a:off x="4681728" y="3355848"/>
            <a:ext cx="3931920" cy="457200"/>
          </a:xfrm>
          <a:prstGeom prst="rect">
            <a:avLst/>
          </a:prstGeom>
          <a:noFill/>
          <a:ln/>
        </p:spPr>
        <p:txBody>
          <a:bodyPr wrap="square" lIns="0" tIns="0" rIns="0" bIns="0" rtlCol="0" anchor="ctr"/>
          <a:lstStyle/>
          <a:p>
            <a:pPr indent="0" marL="0">
              <a:buNone/>
            </a:pPr>
            <a:r>
              <a:rPr lang="en-US" sz="1200" b="1" dirty="0">
                <a:solidFill>
                  <a:srgbClr val="1B2130"/>
                </a:solidFill>
                <a:latin typeface="Calibri" pitchFamily="34" charset="0"/>
                <a:ea typeface="Calibri" pitchFamily="34" charset="-122"/>
                <a:cs typeface="Calibri" pitchFamily="34" charset="-120"/>
              </a:rPr>
              <a:t>5  Post-processing  </a:t>
            </a:r>
            <a:pPr indent="0" marL="0">
              <a:buNone/>
            </a:pPr>
            <a:r>
              <a:rPr lang="en-US" sz="1200" dirty="0">
                <a:solidFill>
                  <a:srgbClr val="5C6577"/>
                </a:solidFill>
                <a:latin typeface="Calibri" pitchFamily="34" charset="0"/>
                <a:ea typeface="Calibri" pitchFamily="34" charset="-122"/>
                <a:cs typeface="Calibri" pitchFamily="34" charset="-120"/>
              </a:rPr>
              <a:t>act: send it to the right box</a:t>
            </a:r>
            <a:endParaRPr lang="en-US" sz="1200" dirty="0"/>
          </a:p>
        </p:txBody>
      </p:sp>
      <p:sp>
        <p:nvSpPr>
          <p:cNvPr id="16" name="Text 13"/>
          <p:cNvSpPr txBox="1"/>
          <p:nvPr/>
        </p:nvSpPr>
        <p:spPr>
          <a:xfrm>
            <a:off x="457200" y="4069080"/>
            <a:ext cx="8229600" cy="548640"/>
          </a:xfrm>
          <a:prstGeom prst="rect">
            <a:avLst/>
          </a:prstGeom>
          <a:noFill/>
          <a:ln/>
        </p:spPr>
        <p:txBody>
          <a:bodyPr wrap="square" lIns="0" tIns="0" rIns="0" bIns="0" rtlCol="0" anchor="ctr"/>
          <a:lstStyle/>
          <a:p>
            <a:pPr indent="0" marL="0">
              <a:buNone/>
            </a:pPr>
            <a:r>
              <a:rPr lang="en-US" sz="1400" dirty="0">
                <a:solidFill>
                  <a:srgbClr val="1B2130"/>
                </a:solidFill>
                <a:latin typeface="Calibri" pitchFamily="34" charset="0"/>
                <a:ea typeface="Calibri" pitchFamily="34" charset="-122"/>
                <a:cs typeface="Calibri" pitchFamily="34" charset="-120"/>
              </a:rPr>
              <a:t>Same stages in a number-plate reader: camera → find the plate and each character → features of each character → letter or digit → check the plate format.</a:t>
            </a:r>
            <a:endParaRPr lang="en-US" sz="1400" dirty="0"/>
          </a:p>
        </p:txBody>
      </p:sp>
      <p:sp>
        <p:nvSpPr>
          <p:cNvPr id="17" name="Text 14"/>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1 · Video 1.4</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The design cycle</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How we build a system, and where each step is in this course</a:t>
            </a:r>
            <a:endParaRPr lang="en-US" sz="1500" dirty="0"/>
          </a:p>
        </p:txBody>
      </p:sp>
      <p:sp>
        <p:nvSpPr>
          <p:cNvPr id="4" name="Shape 2"/>
          <p:cNvSpPr/>
          <p:nvPr/>
        </p:nvSpPr>
        <p:spPr>
          <a:xfrm>
            <a:off x="365760" y="1463040"/>
            <a:ext cx="1481328" cy="914400"/>
          </a:xfrm>
          <a:prstGeom prst="roundRect">
            <a:avLst>
              <a:gd name="adj" fmla="val 8000"/>
            </a:avLst>
          </a:prstGeom>
          <a:solidFill>
            <a:srgbClr val="EEF2FB"/>
          </a:solidFill>
          <a:ln w="12700">
            <a:solidFill>
              <a:srgbClr val="EEF2FB"/>
            </a:solidFill>
            <a:prstDash val="solid"/>
          </a:ln>
        </p:spPr>
      </p:sp>
      <p:sp>
        <p:nvSpPr>
          <p:cNvPr id="5" name="Text 3"/>
          <p:cNvSpPr txBox="1"/>
          <p:nvPr/>
        </p:nvSpPr>
        <p:spPr>
          <a:xfrm>
            <a:off x="365760" y="1463040"/>
            <a:ext cx="1481328" cy="914400"/>
          </a:xfrm>
          <a:prstGeom prst="rect">
            <a:avLst/>
          </a:prstGeom>
          <a:noFill/>
          <a:ln/>
        </p:spPr>
        <p:txBody>
          <a:bodyPr wrap="square" lIns="0" tIns="0" rIns="0" bIns="0" rtlCol="0" anchor="ctr"/>
          <a:lstStyle/>
          <a:p>
            <a:pPr algn="ctr" indent="0" marL="0">
              <a:buNone/>
            </a:pPr>
            <a:r>
              <a:rPr lang="en-US" sz="1500" b="1" dirty="0">
                <a:solidFill>
                  <a:srgbClr val="1B2130"/>
                </a:solidFill>
                <a:latin typeface="Calibri" pitchFamily="34" charset="0"/>
                <a:ea typeface="Calibri" pitchFamily="34" charset="-122"/>
                <a:cs typeface="Calibri" pitchFamily="34" charset="-120"/>
              </a:rPr>
              <a:t>Collect data</a:t>
            </a:r>
            <a:endParaRPr lang="en-US" sz="1500" dirty="0"/>
          </a:p>
        </p:txBody>
      </p:sp>
      <p:sp>
        <p:nvSpPr>
          <p:cNvPr id="6" name="Text 4"/>
          <p:cNvSpPr txBox="1"/>
          <p:nvPr/>
        </p:nvSpPr>
        <p:spPr>
          <a:xfrm>
            <a:off x="365760" y="2468880"/>
            <a:ext cx="1481328" cy="365760"/>
          </a:xfrm>
          <a:prstGeom prst="rect">
            <a:avLst/>
          </a:prstGeom>
          <a:noFill/>
          <a:ln/>
        </p:spPr>
        <p:txBody>
          <a:bodyPr wrap="square" lIns="0" tIns="0" rIns="0" bIns="0" rtlCol="0" anchor="ctr"/>
          <a:lstStyle/>
          <a:p>
            <a:pPr algn="ctr" indent="0" marL="0">
              <a:buNone/>
            </a:pPr>
            <a:r>
              <a:rPr lang="en-US" sz="1200" dirty="0">
                <a:solidFill>
                  <a:srgbClr val="2D5BC4"/>
                </a:solidFill>
                <a:latin typeface="Calibri" pitchFamily="34" charset="0"/>
                <a:ea typeface="Calibri" pitchFamily="34" charset="-122"/>
                <a:cs typeface="Calibri" pitchFamily="34" charset="-120"/>
              </a:rPr>
              <a:t>Lab 1</a:t>
            </a:r>
            <a:endParaRPr lang="en-US" sz="1200" dirty="0"/>
          </a:p>
        </p:txBody>
      </p:sp>
      <p:sp>
        <p:nvSpPr>
          <p:cNvPr id="7" name="Text 5"/>
          <p:cNvSpPr txBox="1"/>
          <p:nvPr/>
        </p:nvSpPr>
        <p:spPr>
          <a:xfrm>
            <a:off x="1828800" y="1691640"/>
            <a:ext cx="274320" cy="457200"/>
          </a:xfrm>
          <a:prstGeom prst="rect">
            <a:avLst/>
          </a:prstGeom>
          <a:noFill/>
          <a:ln/>
        </p:spPr>
        <p:txBody>
          <a:bodyPr wrap="square" lIns="0" tIns="0" rIns="0" bIns="0" rtlCol="0" anchor="ctr"/>
          <a:lstStyle/>
          <a:p>
            <a:pPr algn="ctr" indent="0" marL="0">
              <a:buNone/>
            </a:pPr>
            <a:r>
              <a:rPr lang="en-US" sz="2000" dirty="0">
                <a:solidFill>
                  <a:srgbClr val="5C6577"/>
                </a:solidFill>
                <a:latin typeface="Cambria" pitchFamily="34" charset="0"/>
                <a:ea typeface="Cambria" pitchFamily="34" charset="-122"/>
                <a:cs typeface="Cambria" pitchFamily="34" charset="-120"/>
              </a:rPr>
              <a:t>→</a:t>
            </a:r>
            <a:endParaRPr lang="en-US" sz="2000" dirty="0"/>
          </a:p>
        </p:txBody>
      </p:sp>
      <p:sp>
        <p:nvSpPr>
          <p:cNvPr id="8" name="Shape 6"/>
          <p:cNvSpPr/>
          <p:nvPr/>
        </p:nvSpPr>
        <p:spPr>
          <a:xfrm>
            <a:off x="2084832" y="1463040"/>
            <a:ext cx="1481328" cy="914400"/>
          </a:xfrm>
          <a:prstGeom prst="roundRect">
            <a:avLst>
              <a:gd name="adj" fmla="val 8000"/>
            </a:avLst>
          </a:prstGeom>
          <a:solidFill>
            <a:srgbClr val="EEF2FB"/>
          </a:solidFill>
          <a:ln w="12700">
            <a:solidFill>
              <a:srgbClr val="EEF2FB"/>
            </a:solidFill>
            <a:prstDash val="solid"/>
          </a:ln>
        </p:spPr>
      </p:sp>
      <p:sp>
        <p:nvSpPr>
          <p:cNvPr id="9" name="Text 7"/>
          <p:cNvSpPr txBox="1"/>
          <p:nvPr/>
        </p:nvSpPr>
        <p:spPr>
          <a:xfrm>
            <a:off x="2084832" y="1463040"/>
            <a:ext cx="1481328" cy="914400"/>
          </a:xfrm>
          <a:prstGeom prst="rect">
            <a:avLst/>
          </a:prstGeom>
          <a:noFill/>
          <a:ln/>
        </p:spPr>
        <p:txBody>
          <a:bodyPr wrap="square" lIns="0" tIns="0" rIns="0" bIns="0" rtlCol="0" anchor="ctr"/>
          <a:lstStyle/>
          <a:p>
            <a:pPr algn="ctr" indent="0" marL="0">
              <a:buNone/>
            </a:pPr>
            <a:r>
              <a:rPr lang="en-US" sz="1500" b="1" dirty="0">
                <a:solidFill>
                  <a:srgbClr val="1B2130"/>
                </a:solidFill>
                <a:latin typeface="Calibri" pitchFamily="34" charset="0"/>
                <a:ea typeface="Calibri" pitchFamily="34" charset="-122"/>
                <a:cs typeface="Calibri" pitchFamily="34" charset="-120"/>
              </a:rPr>
              <a:t>Choose features</a:t>
            </a:r>
            <a:endParaRPr lang="en-US" sz="1500" dirty="0"/>
          </a:p>
        </p:txBody>
      </p:sp>
      <p:sp>
        <p:nvSpPr>
          <p:cNvPr id="10" name="Text 8"/>
          <p:cNvSpPr txBox="1"/>
          <p:nvPr/>
        </p:nvSpPr>
        <p:spPr>
          <a:xfrm>
            <a:off x="2084832" y="2468880"/>
            <a:ext cx="1481328" cy="365760"/>
          </a:xfrm>
          <a:prstGeom prst="rect">
            <a:avLst/>
          </a:prstGeom>
          <a:noFill/>
          <a:ln/>
        </p:spPr>
        <p:txBody>
          <a:bodyPr wrap="square" lIns="0" tIns="0" rIns="0" bIns="0" rtlCol="0" anchor="ctr"/>
          <a:lstStyle/>
          <a:p>
            <a:pPr algn="ctr" indent="0" marL="0">
              <a:buNone/>
            </a:pPr>
            <a:r>
              <a:rPr lang="en-US" sz="1200" dirty="0">
                <a:solidFill>
                  <a:srgbClr val="2D5BC4"/>
                </a:solidFill>
                <a:latin typeface="Calibri" pitchFamily="34" charset="0"/>
                <a:ea typeface="Calibri" pitchFamily="34" charset="-122"/>
                <a:cs typeface="Calibri" pitchFamily="34" charset="-120"/>
              </a:rPr>
              <a:t>Weeks 2, 9</a:t>
            </a:r>
            <a:endParaRPr lang="en-US" sz="1200" dirty="0"/>
          </a:p>
        </p:txBody>
      </p:sp>
      <p:sp>
        <p:nvSpPr>
          <p:cNvPr id="11" name="Text 9"/>
          <p:cNvSpPr txBox="1"/>
          <p:nvPr/>
        </p:nvSpPr>
        <p:spPr>
          <a:xfrm>
            <a:off x="3547872" y="1691640"/>
            <a:ext cx="274320" cy="457200"/>
          </a:xfrm>
          <a:prstGeom prst="rect">
            <a:avLst/>
          </a:prstGeom>
          <a:noFill/>
          <a:ln/>
        </p:spPr>
        <p:txBody>
          <a:bodyPr wrap="square" lIns="0" tIns="0" rIns="0" bIns="0" rtlCol="0" anchor="ctr"/>
          <a:lstStyle/>
          <a:p>
            <a:pPr algn="ctr" indent="0" marL="0">
              <a:buNone/>
            </a:pPr>
            <a:r>
              <a:rPr lang="en-US" sz="2000" dirty="0">
                <a:solidFill>
                  <a:srgbClr val="5C6577"/>
                </a:solidFill>
                <a:latin typeface="Cambria" pitchFamily="34" charset="0"/>
                <a:ea typeface="Cambria" pitchFamily="34" charset="-122"/>
                <a:cs typeface="Cambria" pitchFamily="34" charset="-120"/>
              </a:rPr>
              <a:t>→</a:t>
            </a:r>
            <a:endParaRPr lang="en-US" sz="2000" dirty="0"/>
          </a:p>
        </p:txBody>
      </p:sp>
      <p:sp>
        <p:nvSpPr>
          <p:cNvPr id="12" name="Shape 10"/>
          <p:cNvSpPr/>
          <p:nvPr/>
        </p:nvSpPr>
        <p:spPr>
          <a:xfrm>
            <a:off x="3803904" y="1463040"/>
            <a:ext cx="1481328" cy="914400"/>
          </a:xfrm>
          <a:prstGeom prst="roundRect">
            <a:avLst>
              <a:gd name="adj" fmla="val 8000"/>
            </a:avLst>
          </a:prstGeom>
          <a:solidFill>
            <a:srgbClr val="EEF2FB"/>
          </a:solidFill>
          <a:ln w="12700">
            <a:solidFill>
              <a:srgbClr val="EEF2FB"/>
            </a:solidFill>
            <a:prstDash val="solid"/>
          </a:ln>
        </p:spPr>
      </p:sp>
      <p:sp>
        <p:nvSpPr>
          <p:cNvPr id="13" name="Text 11"/>
          <p:cNvSpPr txBox="1"/>
          <p:nvPr/>
        </p:nvSpPr>
        <p:spPr>
          <a:xfrm>
            <a:off x="3803904" y="1463040"/>
            <a:ext cx="1481328" cy="914400"/>
          </a:xfrm>
          <a:prstGeom prst="rect">
            <a:avLst/>
          </a:prstGeom>
          <a:noFill/>
          <a:ln/>
        </p:spPr>
        <p:txBody>
          <a:bodyPr wrap="square" lIns="0" tIns="0" rIns="0" bIns="0" rtlCol="0" anchor="ctr"/>
          <a:lstStyle/>
          <a:p>
            <a:pPr algn="ctr" indent="0" marL="0">
              <a:buNone/>
            </a:pPr>
            <a:r>
              <a:rPr lang="en-US" sz="1500" b="1" dirty="0">
                <a:solidFill>
                  <a:srgbClr val="1B2130"/>
                </a:solidFill>
                <a:latin typeface="Calibri" pitchFamily="34" charset="0"/>
                <a:ea typeface="Calibri" pitchFamily="34" charset="-122"/>
                <a:cs typeface="Calibri" pitchFamily="34" charset="-120"/>
              </a:rPr>
              <a:t>Choose a model</a:t>
            </a:r>
            <a:endParaRPr lang="en-US" sz="1500" dirty="0"/>
          </a:p>
        </p:txBody>
      </p:sp>
      <p:sp>
        <p:nvSpPr>
          <p:cNvPr id="14" name="Text 12"/>
          <p:cNvSpPr txBox="1"/>
          <p:nvPr/>
        </p:nvSpPr>
        <p:spPr>
          <a:xfrm>
            <a:off x="3803904" y="2468880"/>
            <a:ext cx="1481328" cy="365760"/>
          </a:xfrm>
          <a:prstGeom prst="rect">
            <a:avLst/>
          </a:prstGeom>
          <a:noFill/>
          <a:ln/>
        </p:spPr>
        <p:txBody>
          <a:bodyPr wrap="square" lIns="0" tIns="0" rIns="0" bIns="0" rtlCol="0" anchor="ctr"/>
          <a:lstStyle/>
          <a:p>
            <a:pPr algn="ctr" indent="0" marL="0">
              <a:buNone/>
            </a:pPr>
            <a:r>
              <a:rPr lang="en-US" sz="1200" dirty="0">
                <a:solidFill>
                  <a:srgbClr val="2D5BC4"/>
                </a:solidFill>
                <a:latin typeface="Calibri" pitchFamily="34" charset="0"/>
                <a:ea typeface="Calibri" pitchFamily="34" charset="-122"/>
                <a:cs typeface="Calibri" pitchFamily="34" charset="-120"/>
              </a:rPr>
              <a:t>Weeks 4–12</a:t>
            </a:r>
            <a:endParaRPr lang="en-US" sz="1200" dirty="0"/>
          </a:p>
        </p:txBody>
      </p:sp>
      <p:sp>
        <p:nvSpPr>
          <p:cNvPr id="15" name="Text 13"/>
          <p:cNvSpPr txBox="1"/>
          <p:nvPr/>
        </p:nvSpPr>
        <p:spPr>
          <a:xfrm>
            <a:off x="5266944" y="1691640"/>
            <a:ext cx="274320" cy="457200"/>
          </a:xfrm>
          <a:prstGeom prst="rect">
            <a:avLst/>
          </a:prstGeom>
          <a:noFill/>
          <a:ln/>
        </p:spPr>
        <p:txBody>
          <a:bodyPr wrap="square" lIns="0" tIns="0" rIns="0" bIns="0" rtlCol="0" anchor="ctr"/>
          <a:lstStyle/>
          <a:p>
            <a:pPr algn="ctr" indent="0" marL="0">
              <a:buNone/>
            </a:pPr>
            <a:r>
              <a:rPr lang="en-US" sz="2000" dirty="0">
                <a:solidFill>
                  <a:srgbClr val="5C6577"/>
                </a:solidFill>
                <a:latin typeface="Cambria" pitchFamily="34" charset="0"/>
                <a:ea typeface="Cambria" pitchFamily="34" charset="-122"/>
                <a:cs typeface="Cambria" pitchFamily="34" charset="-120"/>
              </a:rPr>
              <a:t>→</a:t>
            </a:r>
            <a:endParaRPr lang="en-US" sz="2000" dirty="0"/>
          </a:p>
        </p:txBody>
      </p:sp>
      <p:sp>
        <p:nvSpPr>
          <p:cNvPr id="16" name="Shape 14"/>
          <p:cNvSpPr/>
          <p:nvPr/>
        </p:nvSpPr>
        <p:spPr>
          <a:xfrm>
            <a:off x="5522976" y="1463040"/>
            <a:ext cx="1481328" cy="914400"/>
          </a:xfrm>
          <a:prstGeom prst="roundRect">
            <a:avLst>
              <a:gd name="adj" fmla="val 8000"/>
            </a:avLst>
          </a:prstGeom>
          <a:solidFill>
            <a:srgbClr val="EEF2FB"/>
          </a:solidFill>
          <a:ln w="12700">
            <a:solidFill>
              <a:srgbClr val="EEF2FB"/>
            </a:solidFill>
            <a:prstDash val="solid"/>
          </a:ln>
        </p:spPr>
      </p:sp>
      <p:sp>
        <p:nvSpPr>
          <p:cNvPr id="17" name="Text 15"/>
          <p:cNvSpPr txBox="1"/>
          <p:nvPr/>
        </p:nvSpPr>
        <p:spPr>
          <a:xfrm>
            <a:off x="5522976" y="1463040"/>
            <a:ext cx="1481328" cy="914400"/>
          </a:xfrm>
          <a:prstGeom prst="rect">
            <a:avLst/>
          </a:prstGeom>
          <a:noFill/>
          <a:ln/>
        </p:spPr>
        <p:txBody>
          <a:bodyPr wrap="square" lIns="0" tIns="0" rIns="0" bIns="0" rtlCol="0" anchor="ctr"/>
          <a:lstStyle/>
          <a:p>
            <a:pPr algn="ctr" indent="0" marL="0">
              <a:buNone/>
            </a:pPr>
            <a:r>
              <a:rPr lang="en-US" sz="1500" b="1" dirty="0">
                <a:solidFill>
                  <a:srgbClr val="1B2130"/>
                </a:solidFill>
                <a:latin typeface="Calibri" pitchFamily="34" charset="0"/>
                <a:ea typeface="Calibri" pitchFamily="34" charset="-122"/>
                <a:cs typeface="Calibri" pitchFamily="34" charset="-120"/>
              </a:rPr>
              <a:t>Train</a:t>
            </a:r>
            <a:endParaRPr lang="en-US" sz="1500" dirty="0"/>
          </a:p>
        </p:txBody>
      </p:sp>
      <p:sp>
        <p:nvSpPr>
          <p:cNvPr id="18" name="Text 16"/>
          <p:cNvSpPr txBox="1"/>
          <p:nvPr/>
        </p:nvSpPr>
        <p:spPr>
          <a:xfrm>
            <a:off x="5522976" y="2468880"/>
            <a:ext cx="1481328" cy="365760"/>
          </a:xfrm>
          <a:prstGeom prst="rect">
            <a:avLst/>
          </a:prstGeom>
          <a:noFill/>
          <a:ln/>
        </p:spPr>
        <p:txBody>
          <a:bodyPr wrap="square" lIns="0" tIns="0" rIns="0" bIns="0" rtlCol="0" anchor="ctr"/>
          <a:lstStyle/>
          <a:p>
            <a:pPr algn="ctr" indent="0" marL="0">
              <a:buNone/>
            </a:pPr>
            <a:r>
              <a:rPr lang="en-US" sz="1200" dirty="0">
                <a:solidFill>
                  <a:srgbClr val="2D5BC4"/>
                </a:solidFill>
                <a:latin typeface="Calibri" pitchFamily="34" charset="0"/>
                <a:ea typeface="Calibri" pitchFamily="34" charset="-122"/>
                <a:cs typeface="Calibri" pitchFamily="34" charset="-120"/>
              </a:rPr>
              <a:t>Weeks 5, 7–12</a:t>
            </a:r>
            <a:endParaRPr lang="en-US" sz="1200" dirty="0"/>
          </a:p>
        </p:txBody>
      </p:sp>
      <p:sp>
        <p:nvSpPr>
          <p:cNvPr id="19" name="Text 17"/>
          <p:cNvSpPr txBox="1"/>
          <p:nvPr/>
        </p:nvSpPr>
        <p:spPr>
          <a:xfrm>
            <a:off x="6986016" y="1691640"/>
            <a:ext cx="274320" cy="457200"/>
          </a:xfrm>
          <a:prstGeom prst="rect">
            <a:avLst/>
          </a:prstGeom>
          <a:noFill/>
          <a:ln/>
        </p:spPr>
        <p:txBody>
          <a:bodyPr wrap="square" lIns="0" tIns="0" rIns="0" bIns="0" rtlCol="0" anchor="ctr"/>
          <a:lstStyle/>
          <a:p>
            <a:pPr algn="ctr" indent="0" marL="0">
              <a:buNone/>
            </a:pPr>
            <a:r>
              <a:rPr lang="en-US" sz="2000" dirty="0">
                <a:solidFill>
                  <a:srgbClr val="5C6577"/>
                </a:solidFill>
                <a:latin typeface="Cambria" pitchFamily="34" charset="0"/>
                <a:ea typeface="Cambria" pitchFamily="34" charset="-122"/>
                <a:cs typeface="Cambria" pitchFamily="34" charset="-120"/>
              </a:rPr>
              <a:t>→</a:t>
            </a:r>
            <a:endParaRPr lang="en-US" sz="2000" dirty="0"/>
          </a:p>
        </p:txBody>
      </p:sp>
      <p:sp>
        <p:nvSpPr>
          <p:cNvPr id="20" name="Shape 18"/>
          <p:cNvSpPr/>
          <p:nvPr/>
        </p:nvSpPr>
        <p:spPr>
          <a:xfrm>
            <a:off x="7242048" y="1463040"/>
            <a:ext cx="1481328" cy="914400"/>
          </a:xfrm>
          <a:prstGeom prst="roundRect">
            <a:avLst>
              <a:gd name="adj" fmla="val 8000"/>
            </a:avLst>
          </a:prstGeom>
          <a:solidFill>
            <a:srgbClr val="E8F5EE"/>
          </a:solidFill>
          <a:ln w="12700">
            <a:solidFill>
              <a:srgbClr val="E8F5EE"/>
            </a:solidFill>
            <a:prstDash val="solid"/>
          </a:ln>
        </p:spPr>
      </p:sp>
      <p:sp>
        <p:nvSpPr>
          <p:cNvPr id="21" name="Text 19"/>
          <p:cNvSpPr txBox="1"/>
          <p:nvPr/>
        </p:nvSpPr>
        <p:spPr>
          <a:xfrm>
            <a:off x="7242048" y="1463040"/>
            <a:ext cx="1481328" cy="914400"/>
          </a:xfrm>
          <a:prstGeom prst="rect">
            <a:avLst/>
          </a:prstGeom>
          <a:noFill/>
          <a:ln/>
        </p:spPr>
        <p:txBody>
          <a:bodyPr wrap="square" lIns="0" tIns="0" rIns="0" bIns="0" rtlCol="0" anchor="ctr"/>
          <a:lstStyle/>
          <a:p>
            <a:pPr algn="ctr" indent="0" marL="0">
              <a:buNone/>
            </a:pPr>
            <a:r>
              <a:rPr lang="en-US" sz="1500" b="1" dirty="0">
                <a:solidFill>
                  <a:srgbClr val="1B2130"/>
                </a:solidFill>
                <a:latin typeface="Calibri" pitchFamily="34" charset="0"/>
                <a:ea typeface="Calibri" pitchFamily="34" charset="-122"/>
                <a:cs typeface="Calibri" pitchFamily="34" charset="-120"/>
              </a:rPr>
              <a:t>Evaluate</a:t>
            </a:r>
            <a:endParaRPr lang="en-US" sz="1500" dirty="0"/>
          </a:p>
        </p:txBody>
      </p:sp>
      <p:sp>
        <p:nvSpPr>
          <p:cNvPr id="22" name="Text 20"/>
          <p:cNvSpPr txBox="1"/>
          <p:nvPr/>
        </p:nvSpPr>
        <p:spPr>
          <a:xfrm>
            <a:off x="7242048" y="2468880"/>
            <a:ext cx="1481328" cy="365760"/>
          </a:xfrm>
          <a:prstGeom prst="rect">
            <a:avLst/>
          </a:prstGeom>
          <a:noFill/>
          <a:ln/>
        </p:spPr>
        <p:txBody>
          <a:bodyPr wrap="square" lIns="0" tIns="0" rIns="0" bIns="0" rtlCol="0" anchor="ctr"/>
          <a:lstStyle/>
          <a:p>
            <a:pPr algn="ctr" indent="0" marL="0">
              <a:buNone/>
            </a:pPr>
            <a:r>
              <a:rPr lang="en-US" sz="1200" dirty="0">
                <a:solidFill>
                  <a:srgbClr val="2D5BC4"/>
                </a:solidFill>
                <a:latin typeface="Calibri" pitchFamily="34" charset="0"/>
                <a:ea typeface="Calibri" pitchFamily="34" charset="-122"/>
                <a:cs typeface="Calibri" pitchFamily="34" charset="-120"/>
              </a:rPr>
              <a:t>Week 6</a:t>
            </a:r>
            <a:endParaRPr lang="en-US" sz="1200" dirty="0"/>
          </a:p>
        </p:txBody>
      </p:sp>
      <p:sp>
        <p:nvSpPr>
          <p:cNvPr id="23" name="Text 21"/>
          <p:cNvSpPr txBox="1"/>
          <p:nvPr/>
        </p:nvSpPr>
        <p:spPr>
          <a:xfrm>
            <a:off x="365760" y="3063240"/>
            <a:ext cx="8229600" cy="365760"/>
          </a:xfrm>
          <a:prstGeom prst="rect">
            <a:avLst/>
          </a:prstGeom>
          <a:noFill/>
          <a:ln/>
        </p:spPr>
        <p:txBody>
          <a:bodyPr wrap="square" lIns="0" tIns="0" rIns="0" bIns="0" rtlCol="0" anchor="ctr"/>
          <a:lstStyle/>
          <a:p>
            <a:pPr indent="0" marL="0">
              <a:buNone/>
            </a:pPr>
            <a:r>
              <a:rPr lang="en-US" sz="1600" b="1" dirty="0">
                <a:solidFill>
                  <a:srgbClr val="D9822B"/>
                </a:solidFill>
                <a:latin typeface="Calibri" pitchFamily="34" charset="0"/>
                <a:ea typeface="Calibri" pitchFamily="34" charset="-122"/>
                <a:cs typeface="Calibri" pitchFamily="34" charset="-120"/>
              </a:rPr>
              <a:t>↺  Not good enough? Go back to an earlier step.</a:t>
            </a:r>
            <a:endParaRPr lang="en-US" sz="1600" dirty="0"/>
          </a:p>
        </p:txBody>
      </p:sp>
      <p:sp>
        <p:nvSpPr>
          <p:cNvPr id="24" name="Text 22"/>
          <p:cNvSpPr txBox="1"/>
          <p:nvPr/>
        </p:nvSpPr>
        <p:spPr>
          <a:xfrm>
            <a:off x="365760" y="3657600"/>
            <a:ext cx="8412480" cy="640080"/>
          </a:xfrm>
          <a:prstGeom prst="rect">
            <a:avLst/>
          </a:prstGeom>
          <a:noFill/>
          <a:ln/>
        </p:spPr>
        <p:txBody>
          <a:bodyPr wrap="square" lIns="0" tIns="0" rIns="0" bIns="0" rtlCol="0" anchor="ctr"/>
          <a:lstStyle/>
          <a:p>
            <a:pPr indent="0" marL="0">
              <a:buNone/>
            </a:pPr>
            <a:r>
              <a:rPr lang="en-US" sz="1500" dirty="0">
                <a:solidFill>
                  <a:srgbClr val="1B2130"/>
                </a:solidFill>
                <a:latin typeface="Calibri" pitchFamily="34" charset="0"/>
                <a:ea typeface="Calibri" pitchFamily="34" charset="-122"/>
                <a:cs typeface="Calibri" pitchFamily="34" charset="-120"/>
              </a:rPr>
              <a:t>Your final project follows this cycle: define a problem, choose features and an algorithm, build it, and test it.</a:t>
            </a:r>
            <a:endParaRPr lang="en-US" sz="1500" dirty="0"/>
          </a:p>
        </p:txBody>
      </p:sp>
      <p:sp>
        <p:nvSpPr>
          <p:cNvPr id="25" name="Text 23"/>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1 · Video 1.4</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Three kinds of learning</a:t>
            </a:r>
            <a:endParaRPr lang="en-US" sz="3000" dirty="0"/>
          </a:p>
        </p:txBody>
      </p:sp>
      <p:sp>
        <p:nvSpPr>
          <p:cNvPr id="3" name="Shape 1"/>
          <p:cNvSpPr/>
          <p:nvPr/>
        </p:nvSpPr>
        <p:spPr>
          <a:xfrm>
            <a:off x="457200" y="1097280"/>
            <a:ext cx="2606040" cy="2743200"/>
          </a:xfrm>
          <a:prstGeom prst="roundRect">
            <a:avLst>
              <a:gd name="adj" fmla="val 2807"/>
            </a:avLst>
          </a:prstGeom>
          <a:solidFill>
            <a:srgbClr val="EEF2FB"/>
          </a:solidFill>
          <a:ln w="12700">
            <a:solidFill>
              <a:srgbClr val="EEF2FB"/>
            </a:solidFill>
            <a:prstDash val="solid"/>
          </a:ln>
        </p:spPr>
      </p:sp>
      <p:sp>
        <p:nvSpPr>
          <p:cNvPr id="4" name="Text 2"/>
          <p:cNvSpPr txBox="1"/>
          <p:nvPr/>
        </p:nvSpPr>
        <p:spPr>
          <a:xfrm>
            <a:off x="640080" y="1188720"/>
            <a:ext cx="2240280" cy="411480"/>
          </a:xfrm>
          <a:prstGeom prst="rect">
            <a:avLst/>
          </a:prstGeom>
          <a:noFill/>
          <a:ln/>
        </p:spPr>
        <p:txBody>
          <a:bodyPr wrap="square" lIns="0" tIns="0" rIns="0" bIns="0" rtlCol="0" anchor="ctr"/>
          <a:lstStyle/>
          <a:p>
            <a:pPr indent="0" marL="0">
              <a:buNone/>
            </a:pPr>
            <a:r>
              <a:rPr lang="en-US" sz="2000" b="1" dirty="0">
                <a:solidFill>
                  <a:srgbClr val="1B2130"/>
                </a:solidFill>
                <a:latin typeface="Cambria" pitchFamily="34" charset="0"/>
                <a:ea typeface="Cambria" pitchFamily="34" charset="-122"/>
                <a:cs typeface="Cambria" pitchFamily="34" charset="-120"/>
              </a:rPr>
              <a:t>Supervised</a:t>
            </a:r>
            <a:endParaRPr lang="en-US" sz="2000" dirty="0"/>
          </a:p>
        </p:txBody>
      </p:sp>
      <p:sp>
        <p:nvSpPr>
          <p:cNvPr id="5" name="Shape 3"/>
          <p:cNvSpPr/>
          <p:nvPr/>
        </p:nvSpPr>
        <p:spPr>
          <a:xfrm>
            <a:off x="640080" y="1645920"/>
            <a:ext cx="2240280" cy="960120"/>
          </a:xfrm>
          <a:prstGeom prst="roundRect">
            <a:avLst>
              <a:gd name="adj" fmla="val 4762"/>
            </a:avLst>
          </a:prstGeom>
          <a:solidFill>
            <a:srgbClr val="FFFFFF"/>
          </a:solidFill>
          <a:ln w="12700">
            <a:solidFill>
              <a:srgbClr val="FFFFFF"/>
            </a:solidFill>
            <a:prstDash val="solid"/>
          </a:ln>
        </p:spPr>
      </p:sp>
      <p:pic>
        <p:nvPicPr>
          <p:cNvPr id="6" name="Image 0" descr="learn_sup.png">    </p:cNvPr>
          <p:cNvPicPr>
            <a:picLocks noChangeAspect="1"/>
          </p:cNvPicPr>
          <p:nvPr/>
        </p:nvPicPr>
        <p:blipFill>
          <a:blip r:embed="rId1"/>
          <a:stretch>
            <a:fillRect/>
          </a:stretch>
        </p:blipFill>
        <p:spPr>
          <a:xfrm>
            <a:off x="640080" y="1645920"/>
            <a:ext cx="2240280" cy="960120"/>
          </a:xfrm>
          <a:prstGeom prst="rect">
            <a:avLst/>
          </a:prstGeom>
        </p:spPr>
      </p:pic>
      <p:sp>
        <p:nvSpPr>
          <p:cNvPr id="7" name="Text 4"/>
          <p:cNvSpPr txBox="1"/>
          <p:nvPr/>
        </p:nvSpPr>
        <p:spPr>
          <a:xfrm>
            <a:off x="640080" y="2697480"/>
            <a:ext cx="2240280" cy="1097280"/>
          </a:xfrm>
          <a:prstGeom prst="rect">
            <a:avLst/>
          </a:prstGeom>
          <a:noFill/>
          <a:ln/>
        </p:spPr>
        <p:txBody>
          <a:bodyPr wrap="square" lIns="0" tIns="0" rIns="0" bIns="0" rtlCol="0" anchor="t"/>
          <a:lstStyle/>
          <a:p>
            <a:pPr indent="0" marL="0">
              <a:buNone/>
            </a:pPr>
            <a:r>
              <a:rPr lang="en-US" sz="1400" dirty="0">
                <a:solidFill>
                  <a:srgbClr val="1B2130"/>
                </a:solidFill>
                <a:latin typeface="Calibri" pitchFamily="34" charset="0"/>
                <a:ea typeface="Calibri" pitchFamily="34" charset="-122"/>
                <a:cs typeface="Calibri" pitchFamily="34" charset="-120"/>
              </a:rPr>
              <a:t>every sample has its correct class (a label)</a:t>
            </a:r>
            <a:endParaRPr lang="en-US" sz="1400" dirty="0"/>
          </a:p>
          <a:p>
            <a:pPr indent="0" marL="0">
              <a:buNone/>
            </a:pPr>
            <a:r>
              <a:rPr lang="en-US" sz="5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200" i="1" dirty="0">
                <a:solidFill>
                  <a:srgbClr val="5C6577"/>
                </a:solidFill>
                <a:latin typeface="Calibri" pitchFamily="34" charset="0"/>
                <a:ea typeface="Calibri" pitchFamily="34" charset="-122"/>
                <a:cs typeface="Calibri" pitchFamily="34" charset="-120"/>
              </a:rPr>
              <a:t>e.g. fish with known species</a:t>
            </a:r>
            <a:endParaRPr lang="en-US" sz="1400" dirty="0"/>
          </a:p>
        </p:txBody>
      </p:sp>
      <p:sp>
        <p:nvSpPr>
          <p:cNvPr id="8" name="Shape 5"/>
          <p:cNvSpPr/>
          <p:nvPr/>
        </p:nvSpPr>
        <p:spPr>
          <a:xfrm>
            <a:off x="3246120" y="1097280"/>
            <a:ext cx="2606040" cy="2743200"/>
          </a:xfrm>
          <a:prstGeom prst="roundRect">
            <a:avLst>
              <a:gd name="adj" fmla="val 2807"/>
            </a:avLst>
          </a:prstGeom>
          <a:solidFill>
            <a:srgbClr val="FBEFDF"/>
          </a:solidFill>
          <a:ln w="12700">
            <a:solidFill>
              <a:srgbClr val="FBEFDF"/>
            </a:solidFill>
            <a:prstDash val="solid"/>
          </a:ln>
        </p:spPr>
      </p:sp>
      <p:sp>
        <p:nvSpPr>
          <p:cNvPr id="9" name="Text 6"/>
          <p:cNvSpPr txBox="1"/>
          <p:nvPr/>
        </p:nvSpPr>
        <p:spPr>
          <a:xfrm>
            <a:off x="3429000" y="1188720"/>
            <a:ext cx="2240280" cy="411480"/>
          </a:xfrm>
          <a:prstGeom prst="rect">
            <a:avLst/>
          </a:prstGeom>
          <a:noFill/>
          <a:ln/>
        </p:spPr>
        <p:txBody>
          <a:bodyPr wrap="square" lIns="0" tIns="0" rIns="0" bIns="0" rtlCol="0" anchor="ctr"/>
          <a:lstStyle/>
          <a:p>
            <a:pPr indent="0" marL="0">
              <a:buNone/>
            </a:pPr>
            <a:r>
              <a:rPr lang="en-US" sz="2000" b="1" dirty="0">
                <a:solidFill>
                  <a:srgbClr val="1B2130"/>
                </a:solidFill>
                <a:latin typeface="Cambria" pitchFamily="34" charset="0"/>
                <a:ea typeface="Cambria" pitchFamily="34" charset="-122"/>
                <a:cs typeface="Cambria" pitchFamily="34" charset="-120"/>
              </a:rPr>
              <a:t>Unsupervised</a:t>
            </a:r>
            <a:endParaRPr lang="en-US" sz="2000" dirty="0"/>
          </a:p>
        </p:txBody>
      </p:sp>
      <p:sp>
        <p:nvSpPr>
          <p:cNvPr id="10" name="Shape 7"/>
          <p:cNvSpPr/>
          <p:nvPr/>
        </p:nvSpPr>
        <p:spPr>
          <a:xfrm>
            <a:off x="3429000" y="1645920"/>
            <a:ext cx="2240280" cy="960120"/>
          </a:xfrm>
          <a:prstGeom prst="roundRect">
            <a:avLst>
              <a:gd name="adj" fmla="val 4762"/>
            </a:avLst>
          </a:prstGeom>
          <a:solidFill>
            <a:srgbClr val="FFFFFF"/>
          </a:solidFill>
          <a:ln w="12700">
            <a:solidFill>
              <a:srgbClr val="FFFFFF"/>
            </a:solidFill>
            <a:prstDash val="solid"/>
          </a:ln>
        </p:spPr>
      </p:sp>
      <p:pic>
        <p:nvPicPr>
          <p:cNvPr id="11" name="Image 1" descr="learn_unsup.png">    </p:cNvPr>
          <p:cNvPicPr>
            <a:picLocks noChangeAspect="1"/>
          </p:cNvPicPr>
          <p:nvPr/>
        </p:nvPicPr>
        <p:blipFill>
          <a:blip r:embed="rId2"/>
          <a:stretch>
            <a:fillRect/>
          </a:stretch>
        </p:blipFill>
        <p:spPr>
          <a:xfrm>
            <a:off x="3429000" y="1645920"/>
            <a:ext cx="2240280" cy="960120"/>
          </a:xfrm>
          <a:prstGeom prst="rect">
            <a:avLst/>
          </a:prstGeom>
        </p:spPr>
      </p:pic>
      <p:sp>
        <p:nvSpPr>
          <p:cNvPr id="12" name="Text 8"/>
          <p:cNvSpPr txBox="1"/>
          <p:nvPr/>
        </p:nvSpPr>
        <p:spPr>
          <a:xfrm>
            <a:off x="3429000" y="2697480"/>
            <a:ext cx="2240280" cy="1097280"/>
          </a:xfrm>
          <a:prstGeom prst="rect">
            <a:avLst/>
          </a:prstGeom>
          <a:noFill/>
          <a:ln/>
        </p:spPr>
        <p:txBody>
          <a:bodyPr wrap="square" lIns="0" tIns="0" rIns="0" bIns="0" rtlCol="0" anchor="t"/>
          <a:lstStyle/>
          <a:p>
            <a:pPr indent="0" marL="0">
              <a:buNone/>
            </a:pPr>
            <a:r>
              <a:rPr lang="en-US" sz="1400" dirty="0">
                <a:solidFill>
                  <a:srgbClr val="1B2130"/>
                </a:solidFill>
                <a:latin typeface="Calibri" pitchFamily="34" charset="0"/>
                <a:ea typeface="Calibri" pitchFamily="34" charset="-122"/>
                <a:cs typeface="Calibri" pitchFamily="34" charset="-120"/>
              </a:rPr>
              <a:t>no labels: find natural groups</a:t>
            </a:r>
            <a:endParaRPr lang="en-US" sz="1400" dirty="0"/>
          </a:p>
          <a:p>
            <a:pPr indent="0" marL="0">
              <a:buNone/>
            </a:pPr>
            <a:r>
              <a:rPr lang="en-US" sz="5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200" i="1" dirty="0">
                <a:solidFill>
                  <a:srgbClr val="5C6577"/>
                </a:solidFill>
                <a:latin typeface="Calibri" pitchFamily="34" charset="0"/>
                <a:ea typeface="Calibri" pitchFamily="34" charset="-122"/>
                <a:cs typeface="Calibri" pitchFamily="34" charset="-120"/>
              </a:rPr>
              <a:t>e.g. group customers by habits (Week 11)</a:t>
            </a:r>
            <a:endParaRPr lang="en-US" sz="1400" dirty="0"/>
          </a:p>
        </p:txBody>
      </p:sp>
      <p:sp>
        <p:nvSpPr>
          <p:cNvPr id="13" name="Shape 9"/>
          <p:cNvSpPr/>
          <p:nvPr/>
        </p:nvSpPr>
        <p:spPr>
          <a:xfrm>
            <a:off x="6035040" y="1097280"/>
            <a:ext cx="2606040" cy="2743200"/>
          </a:xfrm>
          <a:prstGeom prst="roundRect">
            <a:avLst>
              <a:gd name="adj" fmla="val 2807"/>
            </a:avLst>
          </a:prstGeom>
          <a:solidFill>
            <a:srgbClr val="F1F2F5"/>
          </a:solidFill>
          <a:ln w="12700">
            <a:solidFill>
              <a:srgbClr val="F1F2F5"/>
            </a:solidFill>
            <a:prstDash val="solid"/>
          </a:ln>
        </p:spPr>
      </p:sp>
      <p:sp>
        <p:nvSpPr>
          <p:cNvPr id="14" name="Text 10"/>
          <p:cNvSpPr txBox="1"/>
          <p:nvPr/>
        </p:nvSpPr>
        <p:spPr>
          <a:xfrm>
            <a:off x="6217920" y="1188720"/>
            <a:ext cx="2240280" cy="411480"/>
          </a:xfrm>
          <a:prstGeom prst="rect">
            <a:avLst/>
          </a:prstGeom>
          <a:noFill/>
          <a:ln/>
        </p:spPr>
        <p:txBody>
          <a:bodyPr wrap="square" lIns="0" tIns="0" rIns="0" bIns="0" rtlCol="0" anchor="ctr"/>
          <a:lstStyle/>
          <a:p>
            <a:pPr indent="0" marL="0">
              <a:buNone/>
            </a:pPr>
            <a:r>
              <a:rPr lang="en-US" sz="2000" b="1" dirty="0">
                <a:solidFill>
                  <a:srgbClr val="1B2130"/>
                </a:solidFill>
                <a:latin typeface="Cambria" pitchFamily="34" charset="0"/>
                <a:ea typeface="Cambria" pitchFamily="34" charset="-122"/>
                <a:cs typeface="Cambria" pitchFamily="34" charset="-120"/>
              </a:rPr>
              <a:t>Reinforcement</a:t>
            </a:r>
            <a:endParaRPr lang="en-US" sz="2000" dirty="0"/>
          </a:p>
        </p:txBody>
      </p:sp>
      <p:sp>
        <p:nvSpPr>
          <p:cNvPr id="15" name="Shape 11"/>
          <p:cNvSpPr/>
          <p:nvPr/>
        </p:nvSpPr>
        <p:spPr>
          <a:xfrm>
            <a:off x="6217920" y="1645920"/>
            <a:ext cx="2240280" cy="960120"/>
          </a:xfrm>
          <a:prstGeom prst="roundRect">
            <a:avLst>
              <a:gd name="adj" fmla="val 4762"/>
            </a:avLst>
          </a:prstGeom>
          <a:solidFill>
            <a:srgbClr val="FFFFFF"/>
          </a:solidFill>
          <a:ln w="12700">
            <a:solidFill>
              <a:srgbClr val="FFFFFF"/>
            </a:solidFill>
            <a:prstDash val="solid"/>
          </a:ln>
        </p:spPr>
      </p:sp>
      <p:pic>
        <p:nvPicPr>
          <p:cNvPr id="16" name="Image 2" descr="learn_rl.png">    </p:cNvPr>
          <p:cNvPicPr>
            <a:picLocks noChangeAspect="1"/>
          </p:cNvPicPr>
          <p:nvPr/>
        </p:nvPicPr>
        <p:blipFill>
          <a:blip r:embed="rId3"/>
          <a:stretch>
            <a:fillRect/>
          </a:stretch>
        </p:blipFill>
        <p:spPr>
          <a:xfrm>
            <a:off x="6217920" y="1645920"/>
            <a:ext cx="2240280" cy="960120"/>
          </a:xfrm>
          <a:prstGeom prst="rect">
            <a:avLst/>
          </a:prstGeom>
        </p:spPr>
      </p:pic>
      <p:sp>
        <p:nvSpPr>
          <p:cNvPr id="17" name="Text 12"/>
          <p:cNvSpPr txBox="1"/>
          <p:nvPr/>
        </p:nvSpPr>
        <p:spPr>
          <a:xfrm>
            <a:off x="6217920" y="2697480"/>
            <a:ext cx="2240280" cy="1097280"/>
          </a:xfrm>
          <a:prstGeom prst="rect">
            <a:avLst/>
          </a:prstGeom>
          <a:noFill/>
          <a:ln/>
        </p:spPr>
        <p:txBody>
          <a:bodyPr wrap="square" lIns="0" tIns="0" rIns="0" bIns="0" rtlCol="0" anchor="t"/>
          <a:lstStyle/>
          <a:p>
            <a:pPr indent="0" marL="0">
              <a:buNone/>
            </a:pPr>
            <a:r>
              <a:rPr lang="en-US" sz="1400" dirty="0">
                <a:solidFill>
                  <a:srgbClr val="1B2130"/>
                </a:solidFill>
                <a:latin typeface="Calibri" pitchFamily="34" charset="0"/>
                <a:ea typeface="Calibri" pitchFamily="34" charset="-122"/>
                <a:cs typeface="Calibri" pitchFamily="34" charset="-120"/>
              </a:rPr>
              <a:t>only a right / wrong signal</a:t>
            </a:r>
            <a:endParaRPr lang="en-US" sz="1400" dirty="0"/>
          </a:p>
          <a:p>
            <a:pPr indent="0" marL="0">
              <a:buNone/>
            </a:pPr>
            <a:r>
              <a:rPr lang="en-US" sz="5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200" i="1" dirty="0">
                <a:solidFill>
                  <a:srgbClr val="5C6577"/>
                </a:solidFill>
                <a:latin typeface="Calibri" pitchFamily="34" charset="0"/>
                <a:ea typeface="Calibri" pitchFamily="34" charset="-122"/>
                <a:cs typeface="Calibri" pitchFamily="34" charset="-120"/>
              </a:rPr>
              <a:t>e.g. a game player learning from wins</a:t>
            </a:r>
            <a:endParaRPr lang="en-US" sz="1400" dirty="0"/>
          </a:p>
        </p:txBody>
      </p:sp>
      <p:sp>
        <p:nvSpPr>
          <p:cNvPr id="18" name="Text 13"/>
          <p:cNvSpPr txBox="1"/>
          <p:nvPr/>
        </p:nvSpPr>
        <p:spPr>
          <a:xfrm>
            <a:off x="457200" y="3977640"/>
            <a:ext cx="8229600" cy="457200"/>
          </a:xfrm>
          <a:prstGeom prst="rect">
            <a:avLst/>
          </a:prstGeom>
          <a:noFill/>
          <a:ln/>
        </p:spPr>
        <p:txBody>
          <a:bodyPr wrap="square" lIns="0" tIns="0" rIns="0" bIns="0" rtlCol="0" anchor="ctr"/>
          <a:lstStyle/>
          <a:p>
            <a:pPr indent="0" marL="0">
              <a:buNone/>
            </a:pPr>
            <a:r>
              <a:rPr lang="en-US" sz="1400" dirty="0">
                <a:solidFill>
                  <a:srgbClr val="5C6577"/>
                </a:solidFill>
                <a:latin typeface="Calibri" pitchFamily="34" charset="0"/>
                <a:ea typeface="Calibri" pitchFamily="34" charset="-122"/>
                <a:cs typeface="Calibri" pitchFamily="34" charset="-120"/>
              </a:rPr>
              <a:t>Most of this course: supervised. Week 11: unsupervised. Reinforcement learning is not part of this course.</a:t>
            </a:r>
            <a:endParaRPr lang="en-US" sz="1400" dirty="0"/>
          </a:p>
        </p:txBody>
      </p:sp>
      <p:sp>
        <p:nvSpPr>
          <p:cNvPr id="19" name="Text 14"/>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1 · Video 1.4</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130"/>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274320"/>
          </a:xfrm>
          <a:prstGeom prst="rect">
            <a:avLst/>
          </a:prstGeom>
          <a:noFill/>
          <a:ln/>
        </p:spPr>
        <p:txBody>
          <a:bodyPr wrap="square" lIns="0" tIns="0" rIns="0" bIns="0" rtlCol="0" anchor="ctr"/>
          <a:lstStyle/>
          <a:p>
            <a:pPr indent="0" marL="0">
              <a:buNone/>
            </a:pPr>
            <a:r>
              <a:rPr lang="en-US" sz="1200" spc="200" kern="0" dirty="0">
                <a:solidFill>
                  <a:srgbClr val="9FB7EE"/>
                </a:solidFill>
                <a:latin typeface="Calibri" pitchFamily="34" charset="0"/>
                <a:ea typeface="Calibri" pitchFamily="34" charset="-122"/>
                <a:cs typeface="Calibri" pitchFamily="34" charset="-120"/>
              </a:rPr>
              <a:t>REMEMBER</a:t>
            </a:r>
            <a:endParaRPr lang="en-US" sz="1200" dirty="0"/>
          </a:p>
        </p:txBody>
      </p:sp>
      <p:sp>
        <p:nvSpPr>
          <p:cNvPr id="3" name="Text 1"/>
          <p:cNvSpPr txBox="1"/>
          <p:nvPr/>
        </p:nvSpPr>
        <p:spPr>
          <a:xfrm>
            <a:off x="548640" y="1005840"/>
            <a:ext cx="8046720" cy="13258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Features decide everything</a:t>
            </a:r>
            <a:endParaRPr lang="en-US" sz="4000" dirty="0"/>
          </a:p>
        </p:txBody>
      </p:sp>
      <p:sp>
        <p:nvSpPr>
          <p:cNvPr id="4" name="Text 2"/>
          <p:cNvSpPr txBox="1"/>
          <p:nvPr/>
        </p:nvSpPr>
        <p:spPr>
          <a:xfrm>
            <a:off x="548640" y="2514600"/>
            <a:ext cx="7132320" cy="1005840"/>
          </a:xfrm>
          <a:prstGeom prst="rect">
            <a:avLst/>
          </a:prstGeom>
          <a:noFill/>
          <a:ln/>
        </p:spPr>
        <p:txBody>
          <a:bodyPr wrap="square" lIns="0" tIns="0" rIns="0" bIns="0" rtlCol="0" anchor="t"/>
          <a:lstStyle/>
          <a:p>
            <a:pPr indent="0" marL="0">
              <a:buNone/>
            </a:pPr>
            <a:r>
              <a:rPr lang="en-US" sz="1900" dirty="0">
                <a:solidFill>
                  <a:srgbClr val="D7DDEA"/>
                </a:solidFill>
                <a:latin typeface="Calibri" pitchFamily="34" charset="0"/>
                <a:ea typeface="Calibri" pitchFamily="34" charset="-122"/>
                <a:cs typeface="Calibri" pitchFamily="34" charset="-120"/>
              </a:rPr>
              <a:t>A good feature separates the classes. A boundary must work on new data. Read Notes §1.1–1.7, then do Lab 1.</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Image credits</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All photos from Wikimedia Commons, used under the licences shown</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4206240"/>
                <a:gridCol w="2560320"/>
                <a:gridCol w="1463040"/>
              </a:tblGrid>
              <a:tr h="246888">
                <a:tc>
                  <a:txBody>
                    <a:bodyPr/>
                    <a:lstStyle/>
                    <a:p>
                      <a:pPr indent="0" marL="0">
                        <a:buNone/>
                      </a:pPr>
                      <a:r>
                        <a:rPr lang="en-US" sz="1000" b="1" dirty="0">
                          <a:solidFill>
                            <a:srgbClr val="5C6577"/>
                          </a:solidFill>
                          <a:latin typeface="Calibri" pitchFamily="34" charset="0"/>
                          <a:ea typeface="Calibri" pitchFamily="34" charset="-122"/>
                          <a:cs typeface="Calibri" pitchFamily="34" charset="-120"/>
                        </a:rPr>
                        <a:t>Image</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b="1" dirty="0">
                          <a:solidFill>
                            <a:srgbClr val="5C6577"/>
                          </a:solidFill>
                          <a:latin typeface="Calibri" pitchFamily="34" charset="0"/>
                          <a:ea typeface="Calibri" pitchFamily="34" charset="-122"/>
                          <a:cs typeface="Calibri" pitchFamily="34" charset="-120"/>
                        </a:rPr>
                        <a:t>Author</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b="1" dirty="0">
                          <a:solidFill>
                            <a:srgbClr val="5C6577"/>
                          </a:solidFill>
                          <a:latin typeface="Calibri" pitchFamily="34" charset="0"/>
                          <a:ea typeface="Calibri" pitchFamily="34" charset="-122"/>
                          <a:cs typeface="Calibri" pitchFamily="34" charset="-120"/>
                        </a:rPr>
                        <a:t>Licence</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r>
              <a:tr h="246888">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Grandi fish processing conveyor belt1 2011.jpg</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Jabbi</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CC BY-SA 3.0</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r>
              <a:tr h="246888">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Pêcheurs au tri de la pêche du jour… (Ifremer 00776-88788 - 48325).jpg</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Olivier Dugornay / IFREMER</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CC BY 4.0</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r>
              <a:tr h="246888">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Dicentrarchus labrax (Belgium).jpg</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Hans Hillewaert</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CC BY-SA 4.0</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r>
              <a:tr h="246888">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Salmo salar.jpg</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Timothy Knepp, U.S. Fish and Wildlife Service</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Public domain</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r>
              <a:tr h="246888">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Iris setosa 2.jpg</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Tiia Monto</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CC BY-SA 4.0</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r>
              <a:tr h="246888">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Iris versicolor 3.jpg</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Dlanglois</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CC BY-SA 3.0</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r>
              <a:tr h="246888">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Iris virginica.jpg</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Frank Mayfield</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CC BY-SA 2.0</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r>
              <a:tr h="246888">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Iris petal sepal.png</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Esmu Igors</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CC BY-SA 4.0</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 Introduction to Pattern Recognition</dc:title>
  <dc:subject>PptxGenJS Presentation</dc:subject>
  <dc:creator>PptxGenJS</dc:creator>
  <cp:lastModifiedBy>PptxGenJS</cp:lastModifiedBy>
  <cp:revision>1</cp:revision>
  <dcterms:created xsi:type="dcterms:W3CDTF">2026-10-10T15:15:12Z</dcterms:created>
  <dcterms:modified xsi:type="dcterms:W3CDTF">2026-10-10T15:15:12Z</dcterms:modified>
</cp:coreProperties>
</file>